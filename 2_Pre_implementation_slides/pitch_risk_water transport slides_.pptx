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8288000" cy="10287000"/>
  <p:notesSz cx="6858000" cy="9144000"/>
  <p:embeddedFontLst>
    <p:embeddedFont>
      <p:font typeface="Aileron" panose="020B0604020202020204" charset="0"/>
      <p:regular r:id="rId14"/>
    </p:embeddedFont>
    <p:embeddedFont>
      <p:font typeface="Aileron Bold" panose="020B0604020202020204" charset="0"/>
      <p:regular r:id="rId15"/>
    </p:embeddedFont>
    <p:embeddedFont>
      <p:font typeface="Open Sauce" panose="020B0604020202020204" charset="0"/>
      <p:regular r:id="rId16"/>
    </p:embeddedFont>
    <p:embeddedFont>
      <p:font typeface="Open Sauce Bold" panose="020B0604020202020204" charset="0"/>
      <p:regular r:id="rId17"/>
    </p:embeddedFont>
    <p:embeddedFont>
      <p:font typeface="Open Sauce Bold Italics" panose="020B0604020202020204" charset="0"/>
      <p:regular r:id="rId18"/>
    </p:embeddedFont>
    <p:embeddedFont>
      <p:font typeface="Trocchi" panose="020B0604020202020204"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097665-9191-2B7B-EC9F-EC3BA9D70BC8}" v="826" dt="2026-06-08T23:05:06.9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08.06.2026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Introduction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Italy’s hydrology is defined by its mountain ranges, which create distinct drainage basins flowing into the Adriatic, Tyrrhenian, and Ionian seas.</a:t>
            </a:r>
          </a:p>
          <a:p>
            <a:endParaRPr lang="en-US"/>
          </a:p>
          <a:p>
            <a:r>
              <a:rPr lang="en-US"/>
              <a:t>The Po River Basin: Covering nearly 15% of Italy, the Po is the nation's "breadbasket." It is an Alpine-fed system, meaning it relies heavily on snowmelt and glaciers.</a:t>
            </a:r>
          </a:p>
          <a:p>
            <a:endParaRPr lang="en-US"/>
          </a:p>
          <a:p>
            <a:r>
              <a:rPr lang="en-US"/>
              <a:t>The Tiber (Tevere): The primary basin of Central Italy, essential for the water security of Rome and surrounding regions.</a:t>
            </a:r>
          </a:p>
          <a:p>
            <a:endParaRPr lang="en-US"/>
          </a:p>
          <a:p>
            <a:r>
              <a:rPr lang="en-US"/>
              <a:t>Adige and Arno Basins: The Adige (North-East) and Arno (Tuscany) are critical for both irrigation and urban supply, though they are increasingly subject to "flashy" hydrological behavior (sudden floods followed by dry spells).</a:t>
            </a:r>
          </a:p>
          <a:p>
            <a:endParaRPr lang="en-US"/>
          </a:p>
          <a:p>
            <a:r>
              <a:rPr lang="en-US"/>
              <a:t>Karst Springs: Much of Southern Italy and the islands rely on karst aquifers—underground limestone systems that act as natural reservoirs but are highly sensitive to pollution and over-extraction.</a:t>
            </a:r>
          </a:p>
          <a:p>
            <a:endParaRPr lang="en-US"/>
          </a:p>
          <a:p>
            <a:r>
              <a:rPr lang="en-US"/>
              <a:t>Integrating the movement and behaviors of all these zones together can be challenging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Italy’s hydrology is defined by its mountain ranges, which create distinct drainage basins flowing into the Adriatic, Tyrrhenian, and Ionian seas.</a:t>
            </a:r>
          </a:p>
          <a:p>
            <a:endParaRPr lang="en-US"/>
          </a:p>
          <a:p>
            <a:r>
              <a:rPr lang="en-US"/>
              <a:t>The Po River Basin: Covering nearly 15% of Italy, the Po is the nation's "breadbasket." It is an Alpine-fed system, meaning it relies heavily on snowmelt and glaciers.</a:t>
            </a:r>
          </a:p>
          <a:p>
            <a:endParaRPr lang="en-US"/>
          </a:p>
          <a:p>
            <a:r>
              <a:rPr lang="en-US"/>
              <a:t>The Tiber (Tevere): The primary basin of Central Italy, essential for the water security of Rome and surrounding regions.</a:t>
            </a:r>
          </a:p>
          <a:p>
            <a:endParaRPr lang="en-US"/>
          </a:p>
          <a:p>
            <a:r>
              <a:rPr lang="en-US"/>
              <a:t>Adige and Arno Basins: The Adige (North-East) and Arno (Tuscany) are critical for both irrigation and urban supply, though they are increasingly subject to "flashy" hydrological behavior (sudden floods followed by dry spells).</a:t>
            </a:r>
          </a:p>
          <a:p>
            <a:endParaRPr lang="en-US"/>
          </a:p>
          <a:p>
            <a:r>
              <a:rPr lang="en-US"/>
              <a:t>Karst Springs: Much of Southern Italy and the islands rely on karst aquifers—underground limestone systems that act as natural reservoirs but are highly sensitive to pollution and over-extraction.</a:t>
            </a:r>
          </a:p>
          <a:p>
            <a:endParaRPr lang="en-US"/>
          </a:p>
          <a:p>
            <a:r>
              <a:rPr lang="en-US"/>
              <a:t>Integrating the movement and behaviors of all these zones together can be challenging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Globally, water supply and wastewater systems account for approximately 2–4% of total electricity consumption, with pumping being the dominant contributor.</a:t>
            </a:r>
          </a:p>
          <a:p>
            <a:endParaRPr lang="en-US"/>
          </a:p>
          <a:p>
            <a:r>
              <a:rPr lang="en-US"/>
              <a:t>In Italy, structural inefficiencies further amplify this issue. National statistics indicate that over 40% of potable water is lost before reaching end users, implying that large volumes of water are pumped, transported, and pressurized without delivering any societal benefit. In long-distance systems, these losses translate directly into wasted energy and unnecessary emissions.</a:t>
            </a:r>
          </a:p>
          <a:p>
            <a:endParaRPr lang="en-US"/>
          </a:p>
          <a:p>
            <a:r>
              <a:rPr lang="en-US"/>
              <a:t>Climate-related hazards compound the problem. A significant share of Italian pipeline infrastructure intersects areas classified as high seismic risk, landslide-prone zones, or flood-exposed regions, increasing the likelihood of service disruption and emergency energy use during extreme events. At the same time, climate change is increasing drought frequency, reinforcing dependence on inter-basin transfers and long-distance conveyance.</a:t>
            </a:r>
          </a:p>
          <a:p>
            <a:endParaRPr lang="en-US"/>
          </a:p>
          <a:p>
            <a:r>
              <a:rPr lang="en-US"/>
              <a:t>Despite these pressures, decision-makers often lack integrated indicators that jointly capture energy intensity, climate exposure, and infrastructure vulnerability. Data exists across environmental, energy, and infrastructural domains, but remains fragmented and underutilized.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Globally, water supply and wastewater systems account for approximately 2–4% of total electricity consumption, with pumping being the dominant contributor.</a:t>
            </a:r>
          </a:p>
          <a:p>
            <a:endParaRPr lang="en-US"/>
          </a:p>
          <a:p>
            <a:r>
              <a:rPr lang="en-US"/>
              <a:t>In Italy, structural inefficiencies further amplify this issue. National statistics indicate that over 40% of potable water is lost before reaching end users, implying that large volumes of water are pumped, transported, and pressurized without delivering any societal benefit. In long-distance systems, these losses translate directly into wasted energy and unnecessary emissions.</a:t>
            </a:r>
          </a:p>
          <a:p>
            <a:endParaRPr lang="en-US"/>
          </a:p>
          <a:p>
            <a:r>
              <a:rPr lang="en-US"/>
              <a:t>Climate-related hazards compound the problem. A significant share of Italian pipeline infrastructure intersects areas classified as high seismic risk, landslide-prone zones, or flood-exposed regions, increasing the likelihood of service disruption and emergency energy use during extreme events. At the same time, climate change is increasing drought frequency, reinforcing dependence on inter-basin transfers and long-distance conveyance.</a:t>
            </a:r>
          </a:p>
          <a:p>
            <a:endParaRPr lang="en-US"/>
          </a:p>
          <a:p>
            <a:r>
              <a:rPr lang="en-US"/>
              <a:t>Despite these pressures, decision-makers often lack integrated indicators that jointly capture energy intensity, climate exposure, and infrastructure vulnerability. Data exists across environmental, energy, and infrastructural domains, but remains fragmented and underutilized.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In Istat and Eurostat we found data about water sources, sewage sources, energy consumption data, energy flow data, geological data (risks), Economic factors, Transportation through pipelines (Oil and Gas), Geo data like elevation, grids of transportation services, land use.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1ST: The paper provides a blueprint for integrating heterogeneous data sources—including SCADA, GIS, and EPANET—with external information like weather data and social media to create a uniform geo-referenced view, W2S is specifically engineered to identify non-revenue water, real-time leakages, bursts, and even fraud, addressing the core inefficiencies in pipeline systems.</a:t>
            </a:r>
          </a:p>
          <a:p>
            <a:endParaRPr lang="en-US"/>
          </a:p>
          <a:p>
            <a:r>
              <a:rPr lang="en-US"/>
              <a:t>2ND: introduces a multimodal big data analytics pipeline (FAIS) designed to enhance situational awareness and assess potential impacts on critical infrastructures, It provides a framework to seamlessly integrate fragmented data, combining USGS river levels, traffic camera imagery, and Twitter APIs into a single web-based dashboard, The system leverages Natural Language Processing (NLP) and Google Vision API to identify "abnormal" conditions and detect at-risk locations programmatically.</a:t>
            </a:r>
          </a:p>
          <a:p>
            <a:endParaRPr lang="en-US"/>
          </a:p>
          <a:p>
            <a:r>
              <a:rPr lang="en-US"/>
              <a:t>3RD:  It provides a blueprint for integrating multimodal sensing with cloud-based machine learning for critical water infrastructure, It moves beyond basic threshold alerts by using a Random Forest classification model to analyze complex patterns across multiple parameters (pH, TDS, turbidity, and temperature) to assess water potability in real-time.</a:t>
            </a:r>
          </a:p>
          <a:p>
            <a:endParaRPr lang="en-US"/>
          </a:p>
          <a:p>
            <a:r>
              <a:rPr lang="en-US"/>
              <a:t>4TH: The research highlights significant performance benchmarks, including a 20% increase in wastewater treatment efficiency and up to 86% predictive accuracy for resource management,  It advocates for smart contract-driven automation to track water rights and aquifer usage in real-time, reducing the need for manual stakeholder audits,By combining distributed ledgers with Deep Learning (e.g., LSTM models), the framework enables more robust identification of leakages, illegal extraction, and operational failures.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8.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jpeg"/><Relationship Id="rId3" Type="http://schemas.openxmlformats.org/officeDocument/2006/relationships/image" Target="../media/image9.jpeg"/><Relationship Id="rId7" Type="http://schemas.openxmlformats.org/officeDocument/2006/relationships/image" Target="../media/image13.png"/><Relationship Id="rId12"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2.jpe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jpeg"/></Relationships>
</file>

<file path=ppt/slides/_rels/slide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22.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218436" y="4630866"/>
            <a:ext cx="8147454" cy="3377337"/>
            <a:chOff x="0" y="0"/>
            <a:chExt cx="1469584" cy="609182"/>
          </a:xfrm>
        </p:grpSpPr>
        <p:sp>
          <p:nvSpPr>
            <p:cNvPr id="3" name="Freeform 3"/>
            <p:cNvSpPr/>
            <p:nvPr/>
          </p:nvSpPr>
          <p:spPr>
            <a:xfrm>
              <a:off x="0" y="0"/>
              <a:ext cx="1469584" cy="609182"/>
            </a:xfrm>
            <a:custGeom>
              <a:avLst/>
              <a:gdLst/>
              <a:ahLst/>
              <a:cxnLst/>
              <a:rect l="l" t="t" r="r" b="b"/>
              <a:pathLst>
                <a:path w="1469584" h="609182">
                  <a:moveTo>
                    <a:pt x="19005" y="0"/>
                  </a:moveTo>
                  <a:lnTo>
                    <a:pt x="1450579" y="0"/>
                  </a:lnTo>
                  <a:cubicBezTo>
                    <a:pt x="1455620" y="0"/>
                    <a:pt x="1460454" y="2002"/>
                    <a:pt x="1464018" y="5566"/>
                  </a:cubicBezTo>
                  <a:cubicBezTo>
                    <a:pt x="1467582" y="9130"/>
                    <a:pt x="1469584" y="13964"/>
                    <a:pt x="1469584" y="19005"/>
                  </a:cubicBezTo>
                  <a:lnTo>
                    <a:pt x="1469584" y="590177"/>
                  </a:lnTo>
                  <a:cubicBezTo>
                    <a:pt x="1469584" y="595217"/>
                    <a:pt x="1467582" y="600051"/>
                    <a:pt x="1464018" y="603615"/>
                  </a:cubicBezTo>
                  <a:cubicBezTo>
                    <a:pt x="1460454" y="607179"/>
                    <a:pt x="1455620" y="609182"/>
                    <a:pt x="1450579" y="609182"/>
                  </a:cubicBezTo>
                  <a:lnTo>
                    <a:pt x="19005" y="609182"/>
                  </a:lnTo>
                  <a:cubicBezTo>
                    <a:pt x="13964" y="609182"/>
                    <a:pt x="9130" y="607179"/>
                    <a:pt x="5566" y="603615"/>
                  </a:cubicBezTo>
                  <a:cubicBezTo>
                    <a:pt x="2002" y="600051"/>
                    <a:pt x="0" y="595217"/>
                    <a:pt x="0" y="590177"/>
                  </a:cubicBezTo>
                  <a:lnTo>
                    <a:pt x="0" y="19005"/>
                  </a:lnTo>
                  <a:cubicBezTo>
                    <a:pt x="0" y="13964"/>
                    <a:pt x="2002" y="9130"/>
                    <a:pt x="5566" y="5566"/>
                  </a:cubicBezTo>
                  <a:cubicBezTo>
                    <a:pt x="9130" y="2002"/>
                    <a:pt x="13964" y="0"/>
                    <a:pt x="19005" y="0"/>
                  </a:cubicBezTo>
                  <a:close/>
                </a:path>
              </a:pathLst>
            </a:custGeom>
            <a:blipFill>
              <a:blip r:embed="rId3"/>
              <a:stretch>
                <a:fillRect t="-30111" b="-30111"/>
              </a:stretch>
            </a:blipFill>
          </p:spPr>
        </p:sp>
      </p:grpSp>
      <p:grpSp>
        <p:nvGrpSpPr>
          <p:cNvPr id="4" name="Group 4"/>
          <p:cNvGrpSpPr/>
          <p:nvPr/>
        </p:nvGrpSpPr>
        <p:grpSpPr>
          <a:xfrm>
            <a:off x="10558083" y="5015507"/>
            <a:ext cx="5601128" cy="3377337"/>
            <a:chOff x="0" y="0"/>
            <a:chExt cx="1010294" cy="609182"/>
          </a:xfrm>
        </p:grpSpPr>
        <p:sp>
          <p:nvSpPr>
            <p:cNvPr id="5" name="Freeform 5"/>
            <p:cNvSpPr/>
            <p:nvPr/>
          </p:nvSpPr>
          <p:spPr>
            <a:xfrm>
              <a:off x="0" y="0"/>
              <a:ext cx="1010294" cy="609182"/>
            </a:xfrm>
            <a:custGeom>
              <a:avLst/>
              <a:gdLst/>
              <a:ahLst/>
              <a:cxnLst/>
              <a:rect l="l" t="t" r="r" b="b"/>
              <a:pathLst>
                <a:path w="1010294" h="609182">
                  <a:moveTo>
                    <a:pt x="27644" y="0"/>
                  </a:moveTo>
                  <a:lnTo>
                    <a:pt x="982650" y="0"/>
                  </a:lnTo>
                  <a:cubicBezTo>
                    <a:pt x="989982" y="0"/>
                    <a:pt x="997013" y="2912"/>
                    <a:pt x="1002198" y="8097"/>
                  </a:cubicBezTo>
                  <a:cubicBezTo>
                    <a:pt x="1007382" y="13281"/>
                    <a:pt x="1010294" y="20312"/>
                    <a:pt x="1010294" y="27644"/>
                  </a:cubicBezTo>
                  <a:lnTo>
                    <a:pt x="1010294" y="581538"/>
                  </a:lnTo>
                  <a:cubicBezTo>
                    <a:pt x="1010294" y="588869"/>
                    <a:pt x="1007382" y="595901"/>
                    <a:pt x="1002198" y="601085"/>
                  </a:cubicBezTo>
                  <a:cubicBezTo>
                    <a:pt x="997013" y="606269"/>
                    <a:pt x="989982" y="609182"/>
                    <a:pt x="982650" y="609182"/>
                  </a:cubicBezTo>
                  <a:lnTo>
                    <a:pt x="27644" y="609182"/>
                  </a:lnTo>
                  <a:cubicBezTo>
                    <a:pt x="20312" y="609182"/>
                    <a:pt x="13281" y="606269"/>
                    <a:pt x="8097" y="601085"/>
                  </a:cubicBezTo>
                  <a:cubicBezTo>
                    <a:pt x="2912" y="595901"/>
                    <a:pt x="0" y="588869"/>
                    <a:pt x="0" y="581538"/>
                  </a:cubicBezTo>
                  <a:lnTo>
                    <a:pt x="0" y="27644"/>
                  </a:lnTo>
                  <a:cubicBezTo>
                    <a:pt x="0" y="20312"/>
                    <a:pt x="2912" y="13281"/>
                    <a:pt x="8097" y="8097"/>
                  </a:cubicBezTo>
                  <a:cubicBezTo>
                    <a:pt x="13281" y="2912"/>
                    <a:pt x="20312" y="0"/>
                    <a:pt x="27644" y="0"/>
                  </a:cubicBezTo>
                  <a:close/>
                </a:path>
              </a:pathLst>
            </a:custGeom>
            <a:blipFill>
              <a:blip r:embed="rId4"/>
              <a:stretch>
                <a:fillRect t="-5180" b="-5180"/>
              </a:stretch>
            </a:blipFill>
          </p:spPr>
        </p:sp>
      </p:grpSp>
      <p:grpSp>
        <p:nvGrpSpPr>
          <p:cNvPr id="13" name="Group 13"/>
          <p:cNvGrpSpPr/>
          <p:nvPr/>
        </p:nvGrpSpPr>
        <p:grpSpPr>
          <a:xfrm>
            <a:off x="15084896" y="7794268"/>
            <a:ext cx="2219228" cy="427869"/>
            <a:chOff x="0" y="0"/>
            <a:chExt cx="584488" cy="112690"/>
          </a:xfrm>
        </p:grpSpPr>
        <p:sp>
          <p:nvSpPr>
            <p:cNvPr id="14" name="Freeform 14"/>
            <p:cNvSpPr/>
            <p:nvPr/>
          </p:nvSpPr>
          <p:spPr>
            <a:xfrm>
              <a:off x="0" y="0"/>
              <a:ext cx="584488" cy="112690"/>
            </a:xfrm>
            <a:custGeom>
              <a:avLst/>
              <a:gdLst/>
              <a:ahLst/>
              <a:cxnLst/>
              <a:rect l="l" t="t" r="r" b="b"/>
              <a:pathLst>
                <a:path w="584488" h="112690">
                  <a:moveTo>
                    <a:pt x="56345" y="0"/>
                  </a:moveTo>
                  <a:lnTo>
                    <a:pt x="528143" y="0"/>
                  </a:lnTo>
                  <a:cubicBezTo>
                    <a:pt x="543087" y="0"/>
                    <a:pt x="557418" y="5936"/>
                    <a:pt x="567985" y="16503"/>
                  </a:cubicBezTo>
                  <a:cubicBezTo>
                    <a:pt x="578552" y="27070"/>
                    <a:pt x="584488" y="41401"/>
                    <a:pt x="584488" y="56345"/>
                  </a:cubicBezTo>
                  <a:lnTo>
                    <a:pt x="584488" y="56345"/>
                  </a:lnTo>
                  <a:cubicBezTo>
                    <a:pt x="584488" y="87463"/>
                    <a:pt x="559262" y="112690"/>
                    <a:pt x="528143" y="112690"/>
                  </a:cubicBezTo>
                  <a:lnTo>
                    <a:pt x="56345" y="112690"/>
                  </a:lnTo>
                  <a:cubicBezTo>
                    <a:pt x="25226" y="112690"/>
                    <a:pt x="0" y="87463"/>
                    <a:pt x="0" y="56345"/>
                  </a:cubicBezTo>
                  <a:lnTo>
                    <a:pt x="0" y="56345"/>
                  </a:lnTo>
                  <a:cubicBezTo>
                    <a:pt x="0" y="25226"/>
                    <a:pt x="25226" y="0"/>
                    <a:pt x="56345" y="0"/>
                  </a:cubicBezTo>
                  <a:close/>
                </a:path>
              </a:pathLst>
            </a:custGeom>
            <a:solidFill>
              <a:srgbClr val="72838A"/>
            </a:solidFill>
          </p:spPr>
        </p:sp>
        <p:sp>
          <p:nvSpPr>
            <p:cNvPr id="15" name="TextBox 15"/>
            <p:cNvSpPr txBox="1"/>
            <p:nvPr/>
          </p:nvSpPr>
          <p:spPr>
            <a:xfrm>
              <a:off x="0" y="-28575"/>
              <a:ext cx="584488" cy="141265"/>
            </a:xfrm>
            <a:prstGeom prst="rect">
              <a:avLst/>
            </a:prstGeom>
          </p:spPr>
          <p:txBody>
            <a:bodyPr lIns="50800" tIns="50800" rIns="50800" bIns="50800" rtlCol="0" anchor="ctr"/>
            <a:lstStyle/>
            <a:p>
              <a:pPr algn="ctr">
                <a:lnSpc>
                  <a:spcPts val="2240"/>
                </a:lnSpc>
              </a:pPr>
              <a:endParaRPr/>
            </a:p>
          </p:txBody>
        </p:sp>
      </p:grpSp>
      <p:sp>
        <p:nvSpPr>
          <p:cNvPr id="16" name="TextBox 16"/>
          <p:cNvSpPr txBox="1"/>
          <p:nvPr/>
        </p:nvSpPr>
        <p:spPr>
          <a:xfrm>
            <a:off x="2173613" y="309159"/>
            <a:ext cx="13940774" cy="2263050"/>
          </a:xfrm>
          <a:prstGeom prst="rect">
            <a:avLst/>
          </a:prstGeom>
        </p:spPr>
        <p:txBody>
          <a:bodyPr lIns="0" tIns="0" rIns="0" bIns="0" rtlCol="0" anchor="t">
            <a:spAutoFit/>
          </a:bodyPr>
          <a:lstStyle/>
          <a:p>
            <a:pPr algn="ctr">
              <a:lnSpc>
                <a:spcPts val="9139"/>
              </a:lnSpc>
              <a:spcBef>
                <a:spcPct val="0"/>
              </a:spcBef>
            </a:pPr>
            <a:r>
              <a:rPr lang="en-US" sz="6528" spc="-522">
                <a:solidFill>
                  <a:srgbClr val="4B3C3D"/>
                </a:solidFill>
                <a:latin typeface="Open Sauce"/>
                <a:ea typeface="Open Sauce"/>
                <a:cs typeface="Open Sauce"/>
                <a:sym typeface="Open Sauce"/>
              </a:rPr>
              <a:t>Enhancing Water Transport Efficiency Through Geospatial Risk Modeling</a:t>
            </a:r>
          </a:p>
        </p:txBody>
      </p:sp>
      <p:sp>
        <p:nvSpPr>
          <p:cNvPr id="20" name="TextBox 20"/>
          <p:cNvSpPr txBox="1"/>
          <p:nvPr/>
        </p:nvSpPr>
        <p:spPr>
          <a:xfrm>
            <a:off x="15328713" y="7873583"/>
            <a:ext cx="1731593" cy="240665"/>
          </a:xfrm>
          <a:prstGeom prst="rect">
            <a:avLst/>
          </a:prstGeom>
        </p:spPr>
        <p:txBody>
          <a:bodyPr lIns="0" tIns="0" rIns="0" bIns="0" rtlCol="0" anchor="t">
            <a:spAutoFit/>
          </a:bodyPr>
          <a:lstStyle/>
          <a:p>
            <a:pPr algn="ctr">
              <a:lnSpc>
                <a:spcPts val="1960"/>
              </a:lnSpc>
              <a:spcBef>
                <a:spcPct val="0"/>
              </a:spcBef>
            </a:pPr>
            <a:r>
              <a:rPr lang="en-US" sz="1400" spc="-70">
                <a:solidFill>
                  <a:srgbClr val="FFFFFF"/>
                </a:solidFill>
                <a:latin typeface="Open Sauce"/>
                <a:ea typeface="Open Sauce"/>
                <a:cs typeface="Open Sauce"/>
                <a:sym typeface="Open Sauce"/>
              </a:rPr>
              <a:t>Master thesis</a:t>
            </a:r>
          </a:p>
        </p:txBody>
      </p:sp>
      <p:sp>
        <p:nvSpPr>
          <p:cNvPr id="21" name="TextBox 21"/>
          <p:cNvSpPr txBox="1"/>
          <p:nvPr/>
        </p:nvSpPr>
        <p:spPr>
          <a:xfrm>
            <a:off x="15084896" y="8345218"/>
            <a:ext cx="2219228" cy="1589405"/>
          </a:xfrm>
          <a:prstGeom prst="rect">
            <a:avLst/>
          </a:prstGeom>
        </p:spPr>
        <p:txBody>
          <a:bodyPr lIns="0" tIns="0" rIns="0" bIns="0" rtlCol="0" anchor="t">
            <a:spAutoFit/>
          </a:bodyPr>
          <a:lstStyle/>
          <a:p>
            <a:pPr algn="ctr">
              <a:lnSpc>
                <a:spcPts val="3219"/>
              </a:lnSpc>
              <a:spcBef>
                <a:spcPct val="0"/>
              </a:spcBef>
            </a:pPr>
            <a:r>
              <a:rPr lang="en-US" sz="2299" spc="-114">
                <a:solidFill>
                  <a:srgbClr val="968C90"/>
                </a:solidFill>
                <a:latin typeface="Open Sauce"/>
                <a:ea typeface="Open Sauce"/>
                <a:cs typeface="Open Sauce"/>
                <a:sym typeface="Open Sauce"/>
              </a:rPr>
              <a:t>Student in Data science and business informatics</a:t>
            </a:r>
          </a:p>
        </p:txBody>
      </p:sp>
      <p:grpSp>
        <p:nvGrpSpPr>
          <p:cNvPr id="22" name="Group 13">
            <a:extLst>
              <a:ext uri="{FF2B5EF4-FFF2-40B4-BE49-F238E27FC236}">
                <a16:creationId xmlns:a16="http://schemas.microsoft.com/office/drawing/2014/main" id="{8C00A396-947C-1D55-03EA-2B8EED633456}"/>
              </a:ext>
            </a:extLst>
          </p:cNvPr>
          <p:cNvGrpSpPr/>
          <p:nvPr/>
        </p:nvGrpSpPr>
        <p:grpSpPr>
          <a:xfrm>
            <a:off x="2276571" y="3696477"/>
            <a:ext cx="2219228" cy="536364"/>
            <a:chOff x="0" y="-28575"/>
            <a:chExt cx="584488" cy="141265"/>
          </a:xfrm>
        </p:grpSpPr>
        <p:sp>
          <p:nvSpPr>
            <p:cNvPr id="23" name="Freeform 14">
              <a:extLst>
                <a:ext uri="{FF2B5EF4-FFF2-40B4-BE49-F238E27FC236}">
                  <a16:creationId xmlns:a16="http://schemas.microsoft.com/office/drawing/2014/main" id="{5D6434E9-CDC7-4101-28AA-6AFA47B8E5B6}"/>
                </a:ext>
              </a:extLst>
            </p:cNvPr>
            <p:cNvSpPr/>
            <p:nvPr/>
          </p:nvSpPr>
          <p:spPr>
            <a:xfrm>
              <a:off x="0" y="0"/>
              <a:ext cx="584488" cy="112690"/>
            </a:xfrm>
            <a:custGeom>
              <a:avLst/>
              <a:gdLst/>
              <a:ahLst/>
              <a:cxnLst/>
              <a:rect l="l" t="t" r="r" b="b"/>
              <a:pathLst>
                <a:path w="584488" h="112690">
                  <a:moveTo>
                    <a:pt x="56345" y="0"/>
                  </a:moveTo>
                  <a:lnTo>
                    <a:pt x="528143" y="0"/>
                  </a:lnTo>
                  <a:cubicBezTo>
                    <a:pt x="543087" y="0"/>
                    <a:pt x="557418" y="5936"/>
                    <a:pt x="567985" y="16503"/>
                  </a:cubicBezTo>
                  <a:cubicBezTo>
                    <a:pt x="578552" y="27070"/>
                    <a:pt x="584488" y="41401"/>
                    <a:pt x="584488" y="56345"/>
                  </a:cubicBezTo>
                  <a:lnTo>
                    <a:pt x="584488" y="56345"/>
                  </a:lnTo>
                  <a:cubicBezTo>
                    <a:pt x="584488" y="87463"/>
                    <a:pt x="559262" y="112690"/>
                    <a:pt x="528143" y="112690"/>
                  </a:cubicBezTo>
                  <a:lnTo>
                    <a:pt x="56345" y="112690"/>
                  </a:lnTo>
                  <a:cubicBezTo>
                    <a:pt x="25226" y="112690"/>
                    <a:pt x="0" y="87463"/>
                    <a:pt x="0" y="56345"/>
                  </a:cubicBezTo>
                  <a:lnTo>
                    <a:pt x="0" y="56345"/>
                  </a:lnTo>
                  <a:cubicBezTo>
                    <a:pt x="0" y="25226"/>
                    <a:pt x="25226" y="0"/>
                    <a:pt x="56345" y="0"/>
                  </a:cubicBezTo>
                  <a:close/>
                </a:path>
              </a:pathLst>
            </a:custGeom>
            <a:solidFill>
              <a:srgbClr val="72838A"/>
            </a:solidFill>
          </p:spPr>
        </p:sp>
        <p:sp>
          <p:nvSpPr>
            <p:cNvPr id="24" name="TextBox 15">
              <a:extLst>
                <a:ext uri="{FF2B5EF4-FFF2-40B4-BE49-F238E27FC236}">
                  <a16:creationId xmlns:a16="http://schemas.microsoft.com/office/drawing/2014/main" id="{77581E99-0B46-D740-DF0C-1B7560C78160}"/>
                </a:ext>
              </a:extLst>
            </p:cNvPr>
            <p:cNvSpPr txBox="1"/>
            <p:nvPr/>
          </p:nvSpPr>
          <p:spPr>
            <a:xfrm>
              <a:off x="0" y="-28575"/>
              <a:ext cx="584488" cy="141265"/>
            </a:xfrm>
            <a:prstGeom prst="rect">
              <a:avLst/>
            </a:prstGeom>
          </p:spPr>
          <p:txBody>
            <a:bodyPr lIns="50800" tIns="50800" rIns="50800" bIns="50800" rtlCol="0" anchor="ctr"/>
            <a:lstStyle/>
            <a:p>
              <a:pPr algn="ctr">
                <a:lnSpc>
                  <a:spcPts val="2240"/>
                </a:lnSpc>
              </a:pPr>
              <a:endParaRPr/>
            </a:p>
          </p:txBody>
        </p:sp>
      </p:grpSp>
      <p:sp>
        <p:nvSpPr>
          <p:cNvPr id="25" name="TextBox 20">
            <a:extLst>
              <a:ext uri="{FF2B5EF4-FFF2-40B4-BE49-F238E27FC236}">
                <a16:creationId xmlns:a16="http://schemas.microsoft.com/office/drawing/2014/main" id="{82AB7F93-A8C0-5ADC-B525-BF4D8C420963}"/>
              </a:ext>
            </a:extLst>
          </p:cNvPr>
          <p:cNvSpPr txBox="1"/>
          <p:nvPr/>
        </p:nvSpPr>
        <p:spPr>
          <a:xfrm>
            <a:off x="2475566" y="3873082"/>
            <a:ext cx="1731593" cy="240665"/>
          </a:xfrm>
          <a:prstGeom prst="rect">
            <a:avLst/>
          </a:prstGeom>
        </p:spPr>
        <p:txBody>
          <a:bodyPr lIns="0" tIns="0" rIns="0" bIns="0" rtlCol="0" anchor="t">
            <a:spAutoFit/>
          </a:bodyPr>
          <a:lstStyle/>
          <a:p>
            <a:pPr algn="ctr">
              <a:lnSpc>
                <a:spcPts val="1960"/>
              </a:lnSpc>
              <a:spcBef>
                <a:spcPct val="0"/>
              </a:spcBef>
            </a:pPr>
            <a:r>
              <a:rPr lang="en-US" sz="1400" spc="-70">
                <a:solidFill>
                  <a:srgbClr val="FFFFFF"/>
                </a:solidFill>
                <a:latin typeface="Open Sauce"/>
                <a:sym typeface="Open Sauce"/>
              </a:rPr>
              <a:t>Candidate</a:t>
            </a:r>
            <a:endParaRPr lang="en-US"/>
          </a:p>
        </p:txBody>
      </p:sp>
      <p:sp>
        <p:nvSpPr>
          <p:cNvPr id="26" name="TextBox 25">
            <a:extLst>
              <a:ext uri="{FF2B5EF4-FFF2-40B4-BE49-F238E27FC236}">
                <a16:creationId xmlns:a16="http://schemas.microsoft.com/office/drawing/2014/main" id="{58FDAC15-A9AD-1BC4-F2EF-78850FFBDB1D}"/>
              </a:ext>
            </a:extLst>
          </p:cNvPr>
          <p:cNvSpPr txBox="1"/>
          <p:nvPr/>
        </p:nvSpPr>
        <p:spPr>
          <a:xfrm>
            <a:off x="3574677" y="2700618"/>
            <a:ext cx="11721352" cy="8617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a:solidFill>
                  <a:srgbClr val="968C90"/>
                </a:solidFill>
                <a:latin typeface="Open Sauce"/>
                <a:ea typeface="+mn-lt"/>
                <a:cs typeface="+mn-lt"/>
              </a:rPr>
              <a:t>Transforming multimodal open data into decision making</a:t>
            </a:r>
            <a:endParaRPr lang="en-US" sz="3200">
              <a:ea typeface="Calibri"/>
              <a:cs typeface="Calibri"/>
            </a:endParaRPr>
          </a:p>
          <a:p>
            <a:pPr algn="ctr"/>
            <a:endParaRPr lang="en-US"/>
          </a:p>
        </p:txBody>
      </p:sp>
      <p:sp>
        <p:nvSpPr>
          <p:cNvPr id="27" name="TextBox 26">
            <a:extLst>
              <a:ext uri="{FF2B5EF4-FFF2-40B4-BE49-F238E27FC236}">
                <a16:creationId xmlns:a16="http://schemas.microsoft.com/office/drawing/2014/main" id="{80AF9021-C9C4-2C92-17E0-6B8DF469B8AF}"/>
              </a:ext>
            </a:extLst>
          </p:cNvPr>
          <p:cNvSpPr txBox="1"/>
          <p:nvPr/>
        </p:nvSpPr>
        <p:spPr>
          <a:xfrm>
            <a:off x="2218764" y="4235823"/>
            <a:ext cx="7272617"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968C90"/>
                </a:solidFill>
                <a:latin typeface="Open Sauce"/>
              </a:rPr>
              <a:t>Rafael Urbina Hincapie</a:t>
            </a:r>
            <a:endParaRPr lang="en-US"/>
          </a:p>
          <a:p>
            <a:pPr algn="ctr"/>
            <a:endParaRPr lang="en-US"/>
          </a:p>
        </p:txBody>
      </p:sp>
      <p:grpSp>
        <p:nvGrpSpPr>
          <p:cNvPr id="28" name="Group 13">
            <a:extLst>
              <a:ext uri="{FF2B5EF4-FFF2-40B4-BE49-F238E27FC236}">
                <a16:creationId xmlns:a16="http://schemas.microsoft.com/office/drawing/2014/main" id="{DBB073C5-70B0-9601-4502-54859B178674}"/>
              </a:ext>
            </a:extLst>
          </p:cNvPr>
          <p:cNvGrpSpPr/>
          <p:nvPr/>
        </p:nvGrpSpPr>
        <p:grpSpPr>
          <a:xfrm>
            <a:off x="10557719" y="3774917"/>
            <a:ext cx="2219228" cy="536364"/>
            <a:chOff x="0" y="-28575"/>
            <a:chExt cx="584488" cy="141265"/>
          </a:xfrm>
        </p:grpSpPr>
        <p:sp>
          <p:nvSpPr>
            <p:cNvPr id="29" name="Freeform 14">
              <a:extLst>
                <a:ext uri="{FF2B5EF4-FFF2-40B4-BE49-F238E27FC236}">
                  <a16:creationId xmlns:a16="http://schemas.microsoft.com/office/drawing/2014/main" id="{528BBBFF-A696-CAA1-5444-3B1CBF424442}"/>
                </a:ext>
              </a:extLst>
            </p:cNvPr>
            <p:cNvSpPr/>
            <p:nvPr/>
          </p:nvSpPr>
          <p:spPr>
            <a:xfrm>
              <a:off x="0" y="0"/>
              <a:ext cx="584488" cy="112690"/>
            </a:xfrm>
            <a:custGeom>
              <a:avLst/>
              <a:gdLst/>
              <a:ahLst/>
              <a:cxnLst/>
              <a:rect l="l" t="t" r="r" b="b"/>
              <a:pathLst>
                <a:path w="584488" h="112690">
                  <a:moveTo>
                    <a:pt x="56345" y="0"/>
                  </a:moveTo>
                  <a:lnTo>
                    <a:pt x="528143" y="0"/>
                  </a:lnTo>
                  <a:cubicBezTo>
                    <a:pt x="543087" y="0"/>
                    <a:pt x="557418" y="5936"/>
                    <a:pt x="567985" y="16503"/>
                  </a:cubicBezTo>
                  <a:cubicBezTo>
                    <a:pt x="578552" y="27070"/>
                    <a:pt x="584488" y="41401"/>
                    <a:pt x="584488" y="56345"/>
                  </a:cubicBezTo>
                  <a:lnTo>
                    <a:pt x="584488" y="56345"/>
                  </a:lnTo>
                  <a:cubicBezTo>
                    <a:pt x="584488" y="87463"/>
                    <a:pt x="559262" y="112690"/>
                    <a:pt x="528143" y="112690"/>
                  </a:cubicBezTo>
                  <a:lnTo>
                    <a:pt x="56345" y="112690"/>
                  </a:lnTo>
                  <a:cubicBezTo>
                    <a:pt x="25226" y="112690"/>
                    <a:pt x="0" y="87463"/>
                    <a:pt x="0" y="56345"/>
                  </a:cubicBezTo>
                  <a:lnTo>
                    <a:pt x="0" y="56345"/>
                  </a:lnTo>
                  <a:cubicBezTo>
                    <a:pt x="0" y="25226"/>
                    <a:pt x="25226" y="0"/>
                    <a:pt x="56345" y="0"/>
                  </a:cubicBezTo>
                  <a:close/>
                </a:path>
              </a:pathLst>
            </a:custGeom>
            <a:solidFill>
              <a:srgbClr val="72838A"/>
            </a:solidFill>
          </p:spPr>
        </p:sp>
        <p:sp>
          <p:nvSpPr>
            <p:cNvPr id="30" name="TextBox 15">
              <a:extLst>
                <a:ext uri="{FF2B5EF4-FFF2-40B4-BE49-F238E27FC236}">
                  <a16:creationId xmlns:a16="http://schemas.microsoft.com/office/drawing/2014/main" id="{455429D6-7A74-FAEB-C3BF-E42CB33C04C8}"/>
                </a:ext>
              </a:extLst>
            </p:cNvPr>
            <p:cNvSpPr txBox="1"/>
            <p:nvPr/>
          </p:nvSpPr>
          <p:spPr>
            <a:xfrm>
              <a:off x="0" y="-28575"/>
              <a:ext cx="584488" cy="141265"/>
            </a:xfrm>
            <a:prstGeom prst="rect">
              <a:avLst/>
            </a:prstGeom>
          </p:spPr>
          <p:txBody>
            <a:bodyPr lIns="50800" tIns="50800" rIns="50800" bIns="50800" rtlCol="0" anchor="ctr"/>
            <a:lstStyle/>
            <a:p>
              <a:pPr algn="ctr">
                <a:lnSpc>
                  <a:spcPts val="2240"/>
                </a:lnSpc>
              </a:pPr>
              <a:endParaRPr/>
            </a:p>
          </p:txBody>
        </p:sp>
      </p:grpSp>
      <p:sp>
        <p:nvSpPr>
          <p:cNvPr id="31" name="TextBox 20">
            <a:extLst>
              <a:ext uri="{FF2B5EF4-FFF2-40B4-BE49-F238E27FC236}">
                <a16:creationId xmlns:a16="http://schemas.microsoft.com/office/drawing/2014/main" id="{7B066DE1-5521-B816-A5D8-A73130C44D49}"/>
              </a:ext>
            </a:extLst>
          </p:cNvPr>
          <p:cNvSpPr txBox="1"/>
          <p:nvPr/>
        </p:nvSpPr>
        <p:spPr>
          <a:xfrm>
            <a:off x="10756712" y="3951522"/>
            <a:ext cx="1731593" cy="240665"/>
          </a:xfrm>
          <a:prstGeom prst="rect">
            <a:avLst/>
          </a:prstGeom>
        </p:spPr>
        <p:txBody>
          <a:bodyPr lIns="0" tIns="0" rIns="0" bIns="0" rtlCol="0" anchor="t">
            <a:spAutoFit/>
          </a:bodyPr>
          <a:lstStyle/>
          <a:p>
            <a:pPr algn="ctr">
              <a:lnSpc>
                <a:spcPts val="1960"/>
              </a:lnSpc>
              <a:spcBef>
                <a:spcPct val="0"/>
              </a:spcBef>
            </a:pPr>
            <a:r>
              <a:rPr lang="en-US" sz="1400" spc="-70">
                <a:solidFill>
                  <a:srgbClr val="FFFFFF"/>
                </a:solidFill>
                <a:latin typeface="Open Sauce"/>
                <a:sym typeface="Open Sauce"/>
              </a:rPr>
              <a:t>Supervisors</a:t>
            </a:r>
            <a:endParaRPr lang="en-US"/>
          </a:p>
        </p:txBody>
      </p:sp>
      <p:sp>
        <p:nvSpPr>
          <p:cNvPr id="32" name="TextBox 31">
            <a:extLst>
              <a:ext uri="{FF2B5EF4-FFF2-40B4-BE49-F238E27FC236}">
                <a16:creationId xmlns:a16="http://schemas.microsoft.com/office/drawing/2014/main" id="{209D04F3-D3FD-7917-8275-8A87BB02DBCA}"/>
              </a:ext>
            </a:extLst>
          </p:cNvPr>
          <p:cNvSpPr txBox="1"/>
          <p:nvPr/>
        </p:nvSpPr>
        <p:spPr>
          <a:xfrm>
            <a:off x="10499912" y="4314264"/>
            <a:ext cx="7272617" cy="98488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968C90"/>
                </a:solidFill>
                <a:latin typeface="Open Sauce"/>
              </a:rPr>
              <a:t>Prof. Gualtiero Fantoni</a:t>
            </a:r>
            <a:endParaRPr lang="en-US" sz="2000" dirty="0">
              <a:solidFill>
                <a:srgbClr val="968C90"/>
              </a:solidFill>
              <a:latin typeface="Open Sauce"/>
            </a:endParaRPr>
          </a:p>
          <a:p>
            <a:r>
              <a:rPr lang="en-US" sz="2000" dirty="0" err="1">
                <a:solidFill>
                  <a:srgbClr val="968C90"/>
                </a:solidFill>
                <a:latin typeface="Open Sauce"/>
              </a:rPr>
              <a:t>Prof.ssa</a:t>
            </a:r>
            <a:r>
              <a:rPr lang="en-US" sz="2000" dirty="0">
                <a:solidFill>
                  <a:srgbClr val="968C90"/>
                </a:solidFill>
                <a:latin typeface="Open Sauce"/>
              </a:rPr>
              <a:t> Irene Spada</a:t>
            </a:r>
          </a:p>
          <a:p>
            <a:pPr algn="ctr"/>
            <a:endParaRPr lang="en-US">
              <a:ea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973800"/>
            <a:ext cx="1742162" cy="427869"/>
            <a:chOff x="0" y="0"/>
            <a:chExt cx="458841" cy="112690"/>
          </a:xfrm>
        </p:grpSpPr>
        <p:sp>
          <p:nvSpPr>
            <p:cNvPr id="3" name="Freeform 3"/>
            <p:cNvSpPr/>
            <p:nvPr/>
          </p:nvSpPr>
          <p:spPr>
            <a:xfrm>
              <a:off x="0" y="0"/>
              <a:ext cx="458841" cy="112690"/>
            </a:xfrm>
            <a:custGeom>
              <a:avLst/>
              <a:gdLst/>
              <a:ahLst/>
              <a:cxnLst/>
              <a:rect l="l" t="t" r="r" b="b"/>
              <a:pathLst>
                <a:path w="458841" h="112690">
                  <a:moveTo>
                    <a:pt x="56345" y="0"/>
                  </a:moveTo>
                  <a:lnTo>
                    <a:pt x="402496" y="0"/>
                  </a:lnTo>
                  <a:cubicBezTo>
                    <a:pt x="433614" y="0"/>
                    <a:pt x="458841" y="25226"/>
                    <a:pt x="458841" y="56345"/>
                  </a:cubicBezTo>
                  <a:lnTo>
                    <a:pt x="458841" y="56345"/>
                  </a:lnTo>
                  <a:cubicBezTo>
                    <a:pt x="458841" y="71288"/>
                    <a:pt x="452905" y="85620"/>
                    <a:pt x="442338" y="96187"/>
                  </a:cubicBezTo>
                  <a:cubicBezTo>
                    <a:pt x="431771" y="106753"/>
                    <a:pt x="417440" y="112690"/>
                    <a:pt x="402496" y="112690"/>
                  </a:cubicBezTo>
                  <a:lnTo>
                    <a:pt x="56345" y="112690"/>
                  </a:lnTo>
                  <a:cubicBezTo>
                    <a:pt x="25226" y="112690"/>
                    <a:pt x="0" y="87463"/>
                    <a:pt x="0" y="56345"/>
                  </a:cubicBezTo>
                  <a:lnTo>
                    <a:pt x="0" y="56345"/>
                  </a:lnTo>
                  <a:cubicBezTo>
                    <a:pt x="0" y="25226"/>
                    <a:pt x="25226" y="0"/>
                    <a:pt x="56345" y="0"/>
                  </a:cubicBezTo>
                  <a:close/>
                </a:path>
              </a:pathLst>
            </a:custGeom>
            <a:solidFill>
              <a:srgbClr val="B8C0BF"/>
            </a:solidFill>
          </p:spPr>
        </p:sp>
        <p:sp>
          <p:nvSpPr>
            <p:cNvPr id="4" name="TextBox 4"/>
            <p:cNvSpPr txBox="1"/>
            <p:nvPr/>
          </p:nvSpPr>
          <p:spPr>
            <a:xfrm>
              <a:off x="0" y="-28575"/>
              <a:ext cx="458841" cy="141265"/>
            </a:xfrm>
            <a:prstGeom prst="rect">
              <a:avLst/>
            </a:prstGeom>
          </p:spPr>
          <p:txBody>
            <a:bodyPr lIns="50800" tIns="50800" rIns="50800" bIns="50800" rtlCol="0" anchor="ctr"/>
            <a:lstStyle/>
            <a:p>
              <a:pPr algn="ctr">
                <a:lnSpc>
                  <a:spcPts val="2240"/>
                </a:lnSpc>
              </a:pPr>
              <a:endParaRPr/>
            </a:p>
          </p:txBody>
        </p:sp>
      </p:grpSp>
      <p:sp>
        <p:nvSpPr>
          <p:cNvPr id="5" name="Freeform 5"/>
          <p:cNvSpPr/>
          <p:nvPr/>
        </p:nvSpPr>
        <p:spPr>
          <a:xfrm>
            <a:off x="1263130" y="1100851"/>
            <a:ext cx="154386" cy="183001"/>
          </a:xfrm>
          <a:custGeom>
            <a:avLst/>
            <a:gdLst/>
            <a:ahLst/>
            <a:cxnLst/>
            <a:rect l="l" t="t" r="r" b="b"/>
            <a:pathLst>
              <a:path w="154386" h="183001">
                <a:moveTo>
                  <a:pt x="0" y="0"/>
                </a:moveTo>
                <a:lnTo>
                  <a:pt x="154386" y="0"/>
                </a:lnTo>
                <a:lnTo>
                  <a:pt x="154386" y="183001"/>
                </a:lnTo>
                <a:lnTo>
                  <a:pt x="0" y="18300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9" name="TextBox 9"/>
          <p:cNvSpPr txBox="1"/>
          <p:nvPr/>
        </p:nvSpPr>
        <p:spPr>
          <a:xfrm>
            <a:off x="1028700" y="3095738"/>
            <a:ext cx="7045609" cy="1402366"/>
          </a:xfrm>
          <a:prstGeom prst="rect">
            <a:avLst/>
          </a:prstGeom>
        </p:spPr>
        <p:txBody>
          <a:bodyPr lIns="0" tIns="0" rIns="0" bIns="0" rtlCol="0" anchor="t">
            <a:spAutoFit/>
          </a:bodyPr>
          <a:lstStyle/>
          <a:p>
            <a:pPr algn="l">
              <a:lnSpc>
                <a:spcPts val="11429"/>
              </a:lnSpc>
              <a:spcBef>
                <a:spcPct val="0"/>
              </a:spcBef>
            </a:pPr>
            <a:r>
              <a:rPr lang="en-US" sz="8163" spc="-653">
                <a:solidFill>
                  <a:srgbClr val="4B3C3D"/>
                </a:solidFill>
                <a:latin typeface="Open Sauce"/>
                <a:ea typeface="Open Sauce"/>
                <a:cs typeface="Open Sauce"/>
                <a:sym typeface="Open Sauce"/>
              </a:rPr>
              <a:t>Problem framing</a:t>
            </a:r>
          </a:p>
        </p:txBody>
      </p:sp>
      <p:sp>
        <p:nvSpPr>
          <p:cNvPr id="10" name="TextBox 10"/>
          <p:cNvSpPr txBox="1"/>
          <p:nvPr/>
        </p:nvSpPr>
        <p:spPr>
          <a:xfrm>
            <a:off x="5475071" y="981075"/>
            <a:ext cx="2599238" cy="1455078"/>
          </a:xfrm>
          <a:prstGeom prst="rect">
            <a:avLst/>
          </a:prstGeom>
        </p:spPr>
        <p:txBody>
          <a:bodyPr lIns="0" tIns="0" rIns="0" bIns="0" rtlCol="0" anchor="t">
            <a:spAutoFit/>
          </a:bodyPr>
          <a:lstStyle/>
          <a:p>
            <a:pPr>
              <a:lnSpc>
                <a:spcPts val="2939"/>
              </a:lnSpc>
              <a:spcBef>
                <a:spcPct val="0"/>
              </a:spcBef>
            </a:pPr>
            <a:r>
              <a:rPr lang="en-US" sz="2050" b="1" i="1" spc="-104" dirty="0">
                <a:solidFill>
                  <a:srgbClr val="968C90"/>
                </a:solidFill>
                <a:latin typeface="Open Sauce Bold Italics"/>
                <a:ea typeface="Open Sauce Bold Italics"/>
                <a:cs typeface="Open Sauce Bold Italics"/>
                <a:sym typeface="Open Sauce Bold Italics"/>
              </a:rPr>
              <a:t>How can we define the vulnerabilities of a Water distribution </a:t>
            </a:r>
            <a:r>
              <a:rPr lang="en-US" sz="2050" b="1" i="1" spc="-104">
                <a:solidFill>
                  <a:srgbClr val="968C90"/>
                </a:solidFill>
                <a:latin typeface="Open Sauce Bold Italics"/>
                <a:ea typeface="Open Sauce Bold Italics"/>
                <a:cs typeface="Open Sauce Bold Italics"/>
                <a:sym typeface="Open Sauce Bold Italics"/>
              </a:rPr>
              <a:t>networks? </a:t>
            </a:r>
          </a:p>
        </p:txBody>
      </p:sp>
      <p:sp>
        <p:nvSpPr>
          <p:cNvPr id="11" name="TextBox 11"/>
          <p:cNvSpPr txBox="1"/>
          <p:nvPr/>
        </p:nvSpPr>
        <p:spPr>
          <a:xfrm>
            <a:off x="1417516" y="1057731"/>
            <a:ext cx="1118915" cy="240665"/>
          </a:xfrm>
          <a:prstGeom prst="rect">
            <a:avLst/>
          </a:prstGeom>
        </p:spPr>
        <p:txBody>
          <a:bodyPr lIns="0" tIns="0" rIns="0" bIns="0" rtlCol="0" anchor="t">
            <a:spAutoFit/>
          </a:bodyPr>
          <a:lstStyle/>
          <a:p>
            <a:pPr algn="r">
              <a:lnSpc>
                <a:spcPts val="1960"/>
              </a:lnSpc>
              <a:spcBef>
                <a:spcPct val="0"/>
              </a:spcBef>
            </a:pPr>
            <a:r>
              <a:rPr lang="en-US" sz="1400" spc="-70">
                <a:solidFill>
                  <a:srgbClr val="4B3C3D"/>
                </a:solidFill>
                <a:latin typeface="Open Sauce"/>
                <a:ea typeface="Open Sauce"/>
                <a:cs typeface="Open Sauce"/>
                <a:sym typeface="Open Sauce"/>
              </a:rPr>
              <a:t>Context</a:t>
            </a:r>
          </a:p>
        </p:txBody>
      </p:sp>
      <p:sp>
        <p:nvSpPr>
          <p:cNvPr id="14" name="TextBox 14"/>
          <p:cNvSpPr txBox="1"/>
          <p:nvPr/>
        </p:nvSpPr>
        <p:spPr>
          <a:xfrm>
            <a:off x="11150067" y="6988246"/>
            <a:ext cx="6109233" cy="264160"/>
          </a:xfrm>
          <a:prstGeom prst="rect">
            <a:avLst/>
          </a:prstGeom>
        </p:spPr>
        <p:txBody>
          <a:bodyPr lIns="0" tIns="0" rIns="0" bIns="0" rtlCol="0" anchor="t">
            <a:spAutoFit/>
          </a:bodyPr>
          <a:lstStyle/>
          <a:p>
            <a:pPr algn="ctr">
              <a:lnSpc>
                <a:spcPts val="2240"/>
              </a:lnSpc>
              <a:spcBef>
                <a:spcPct val="0"/>
              </a:spcBef>
            </a:pPr>
            <a:r>
              <a:rPr lang="en-US" sz="1600" b="1" spc="-80">
                <a:solidFill>
                  <a:srgbClr val="FFFFFF"/>
                </a:solidFill>
                <a:latin typeface="Open Sauce Bold"/>
                <a:ea typeface="Open Sauce Bold"/>
                <a:cs typeface="Open Sauce Bold"/>
                <a:sym typeface="Open Sauce Bold"/>
              </a:rPr>
              <a:t>Case study &amp; geospatial scope</a:t>
            </a:r>
          </a:p>
        </p:txBody>
      </p:sp>
      <p:grpSp>
        <p:nvGrpSpPr>
          <p:cNvPr id="26" name="Group 8">
            <a:extLst>
              <a:ext uri="{FF2B5EF4-FFF2-40B4-BE49-F238E27FC236}">
                <a16:creationId xmlns:a16="http://schemas.microsoft.com/office/drawing/2014/main" id="{587C499D-0819-E0E8-6CE2-AA7210AA3FE1}"/>
              </a:ext>
            </a:extLst>
          </p:cNvPr>
          <p:cNvGrpSpPr/>
          <p:nvPr/>
        </p:nvGrpSpPr>
        <p:grpSpPr>
          <a:xfrm>
            <a:off x="1028700" y="4983662"/>
            <a:ext cx="7045609" cy="4824770"/>
            <a:chOff x="0" y="-28575"/>
            <a:chExt cx="1855634" cy="1270721"/>
          </a:xfrm>
        </p:grpSpPr>
        <p:sp>
          <p:nvSpPr>
            <p:cNvPr id="24" name="Freeform 9">
              <a:extLst>
                <a:ext uri="{FF2B5EF4-FFF2-40B4-BE49-F238E27FC236}">
                  <a16:creationId xmlns:a16="http://schemas.microsoft.com/office/drawing/2014/main" id="{CCBB35CD-C007-8B34-1D97-41A660D9D568}"/>
                </a:ext>
              </a:extLst>
            </p:cNvPr>
            <p:cNvSpPr/>
            <p:nvPr/>
          </p:nvSpPr>
          <p:spPr>
            <a:xfrm>
              <a:off x="0" y="0"/>
              <a:ext cx="1855634" cy="1242146"/>
            </a:xfrm>
            <a:custGeom>
              <a:avLst/>
              <a:gdLst/>
              <a:ahLst/>
              <a:cxnLst/>
              <a:rect l="l" t="t" r="r" b="b"/>
              <a:pathLst>
                <a:path w="1855634" h="1242146">
                  <a:moveTo>
                    <a:pt x="27471" y="0"/>
                  </a:moveTo>
                  <a:lnTo>
                    <a:pt x="1828163" y="0"/>
                  </a:lnTo>
                  <a:cubicBezTo>
                    <a:pt x="1835449" y="0"/>
                    <a:pt x="1842436" y="2894"/>
                    <a:pt x="1847588" y="8046"/>
                  </a:cubicBezTo>
                  <a:cubicBezTo>
                    <a:pt x="1852739" y="13198"/>
                    <a:pt x="1855634" y="20185"/>
                    <a:pt x="1855634" y="27471"/>
                  </a:cubicBezTo>
                  <a:lnTo>
                    <a:pt x="1855634" y="1214675"/>
                  </a:lnTo>
                  <a:cubicBezTo>
                    <a:pt x="1855634" y="1221961"/>
                    <a:pt x="1852739" y="1228948"/>
                    <a:pt x="1847588" y="1234100"/>
                  </a:cubicBezTo>
                  <a:cubicBezTo>
                    <a:pt x="1842436" y="1239252"/>
                    <a:pt x="1835449" y="1242146"/>
                    <a:pt x="1828163" y="1242146"/>
                  </a:cubicBezTo>
                  <a:lnTo>
                    <a:pt x="27471" y="1242146"/>
                  </a:lnTo>
                  <a:cubicBezTo>
                    <a:pt x="20185" y="1242146"/>
                    <a:pt x="13198" y="1239252"/>
                    <a:pt x="8046" y="1234100"/>
                  </a:cubicBezTo>
                  <a:cubicBezTo>
                    <a:pt x="2894" y="1228948"/>
                    <a:pt x="0" y="1221961"/>
                    <a:pt x="0" y="1214675"/>
                  </a:cubicBezTo>
                  <a:lnTo>
                    <a:pt x="0" y="27471"/>
                  </a:lnTo>
                  <a:cubicBezTo>
                    <a:pt x="0" y="20185"/>
                    <a:pt x="2894" y="13198"/>
                    <a:pt x="8046" y="8046"/>
                  </a:cubicBezTo>
                  <a:cubicBezTo>
                    <a:pt x="13198" y="2894"/>
                    <a:pt x="20185" y="0"/>
                    <a:pt x="27471" y="0"/>
                  </a:cubicBezTo>
                  <a:close/>
                </a:path>
              </a:pathLst>
            </a:custGeom>
            <a:solidFill>
              <a:srgbClr val="72838A"/>
            </a:solidFill>
          </p:spPr>
        </p:sp>
        <p:sp>
          <p:nvSpPr>
            <p:cNvPr id="25" name="TextBox 10">
              <a:extLst>
                <a:ext uri="{FF2B5EF4-FFF2-40B4-BE49-F238E27FC236}">
                  <a16:creationId xmlns:a16="http://schemas.microsoft.com/office/drawing/2014/main" id="{D477C648-169B-EB92-AB42-860067F15CBE}"/>
                </a:ext>
              </a:extLst>
            </p:cNvPr>
            <p:cNvSpPr txBox="1"/>
            <p:nvPr/>
          </p:nvSpPr>
          <p:spPr>
            <a:xfrm>
              <a:off x="0" y="-28575"/>
              <a:ext cx="1855634" cy="1270721"/>
            </a:xfrm>
            <a:prstGeom prst="rect">
              <a:avLst/>
            </a:prstGeom>
          </p:spPr>
          <p:txBody>
            <a:bodyPr lIns="50800" tIns="50800" rIns="50800" bIns="50800" rtlCol="0" anchor="ctr"/>
            <a:lstStyle/>
            <a:p>
              <a:pPr algn="ctr">
                <a:lnSpc>
                  <a:spcPts val="1960"/>
                </a:lnSpc>
              </a:pPr>
              <a:endParaRPr/>
            </a:p>
          </p:txBody>
        </p:sp>
      </p:grpSp>
      <p:sp>
        <p:nvSpPr>
          <p:cNvPr id="28" name="TextBox 17">
            <a:extLst>
              <a:ext uri="{FF2B5EF4-FFF2-40B4-BE49-F238E27FC236}">
                <a16:creationId xmlns:a16="http://schemas.microsoft.com/office/drawing/2014/main" id="{6FE7D3F4-7FA6-709B-8945-F67742CAF5ED}"/>
              </a:ext>
            </a:extLst>
          </p:cNvPr>
          <p:cNvSpPr txBox="1"/>
          <p:nvPr/>
        </p:nvSpPr>
        <p:spPr>
          <a:xfrm>
            <a:off x="1136367" y="5192995"/>
            <a:ext cx="3907329" cy="1675330"/>
          </a:xfrm>
          <a:prstGeom prst="rect">
            <a:avLst/>
          </a:prstGeom>
        </p:spPr>
        <p:txBody>
          <a:bodyPr lIns="0" tIns="0" rIns="0" bIns="0" rtlCol="0" anchor="t">
            <a:spAutoFit/>
          </a:bodyPr>
          <a:lstStyle/>
          <a:p>
            <a:pPr algn="just">
              <a:lnSpc>
                <a:spcPts val="2240"/>
              </a:lnSpc>
            </a:pPr>
            <a:r>
              <a:rPr lang="en-US" b="1" spc="-80">
                <a:solidFill>
                  <a:srgbClr val="FFFFFF"/>
                </a:solidFill>
                <a:latin typeface="Open Sauce Bold"/>
                <a:ea typeface="Open Sauce Bold"/>
                <a:cs typeface="Open Sauce Bold"/>
                <a:sym typeface="Open Sauce Bold"/>
              </a:rPr>
              <a:t>Shifting the Dimensions of Risk</a:t>
            </a:r>
            <a:endParaRPr lang="en-US" b="1" spc="-80" dirty="0">
              <a:solidFill>
                <a:srgbClr val="FFFFFF"/>
              </a:solidFill>
              <a:latin typeface="Open Sauce Bold"/>
              <a:ea typeface="Open Sauce Bold"/>
              <a:cs typeface="Open Sauce Bold"/>
            </a:endParaRPr>
          </a:p>
          <a:p>
            <a:pPr algn="l">
              <a:lnSpc>
                <a:spcPts val="2240"/>
              </a:lnSpc>
            </a:pPr>
            <a:endParaRPr lang="en-US" b="1" spc="-80" dirty="0">
              <a:solidFill>
                <a:srgbClr val="FFFFFF"/>
              </a:solidFill>
              <a:latin typeface="Open Sauce Bold"/>
              <a:ea typeface="Open Sauce Bold"/>
              <a:cs typeface="Open Sauce Bold"/>
            </a:endParaRPr>
          </a:p>
          <a:p>
            <a:pPr algn="l">
              <a:lnSpc>
                <a:spcPts val="2240"/>
              </a:lnSpc>
            </a:pPr>
            <a:r>
              <a:rPr lang="en-US" spc="-80" dirty="0">
                <a:solidFill>
                  <a:srgbClr val="FFFFFF"/>
                </a:solidFill>
                <a:latin typeface="Open Sauce"/>
                <a:ea typeface="Open Sauce"/>
                <a:cs typeface="Open Sauce"/>
                <a:sym typeface="Open Sauce"/>
              </a:rPr>
              <a:t>The Foundation (</a:t>
            </a:r>
            <a:r>
              <a:rPr lang="en-US" sz="1700" spc="-80" dirty="0" err="1">
                <a:solidFill>
                  <a:srgbClr val="FFFFFF"/>
                </a:solidFill>
                <a:latin typeface="Open Sauce"/>
                <a:ea typeface="Open Sauce"/>
                <a:cs typeface="Open Sauce"/>
                <a:sym typeface="Open Sauce"/>
              </a:rPr>
              <a:t>Sangroula</a:t>
            </a:r>
            <a:r>
              <a:rPr lang="en-US" spc="-80" dirty="0">
                <a:solidFill>
                  <a:srgbClr val="FFFFFF"/>
                </a:solidFill>
                <a:latin typeface="Open Sauce"/>
                <a:ea typeface="Open Sauce"/>
                <a:cs typeface="Open Sauce"/>
                <a:sym typeface="Open Sauce"/>
              </a:rPr>
              <a:t> et al., 2026)</a:t>
            </a:r>
            <a:endParaRPr lang="en-US" spc="-80" dirty="0">
              <a:solidFill>
                <a:srgbClr val="FFFFFF"/>
              </a:solidFill>
              <a:latin typeface="Open Sauce"/>
              <a:ea typeface="Open Sauce"/>
              <a:cs typeface="Open Sauce"/>
            </a:endParaRPr>
          </a:p>
          <a:p>
            <a:pPr marL="345440" lvl="1" indent="-172720" algn="l">
              <a:lnSpc>
                <a:spcPts val="2240"/>
              </a:lnSpc>
              <a:buAutoNum type="arabicPeriod"/>
            </a:pPr>
            <a:r>
              <a:rPr lang="en-US" spc="-80">
                <a:solidFill>
                  <a:srgbClr val="FFFFFF"/>
                </a:solidFill>
                <a:latin typeface="Open Sauce"/>
                <a:ea typeface="Open Sauce"/>
                <a:cs typeface="Open Sauce"/>
                <a:sym typeface="Open Sauce"/>
              </a:rPr>
              <a:t>Physical</a:t>
            </a:r>
            <a:endParaRPr lang="en-US" spc="-80" dirty="0">
              <a:solidFill>
                <a:srgbClr val="FFFFFF"/>
              </a:solidFill>
              <a:latin typeface="Open Sauce"/>
              <a:ea typeface="Open Sauce"/>
              <a:cs typeface="Open Sauce"/>
            </a:endParaRPr>
          </a:p>
          <a:p>
            <a:pPr marL="345440" lvl="1" indent="-172720" algn="l">
              <a:lnSpc>
                <a:spcPts val="2240"/>
              </a:lnSpc>
              <a:buAutoNum type="arabicPeriod"/>
            </a:pPr>
            <a:r>
              <a:rPr lang="en-US" spc="-80">
                <a:solidFill>
                  <a:srgbClr val="FFFFFF"/>
                </a:solidFill>
                <a:latin typeface="Open Sauce"/>
                <a:ea typeface="Open Sauce"/>
                <a:cs typeface="Open Sauce"/>
                <a:sym typeface="Open Sauce"/>
              </a:rPr>
              <a:t>Environmental</a:t>
            </a:r>
            <a:endParaRPr lang="en-US" spc="-80" dirty="0">
              <a:solidFill>
                <a:srgbClr val="FFFFFF"/>
              </a:solidFill>
              <a:latin typeface="Open Sauce"/>
              <a:ea typeface="Open Sauce"/>
              <a:cs typeface="Open Sauce"/>
            </a:endParaRPr>
          </a:p>
          <a:p>
            <a:pPr marL="345440" lvl="1" indent="-172720" algn="l">
              <a:lnSpc>
                <a:spcPts val="2240"/>
              </a:lnSpc>
              <a:buAutoNum type="arabicPeriod"/>
            </a:pPr>
            <a:r>
              <a:rPr lang="en-US" spc="-80">
                <a:solidFill>
                  <a:srgbClr val="FFFFFF"/>
                </a:solidFill>
                <a:latin typeface="Open Sauce"/>
                <a:ea typeface="Open Sauce"/>
                <a:cs typeface="Open Sauce"/>
                <a:sym typeface="Open Sauce"/>
              </a:rPr>
              <a:t>Operational</a:t>
            </a:r>
            <a:endParaRPr lang="en-US" spc="-80">
              <a:solidFill>
                <a:srgbClr val="FFFFFF"/>
              </a:solidFill>
              <a:latin typeface="Open Sauce"/>
              <a:ea typeface="Open Sauce"/>
              <a:cs typeface="Open Sauce"/>
            </a:endParaRPr>
          </a:p>
        </p:txBody>
      </p:sp>
      <p:sp>
        <p:nvSpPr>
          <p:cNvPr id="30" name="TextBox 18">
            <a:extLst>
              <a:ext uri="{FF2B5EF4-FFF2-40B4-BE49-F238E27FC236}">
                <a16:creationId xmlns:a16="http://schemas.microsoft.com/office/drawing/2014/main" id="{68CC5CC9-E699-EBDC-93CD-3474BD29E8F7}"/>
              </a:ext>
            </a:extLst>
          </p:cNvPr>
          <p:cNvSpPr txBox="1"/>
          <p:nvPr/>
        </p:nvSpPr>
        <p:spPr>
          <a:xfrm>
            <a:off x="3793669" y="6291484"/>
            <a:ext cx="4280639" cy="3362139"/>
          </a:xfrm>
          <a:prstGeom prst="rect">
            <a:avLst/>
          </a:prstGeom>
        </p:spPr>
        <p:txBody>
          <a:bodyPr lIns="0" tIns="0" rIns="0" bIns="0" rtlCol="0" anchor="t">
            <a:spAutoFit/>
          </a:bodyPr>
          <a:lstStyle/>
          <a:p>
            <a:pPr algn="l">
              <a:lnSpc>
                <a:spcPts val="2240"/>
              </a:lnSpc>
              <a:spcBef>
                <a:spcPct val="0"/>
              </a:spcBef>
            </a:pPr>
            <a:r>
              <a:rPr lang="en-US" sz="1700" b="1" spc="-80">
                <a:solidFill>
                  <a:srgbClr val="FFFFFF"/>
                </a:solidFill>
                <a:latin typeface="Open Sauce Bold"/>
                <a:ea typeface="Open Sauce Bold"/>
                <a:cs typeface="Open Sauce Bold"/>
                <a:sym typeface="Open Sauce Bold"/>
              </a:rPr>
              <a:t>Our Approach</a:t>
            </a:r>
            <a:endParaRPr lang="en-US" sz="1700" b="1" spc="-80">
              <a:solidFill>
                <a:srgbClr val="FFFFFF"/>
              </a:solidFill>
              <a:latin typeface="Open Sauce Bold"/>
              <a:ea typeface="Open Sauce Bold"/>
              <a:cs typeface="Open Sauce Bold"/>
            </a:endParaRPr>
          </a:p>
          <a:p>
            <a:pPr marL="345440" lvl="1" indent="-172720" algn="l">
              <a:lnSpc>
                <a:spcPts val="2240"/>
              </a:lnSpc>
              <a:spcBef>
                <a:spcPct val="0"/>
              </a:spcBef>
              <a:buFont typeface="Arial"/>
              <a:buChar char="•"/>
            </a:pPr>
            <a:r>
              <a:rPr lang="en-US" sz="1700" spc="-80">
                <a:solidFill>
                  <a:srgbClr val="FFFFFF"/>
                </a:solidFill>
                <a:latin typeface="Open Sauce"/>
                <a:ea typeface="Open Sauce"/>
                <a:cs typeface="Open Sauce"/>
                <a:sym typeface="Open Sauce"/>
              </a:rPr>
              <a:t>The Challenge: Missing or inaccessible structural physical pipeline data.</a:t>
            </a:r>
            <a:endParaRPr lang="en-US" sz="1700" spc="-80" dirty="0">
              <a:solidFill>
                <a:srgbClr val="FFFFFF"/>
              </a:solidFill>
              <a:latin typeface="Open Sauce"/>
              <a:ea typeface="Open Sauce"/>
              <a:cs typeface="Open Sauce"/>
            </a:endParaRPr>
          </a:p>
          <a:p>
            <a:pPr algn="l">
              <a:lnSpc>
                <a:spcPts val="2240"/>
              </a:lnSpc>
              <a:spcBef>
                <a:spcPct val="0"/>
              </a:spcBef>
            </a:pPr>
            <a:endParaRPr lang="en-US" sz="1700" spc="-80" dirty="0">
              <a:solidFill>
                <a:srgbClr val="FFFFFF"/>
              </a:solidFill>
              <a:latin typeface="Open Sauce"/>
              <a:ea typeface="Open Sauce"/>
              <a:cs typeface="Open Sauce"/>
            </a:endParaRPr>
          </a:p>
          <a:p>
            <a:pPr marL="345440" lvl="1" indent="-172720" algn="l">
              <a:lnSpc>
                <a:spcPts val="2240"/>
              </a:lnSpc>
              <a:spcBef>
                <a:spcPct val="0"/>
              </a:spcBef>
              <a:buFont typeface="Arial"/>
              <a:buChar char="•"/>
            </a:pPr>
            <a:r>
              <a:rPr lang="en-US" sz="1700" spc="-80">
                <a:solidFill>
                  <a:srgbClr val="FFFFFF"/>
                </a:solidFill>
                <a:latin typeface="Open Sauce"/>
                <a:ea typeface="Open Sauce"/>
                <a:cs typeface="Open Sauce"/>
                <a:sym typeface="Open Sauce"/>
              </a:rPr>
              <a:t>The Solution: Pivot the problem structure to exploit the vast availability of Open Data in the remaining two dimensions.</a:t>
            </a:r>
            <a:endParaRPr lang="en-US" sz="1700" spc="-80" dirty="0">
              <a:solidFill>
                <a:srgbClr val="FFFFFF"/>
              </a:solidFill>
              <a:latin typeface="Open Sauce"/>
              <a:ea typeface="Open Sauce"/>
              <a:cs typeface="Open Sauce"/>
            </a:endParaRPr>
          </a:p>
          <a:p>
            <a:pPr algn="l">
              <a:lnSpc>
                <a:spcPts val="2240"/>
              </a:lnSpc>
              <a:spcBef>
                <a:spcPct val="0"/>
              </a:spcBef>
            </a:pPr>
            <a:endParaRPr lang="en-US" sz="1700" spc="-80" dirty="0">
              <a:solidFill>
                <a:srgbClr val="FFFFFF"/>
              </a:solidFill>
              <a:latin typeface="Open Sauce"/>
              <a:ea typeface="Open Sauce"/>
              <a:cs typeface="Open Sauce"/>
            </a:endParaRPr>
          </a:p>
          <a:p>
            <a:pPr marL="345440" lvl="1" indent="-172720" algn="l">
              <a:lnSpc>
                <a:spcPts val="2240"/>
              </a:lnSpc>
              <a:spcBef>
                <a:spcPct val="0"/>
              </a:spcBef>
              <a:buFont typeface="Arial"/>
              <a:buChar char="•"/>
            </a:pPr>
            <a:r>
              <a:rPr lang="en-US" sz="1700" spc="-80">
                <a:solidFill>
                  <a:srgbClr val="FFFFFF"/>
                </a:solidFill>
                <a:latin typeface="Open Sauce"/>
                <a:ea typeface="Open Sauce"/>
                <a:cs typeface="Open Sauce"/>
                <a:sym typeface="Open Sauce"/>
              </a:rPr>
              <a:t>Focus Area: Building a flexible risk framework driven entirely by Environmental and Operational indicators.</a:t>
            </a:r>
            <a:endParaRPr lang="en-US" sz="1700" spc="-80">
              <a:solidFill>
                <a:srgbClr val="FFFFFF"/>
              </a:solidFill>
              <a:latin typeface="Open Sauce"/>
              <a:ea typeface="Open Sauce"/>
              <a:cs typeface="Open Sauce"/>
            </a:endParaRPr>
          </a:p>
          <a:p>
            <a:pPr algn="l">
              <a:lnSpc>
                <a:spcPts val="2240"/>
              </a:lnSpc>
              <a:spcBef>
                <a:spcPct val="0"/>
              </a:spcBef>
            </a:pPr>
            <a:endParaRPr lang="en-US" sz="1600" spc="-80">
              <a:solidFill>
                <a:srgbClr val="FFFFFF"/>
              </a:solidFill>
              <a:latin typeface="Open Sauce"/>
              <a:ea typeface="Open Sauce"/>
              <a:cs typeface="Open Sauce"/>
              <a:sym typeface="Open Sauce"/>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067329" y="1100851"/>
            <a:ext cx="6109233" cy="5623129"/>
            <a:chOff x="0" y="0"/>
            <a:chExt cx="1591695" cy="1465045"/>
          </a:xfrm>
        </p:grpSpPr>
        <p:sp>
          <p:nvSpPr>
            <p:cNvPr id="3" name="Freeform 3"/>
            <p:cNvSpPr/>
            <p:nvPr/>
          </p:nvSpPr>
          <p:spPr>
            <a:xfrm>
              <a:off x="0" y="0"/>
              <a:ext cx="1591695" cy="1465045"/>
            </a:xfrm>
            <a:custGeom>
              <a:avLst/>
              <a:gdLst/>
              <a:ahLst/>
              <a:cxnLst/>
              <a:rect l="l" t="t" r="r" b="b"/>
              <a:pathLst>
                <a:path w="1591695" h="1465045">
                  <a:moveTo>
                    <a:pt x="25345" y="0"/>
                  </a:moveTo>
                  <a:lnTo>
                    <a:pt x="1566350" y="0"/>
                  </a:lnTo>
                  <a:cubicBezTo>
                    <a:pt x="1580347" y="0"/>
                    <a:pt x="1591695" y="11347"/>
                    <a:pt x="1591695" y="25345"/>
                  </a:cubicBezTo>
                  <a:lnTo>
                    <a:pt x="1591695" y="1439700"/>
                  </a:lnTo>
                  <a:cubicBezTo>
                    <a:pt x="1591695" y="1453698"/>
                    <a:pt x="1580347" y="1465045"/>
                    <a:pt x="1566350" y="1465045"/>
                  </a:cubicBezTo>
                  <a:lnTo>
                    <a:pt x="25345" y="1465045"/>
                  </a:lnTo>
                  <a:cubicBezTo>
                    <a:pt x="11347" y="1465045"/>
                    <a:pt x="0" y="1453698"/>
                    <a:pt x="0" y="1439700"/>
                  </a:cubicBezTo>
                  <a:lnTo>
                    <a:pt x="0" y="25345"/>
                  </a:lnTo>
                  <a:cubicBezTo>
                    <a:pt x="0" y="11347"/>
                    <a:pt x="11347" y="0"/>
                    <a:pt x="25345" y="0"/>
                  </a:cubicBezTo>
                  <a:close/>
                </a:path>
              </a:pathLst>
            </a:custGeom>
            <a:blipFill>
              <a:blip r:embed="rId3"/>
              <a:stretch>
                <a:fillRect t="-15670" b="-8559"/>
              </a:stretch>
            </a:blipFill>
          </p:spPr>
        </p:sp>
      </p:grpSp>
      <p:grpSp>
        <p:nvGrpSpPr>
          <p:cNvPr id="4" name="Group 4"/>
          <p:cNvGrpSpPr/>
          <p:nvPr/>
        </p:nvGrpSpPr>
        <p:grpSpPr>
          <a:xfrm>
            <a:off x="1028700" y="973800"/>
            <a:ext cx="1742162" cy="427869"/>
            <a:chOff x="0" y="0"/>
            <a:chExt cx="458841" cy="112690"/>
          </a:xfrm>
        </p:grpSpPr>
        <p:sp>
          <p:nvSpPr>
            <p:cNvPr id="5" name="Freeform 5"/>
            <p:cNvSpPr/>
            <p:nvPr/>
          </p:nvSpPr>
          <p:spPr>
            <a:xfrm>
              <a:off x="0" y="0"/>
              <a:ext cx="458841" cy="112690"/>
            </a:xfrm>
            <a:custGeom>
              <a:avLst/>
              <a:gdLst/>
              <a:ahLst/>
              <a:cxnLst/>
              <a:rect l="l" t="t" r="r" b="b"/>
              <a:pathLst>
                <a:path w="458841" h="112690">
                  <a:moveTo>
                    <a:pt x="56345" y="0"/>
                  </a:moveTo>
                  <a:lnTo>
                    <a:pt x="402496" y="0"/>
                  </a:lnTo>
                  <a:cubicBezTo>
                    <a:pt x="433614" y="0"/>
                    <a:pt x="458841" y="25226"/>
                    <a:pt x="458841" y="56345"/>
                  </a:cubicBezTo>
                  <a:lnTo>
                    <a:pt x="458841" y="56345"/>
                  </a:lnTo>
                  <a:cubicBezTo>
                    <a:pt x="458841" y="71288"/>
                    <a:pt x="452905" y="85620"/>
                    <a:pt x="442338" y="96187"/>
                  </a:cubicBezTo>
                  <a:cubicBezTo>
                    <a:pt x="431771" y="106753"/>
                    <a:pt x="417440" y="112690"/>
                    <a:pt x="402496" y="112690"/>
                  </a:cubicBezTo>
                  <a:lnTo>
                    <a:pt x="56345" y="112690"/>
                  </a:lnTo>
                  <a:cubicBezTo>
                    <a:pt x="25226" y="112690"/>
                    <a:pt x="0" y="87463"/>
                    <a:pt x="0" y="56345"/>
                  </a:cubicBezTo>
                  <a:lnTo>
                    <a:pt x="0" y="56345"/>
                  </a:lnTo>
                  <a:cubicBezTo>
                    <a:pt x="0" y="25226"/>
                    <a:pt x="25226" y="0"/>
                    <a:pt x="56345" y="0"/>
                  </a:cubicBezTo>
                  <a:close/>
                </a:path>
              </a:pathLst>
            </a:custGeom>
            <a:solidFill>
              <a:srgbClr val="B8C0BF"/>
            </a:solidFill>
          </p:spPr>
        </p:sp>
        <p:sp>
          <p:nvSpPr>
            <p:cNvPr id="6" name="TextBox 6"/>
            <p:cNvSpPr txBox="1"/>
            <p:nvPr/>
          </p:nvSpPr>
          <p:spPr>
            <a:xfrm>
              <a:off x="0" y="-28575"/>
              <a:ext cx="458841" cy="141265"/>
            </a:xfrm>
            <a:prstGeom prst="rect">
              <a:avLst/>
            </a:prstGeom>
          </p:spPr>
          <p:txBody>
            <a:bodyPr lIns="50800" tIns="50800" rIns="50800" bIns="50800" rtlCol="0" anchor="ctr"/>
            <a:lstStyle/>
            <a:p>
              <a:pPr algn="ctr">
                <a:lnSpc>
                  <a:spcPts val="2240"/>
                </a:lnSpc>
              </a:pPr>
              <a:endParaRPr/>
            </a:p>
          </p:txBody>
        </p:sp>
      </p:grpSp>
      <p:sp>
        <p:nvSpPr>
          <p:cNvPr id="7" name="Freeform 7"/>
          <p:cNvSpPr/>
          <p:nvPr/>
        </p:nvSpPr>
        <p:spPr>
          <a:xfrm>
            <a:off x="1263130" y="1100851"/>
            <a:ext cx="154386" cy="183001"/>
          </a:xfrm>
          <a:custGeom>
            <a:avLst/>
            <a:gdLst/>
            <a:ahLst/>
            <a:cxnLst/>
            <a:rect l="l" t="t" r="r" b="b"/>
            <a:pathLst>
              <a:path w="154386" h="183001">
                <a:moveTo>
                  <a:pt x="0" y="0"/>
                </a:moveTo>
                <a:lnTo>
                  <a:pt x="154386" y="0"/>
                </a:lnTo>
                <a:lnTo>
                  <a:pt x="154386" y="183001"/>
                </a:lnTo>
                <a:lnTo>
                  <a:pt x="0" y="183001"/>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8" name="Group 8"/>
          <p:cNvGrpSpPr/>
          <p:nvPr/>
        </p:nvGrpSpPr>
        <p:grpSpPr>
          <a:xfrm>
            <a:off x="1028700" y="5092158"/>
            <a:ext cx="7045609" cy="4716274"/>
            <a:chOff x="0" y="0"/>
            <a:chExt cx="1855634" cy="1242146"/>
          </a:xfrm>
        </p:grpSpPr>
        <p:sp>
          <p:nvSpPr>
            <p:cNvPr id="9" name="Freeform 9"/>
            <p:cNvSpPr/>
            <p:nvPr/>
          </p:nvSpPr>
          <p:spPr>
            <a:xfrm>
              <a:off x="0" y="0"/>
              <a:ext cx="1855634" cy="1242146"/>
            </a:xfrm>
            <a:custGeom>
              <a:avLst/>
              <a:gdLst/>
              <a:ahLst/>
              <a:cxnLst/>
              <a:rect l="l" t="t" r="r" b="b"/>
              <a:pathLst>
                <a:path w="1855634" h="1242146">
                  <a:moveTo>
                    <a:pt x="27471" y="0"/>
                  </a:moveTo>
                  <a:lnTo>
                    <a:pt x="1828163" y="0"/>
                  </a:lnTo>
                  <a:cubicBezTo>
                    <a:pt x="1835449" y="0"/>
                    <a:pt x="1842436" y="2894"/>
                    <a:pt x="1847588" y="8046"/>
                  </a:cubicBezTo>
                  <a:cubicBezTo>
                    <a:pt x="1852739" y="13198"/>
                    <a:pt x="1855634" y="20185"/>
                    <a:pt x="1855634" y="27471"/>
                  </a:cubicBezTo>
                  <a:lnTo>
                    <a:pt x="1855634" y="1214675"/>
                  </a:lnTo>
                  <a:cubicBezTo>
                    <a:pt x="1855634" y="1221961"/>
                    <a:pt x="1852739" y="1228948"/>
                    <a:pt x="1847588" y="1234100"/>
                  </a:cubicBezTo>
                  <a:cubicBezTo>
                    <a:pt x="1842436" y="1239252"/>
                    <a:pt x="1835449" y="1242146"/>
                    <a:pt x="1828163" y="1242146"/>
                  </a:cubicBezTo>
                  <a:lnTo>
                    <a:pt x="27471" y="1242146"/>
                  </a:lnTo>
                  <a:cubicBezTo>
                    <a:pt x="20185" y="1242146"/>
                    <a:pt x="13198" y="1239252"/>
                    <a:pt x="8046" y="1234100"/>
                  </a:cubicBezTo>
                  <a:cubicBezTo>
                    <a:pt x="2894" y="1228948"/>
                    <a:pt x="0" y="1221961"/>
                    <a:pt x="0" y="1214675"/>
                  </a:cubicBezTo>
                  <a:lnTo>
                    <a:pt x="0" y="27471"/>
                  </a:lnTo>
                  <a:cubicBezTo>
                    <a:pt x="0" y="20185"/>
                    <a:pt x="2894" y="13198"/>
                    <a:pt x="8046" y="8046"/>
                  </a:cubicBezTo>
                  <a:cubicBezTo>
                    <a:pt x="13198" y="2894"/>
                    <a:pt x="20185" y="0"/>
                    <a:pt x="27471" y="0"/>
                  </a:cubicBezTo>
                  <a:close/>
                </a:path>
              </a:pathLst>
            </a:custGeom>
            <a:solidFill>
              <a:srgbClr val="72838A"/>
            </a:solidFill>
          </p:spPr>
        </p:sp>
        <p:sp>
          <p:nvSpPr>
            <p:cNvPr id="10" name="TextBox 10"/>
            <p:cNvSpPr txBox="1"/>
            <p:nvPr/>
          </p:nvSpPr>
          <p:spPr>
            <a:xfrm>
              <a:off x="0" y="-28575"/>
              <a:ext cx="1855634" cy="1270721"/>
            </a:xfrm>
            <a:prstGeom prst="rect">
              <a:avLst/>
            </a:prstGeom>
          </p:spPr>
          <p:txBody>
            <a:bodyPr lIns="50800" tIns="50800" rIns="50800" bIns="50800" rtlCol="0" anchor="ctr"/>
            <a:lstStyle/>
            <a:p>
              <a:pPr algn="ctr">
                <a:lnSpc>
                  <a:spcPts val="1960"/>
                </a:lnSpc>
              </a:pPr>
              <a:endParaRPr/>
            </a:p>
          </p:txBody>
        </p:sp>
      </p:grpSp>
      <p:sp>
        <p:nvSpPr>
          <p:cNvPr id="11" name="TextBox 11"/>
          <p:cNvSpPr txBox="1"/>
          <p:nvPr/>
        </p:nvSpPr>
        <p:spPr>
          <a:xfrm>
            <a:off x="1028700" y="3095738"/>
            <a:ext cx="7045609" cy="1402366"/>
          </a:xfrm>
          <a:prstGeom prst="rect">
            <a:avLst/>
          </a:prstGeom>
        </p:spPr>
        <p:txBody>
          <a:bodyPr lIns="0" tIns="0" rIns="0" bIns="0" rtlCol="0" anchor="t">
            <a:spAutoFit/>
          </a:bodyPr>
          <a:lstStyle/>
          <a:p>
            <a:pPr algn="l">
              <a:lnSpc>
                <a:spcPts val="11429"/>
              </a:lnSpc>
              <a:spcBef>
                <a:spcPct val="0"/>
              </a:spcBef>
            </a:pPr>
            <a:r>
              <a:rPr lang="en-US" sz="8163" spc="-653">
                <a:solidFill>
                  <a:srgbClr val="4B3C3D"/>
                </a:solidFill>
                <a:latin typeface="Open Sauce"/>
                <a:ea typeface="Open Sauce"/>
                <a:cs typeface="Open Sauce"/>
                <a:sym typeface="Open Sauce"/>
              </a:rPr>
              <a:t>Problem framing</a:t>
            </a:r>
          </a:p>
        </p:txBody>
      </p:sp>
      <p:sp>
        <p:nvSpPr>
          <p:cNvPr id="12" name="TextBox 12"/>
          <p:cNvSpPr txBox="1"/>
          <p:nvPr/>
        </p:nvSpPr>
        <p:spPr>
          <a:xfrm>
            <a:off x="5475071" y="981075"/>
            <a:ext cx="2599238" cy="1456489"/>
          </a:xfrm>
          <a:prstGeom prst="rect">
            <a:avLst/>
          </a:prstGeom>
        </p:spPr>
        <p:txBody>
          <a:bodyPr lIns="0" tIns="0" rIns="0" bIns="0" rtlCol="0" anchor="t">
            <a:spAutoFit/>
          </a:bodyPr>
          <a:lstStyle/>
          <a:p>
            <a:pPr>
              <a:lnSpc>
                <a:spcPts val="2939"/>
              </a:lnSpc>
              <a:spcBef>
                <a:spcPct val="0"/>
              </a:spcBef>
            </a:pPr>
            <a:r>
              <a:rPr lang="en-US" sz="2050" b="1" i="1" spc="-104">
                <a:solidFill>
                  <a:srgbClr val="968C90"/>
                </a:solidFill>
                <a:latin typeface="Open Sauce Bold Italics"/>
                <a:ea typeface="Open Sauce Bold Italics"/>
                <a:cs typeface="Open Sauce Bold Italics"/>
                <a:sym typeface="Open Sauce Bold Italics"/>
              </a:rPr>
              <a:t>How can we define the vulnerabilities of a </a:t>
            </a:r>
            <a:r>
              <a:rPr lang="en-US" sz="2100" b="1" i="1" spc="-104">
                <a:solidFill>
                  <a:srgbClr val="968C90"/>
                </a:solidFill>
                <a:latin typeface="Open Sauce Bold Italics"/>
                <a:ea typeface="Open Sauce Bold Italics"/>
                <a:cs typeface="Open Sauce Bold Italics"/>
                <a:sym typeface="Open Sauce Bold Italics"/>
              </a:rPr>
              <a:t>Water distribution networks</a:t>
            </a:r>
            <a:r>
              <a:rPr lang="en-US" sz="2050" b="1" i="1" spc="-104">
                <a:solidFill>
                  <a:srgbClr val="968C90"/>
                </a:solidFill>
                <a:latin typeface="Open Sauce Bold Italics"/>
                <a:ea typeface="Open Sauce Bold Italics"/>
                <a:cs typeface="Open Sauce Bold Italics"/>
                <a:sym typeface="Open Sauce Bold Italics"/>
              </a:rPr>
              <a:t>? </a:t>
            </a:r>
          </a:p>
        </p:txBody>
      </p:sp>
      <p:sp>
        <p:nvSpPr>
          <p:cNvPr id="13" name="TextBox 13"/>
          <p:cNvSpPr txBox="1"/>
          <p:nvPr/>
        </p:nvSpPr>
        <p:spPr>
          <a:xfrm>
            <a:off x="1417516" y="1057731"/>
            <a:ext cx="1118915" cy="240665"/>
          </a:xfrm>
          <a:prstGeom prst="rect">
            <a:avLst/>
          </a:prstGeom>
        </p:spPr>
        <p:txBody>
          <a:bodyPr lIns="0" tIns="0" rIns="0" bIns="0" rtlCol="0" anchor="t">
            <a:spAutoFit/>
          </a:bodyPr>
          <a:lstStyle/>
          <a:p>
            <a:pPr algn="r">
              <a:lnSpc>
                <a:spcPts val="1960"/>
              </a:lnSpc>
              <a:spcBef>
                <a:spcPct val="0"/>
              </a:spcBef>
            </a:pPr>
            <a:r>
              <a:rPr lang="en-US" sz="1400" spc="-70">
                <a:solidFill>
                  <a:srgbClr val="4B3C3D"/>
                </a:solidFill>
                <a:latin typeface="Open Sauce"/>
                <a:ea typeface="Open Sauce"/>
                <a:cs typeface="Open Sauce"/>
                <a:sym typeface="Open Sauce"/>
              </a:rPr>
              <a:t>Context</a:t>
            </a:r>
          </a:p>
        </p:txBody>
      </p:sp>
      <p:grpSp>
        <p:nvGrpSpPr>
          <p:cNvPr id="14" name="Group 14"/>
          <p:cNvGrpSpPr/>
          <p:nvPr/>
        </p:nvGrpSpPr>
        <p:grpSpPr>
          <a:xfrm>
            <a:off x="15517138" y="409139"/>
            <a:ext cx="1659424" cy="358921"/>
            <a:chOff x="0" y="0"/>
            <a:chExt cx="437050" cy="94531"/>
          </a:xfrm>
        </p:grpSpPr>
        <p:sp>
          <p:nvSpPr>
            <p:cNvPr id="15" name="Freeform 15"/>
            <p:cNvSpPr/>
            <p:nvPr/>
          </p:nvSpPr>
          <p:spPr>
            <a:xfrm>
              <a:off x="0" y="0"/>
              <a:ext cx="437050" cy="94531"/>
            </a:xfrm>
            <a:custGeom>
              <a:avLst/>
              <a:gdLst/>
              <a:ahLst/>
              <a:cxnLst/>
              <a:rect l="l" t="t" r="r" b="b"/>
              <a:pathLst>
                <a:path w="437050" h="94531">
                  <a:moveTo>
                    <a:pt x="47265" y="0"/>
                  </a:moveTo>
                  <a:lnTo>
                    <a:pt x="389785" y="0"/>
                  </a:lnTo>
                  <a:cubicBezTo>
                    <a:pt x="415888" y="0"/>
                    <a:pt x="437050" y="21161"/>
                    <a:pt x="437050" y="47265"/>
                  </a:cubicBezTo>
                  <a:lnTo>
                    <a:pt x="437050" y="47265"/>
                  </a:lnTo>
                  <a:cubicBezTo>
                    <a:pt x="437050" y="73369"/>
                    <a:pt x="415888" y="94531"/>
                    <a:pt x="389785" y="94531"/>
                  </a:cubicBezTo>
                  <a:lnTo>
                    <a:pt x="47265" y="94531"/>
                  </a:lnTo>
                  <a:cubicBezTo>
                    <a:pt x="21161" y="94531"/>
                    <a:pt x="0" y="73369"/>
                    <a:pt x="0" y="47265"/>
                  </a:cubicBezTo>
                  <a:lnTo>
                    <a:pt x="0" y="47265"/>
                  </a:lnTo>
                  <a:cubicBezTo>
                    <a:pt x="0" y="21161"/>
                    <a:pt x="21161" y="0"/>
                    <a:pt x="47265" y="0"/>
                  </a:cubicBezTo>
                  <a:close/>
                </a:path>
              </a:pathLst>
            </a:custGeom>
            <a:solidFill>
              <a:srgbClr val="B8C0BF"/>
            </a:solidFill>
          </p:spPr>
        </p:sp>
        <p:sp>
          <p:nvSpPr>
            <p:cNvPr id="16" name="TextBox 16"/>
            <p:cNvSpPr txBox="1"/>
            <p:nvPr/>
          </p:nvSpPr>
          <p:spPr>
            <a:xfrm>
              <a:off x="0" y="-19050"/>
              <a:ext cx="437050" cy="113581"/>
            </a:xfrm>
            <a:prstGeom prst="rect">
              <a:avLst/>
            </a:prstGeom>
          </p:spPr>
          <p:txBody>
            <a:bodyPr lIns="50800" tIns="50800" rIns="50800" bIns="50800" rtlCol="0" anchor="ctr"/>
            <a:lstStyle/>
            <a:p>
              <a:pPr algn="ctr">
                <a:lnSpc>
                  <a:spcPts val="1680"/>
                </a:lnSpc>
              </a:pPr>
              <a:r>
                <a:rPr lang="en-US" sz="1200" spc="-60">
                  <a:solidFill>
                    <a:srgbClr val="000000"/>
                  </a:solidFill>
                  <a:latin typeface="Open Sauce"/>
                  <a:ea typeface="Open Sauce"/>
                  <a:cs typeface="Open Sauce"/>
                  <a:sym typeface="Open Sauce"/>
                </a:rPr>
                <a:t>Florence Province</a:t>
              </a:r>
            </a:p>
          </p:txBody>
        </p:sp>
      </p:grpSp>
      <p:sp>
        <p:nvSpPr>
          <p:cNvPr id="17" name="TextBox 17"/>
          <p:cNvSpPr txBox="1"/>
          <p:nvPr/>
        </p:nvSpPr>
        <p:spPr>
          <a:xfrm>
            <a:off x="1136367" y="5192995"/>
            <a:ext cx="3907329" cy="1675330"/>
          </a:xfrm>
          <a:prstGeom prst="rect">
            <a:avLst/>
          </a:prstGeom>
        </p:spPr>
        <p:txBody>
          <a:bodyPr lIns="0" tIns="0" rIns="0" bIns="0" rtlCol="0" anchor="t">
            <a:spAutoFit/>
          </a:bodyPr>
          <a:lstStyle/>
          <a:p>
            <a:pPr algn="just">
              <a:lnSpc>
                <a:spcPts val="2240"/>
              </a:lnSpc>
            </a:pPr>
            <a:r>
              <a:rPr lang="en-US" b="1" spc="-80">
                <a:solidFill>
                  <a:srgbClr val="FFFFFF"/>
                </a:solidFill>
                <a:latin typeface="Open Sauce Bold"/>
                <a:ea typeface="Open Sauce Bold"/>
                <a:cs typeface="Open Sauce Bold"/>
                <a:sym typeface="Open Sauce Bold"/>
              </a:rPr>
              <a:t>Shifting the Dimensions of Risk</a:t>
            </a:r>
            <a:endParaRPr lang="en-US" b="1" spc="-80" dirty="0">
              <a:solidFill>
                <a:srgbClr val="FFFFFF"/>
              </a:solidFill>
              <a:latin typeface="Open Sauce Bold"/>
              <a:ea typeface="Open Sauce Bold"/>
              <a:cs typeface="Open Sauce Bold"/>
            </a:endParaRPr>
          </a:p>
          <a:p>
            <a:pPr algn="l">
              <a:lnSpc>
                <a:spcPts val="2240"/>
              </a:lnSpc>
            </a:pPr>
            <a:endParaRPr lang="en-US" b="1" spc="-80" dirty="0">
              <a:solidFill>
                <a:srgbClr val="FFFFFF"/>
              </a:solidFill>
              <a:latin typeface="Open Sauce Bold"/>
              <a:ea typeface="Open Sauce Bold"/>
              <a:cs typeface="Open Sauce Bold"/>
            </a:endParaRPr>
          </a:p>
          <a:p>
            <a:pPr algn="l">
              <a:lnSpc>
                <a:spcPts val="2240"/>
              </a:lnSpc>
            </a:pPr>
            <a:r>
              <a:rPr lang="en-US" spc="-80" dirty="0">
                <a:solidFill>
                  <a:srgbClr val="FFFFFF"/>
                </a:solidFill>
                <a:latin typeface="Open Sauce"/>
                <a:ea typeface="Open Sauce"/>
                <a:cs typeface="Open Sauce"/>
                <a:sym typeface="Open Sauce"/>
              </a:rPr>
              <a:t>The Foundation (</a:t>
            </a:r>
            <a:r>
              <a:rPr lang="en-US" sz="1700" spc="-80" dirty="0" err="1">
                <a:solidFill>
                  <a:srgbClr val="FFFFFF"/>
                </a:solidFill>
                <a:latin typeface="Open Sauce"/>
                <a:ea typeface="Open Sauce"/>
                <a:cs typeface="Open Sauce"/>
                <a:sym typeface="Open Sauce"/>
              </a:rPr>
              <a:t>Sangroula</a:t>
            </a:r>
            <a:r>
              <a:rPr lang="en-US" spc="-80" dirty="0">
                <a:solidFill>
                  <a:srgbClr val="FFFFFF"/>
                </a:solidFill>
                <a:latin typeface="Open Sauce"/>
                <a:ea typeface="Open Sauce"/>
                <a:cs typeface="Open Sauce"/>
                <a:sym typeface="Open Sauce"/>
              </a:rPr>
              <a:t> et al., 2026)</a:t>
            </a:r>
            <a:endParaRPr lang="en-US" spc="-80" dirty="0">
              <a:solidFill>
                <a:srgbClr val="FFFFFF"/>
              </a:solidFill>
              <a:latin typeface="Open Sauce"/>
              <a:ea typeface="Open Sauce"/>
              <a:cs typeface="Open Sauce"/>
            </a:endParaRPr>
          </a:p>
          <a:p>
            <a:pPr marL="345440" lvl="1" indent="-172720" algn="l">
              <a:lnSpc>
                <a:spcPts val="2240"/>
              </a:lnSpc>
              <a:buAutoNum type="arabicPeriod"/>
            </a:pPr>
            <a:r>
              <a:rPr lang="en-US" spc="-80">
                <a:solidFill>
                  <a:srgbClr val="FFFFFF"/>
                </a:solidFill>
                <a:latin typeface="Open Sauce"/>
                <a:ea typeface="Open Sauce"/>
                <a:cs typeface="Open Sauce"/>
                <a:sym typeface="Open Sauce"/>
              </a:rPr>
              <a:t>Physical</a:t>
            </a:r>
            <a:endParaRPr lang="en-US" spc="-80" dirty="0">
              <a:solidFill>
                <a:srgbClr val="FFFFFF"/>
              </a:solidFill>
              <a:latin typeface="Open Sauce"/>
              <a:ea typeface="Open Sauce"/>
              <a:cs typeface="Open Sauce"/>
            </a:endParaRPr>
          </a:p>
          <a:p>
            <a:pPr marL="345440" lvl="1" indent="-172720" algn="l">
              <a:lnSpc>
                <a:spcPts val="2240"/>
              </a:lnSpc>
              <a:buAutoNum type="arabicPeriod"/>
            </a:pPr>
            <a:r>
              <a:rPr lang="en-US" spc="-80">
                <a:solidFill>
                  <a:srgbClr val="FFFFFF"/>
                </a:solidFill>
                <a:latin typeface="Open Sauce"/>
                <a:ea typeface="Open Sauce"/>
                <a:cs typeface="Open Sauce"/>
                <a:sym typeface="Open Sauce"/>
              </a:rPr>
              <a:t>Environmental</a:t>
            </a:r>
            <a:endParaRPr lang="en-US" spc="-80" dirty="0">
              <a:solidFill>
                <a:srgbClr val="FFFFFF"/>
              </a:solidFill>
              <a:latin typeface="Open Sauce"/>
              <a:ea typeface="Open Sauce"/>
              <a:cs typeface="Open Sauce"/>
            </a:endParaRPr>
          </a:p>
          <a:p>
            <a:pPr marL="345440" lvl="1" indent="-172720" algn="l">
              <a:lnSpc>
                <a:spcPts val="2240"/>
              </a:lnSpc>
              <a:buAutoNum type="arabicPeriod"/>
            </a:pPr>
            <a:r>
              <a:rPr lang="en-US" spc="-80">
                <a:solidFill>
                  <a:srgbClr val="FFFFFF"/>
                </a:solidFill>
                <a:latin typeface="Open Sauce"/>
                <a:ea typeface="Open Sauce"/>
                <a:cs typeface="Open Sauce"/>
                <a:sym typeface="Open Sauce"/>
              </a:rPr>
              <a:t>Operational</a:t>
            </a:r>
            <a:endParaRPr lang="en-US" spc="-80">
              <a:solidFill>
                <a:srgbClr val="FFFFFF"/>
              </a:solidFill>
              <a:latin typeface="Open Sauce"/>
              <a:ea typeface="Open Sauce"/>
              <a:cs typeface="Open Sauce"/>
            </a:endParaRPr>
          </a:p>
        </p:txBody>
      </p:sp>
      <p:sp>
        <p:nvSpPr>
          <p:cNvPr id="18" name="TextBox 18"/>
          <p:cNvSpPr txBox="1"/>
          <p:nvPr/>
        </p:nvSpPr>
        <p:spPr>
          <a:xfrm>
            <a:off x="3793669" y="6291484"/>
            <a:ext cx="4280639" cy="3362139"/>
          </a:xfrm>
          <a:prstGeom prst="rect">
            <a:avLst/>
          </a:prstGeom>
        </p:spPr>
        <p:txBody>
          <a:bodyPr lIns="0" tIns="0" rIns="0" bIns="0" rtlCol="0" anchor="t">
            <a:spAutoFit/>
          </a:bodyPr>
          <a:lstStyle/>
          <a:p>
            <a:pPr algn="l">
              <a:lnSpc>
                <a:spcPts val="2240"/>
              </a:lnSpc>
              <a:spcBef>
                <a:spcPct val="0"/>
              </a:spcBef>
            </a:pPr>
            <a:r>
              <a:rPr lang="en-US" sz="1700" b="1" spc="-80">
                <a:solidFill>
                  <a:srgbClr val="FFFFFF"/>
                </a:solidFill>
                <a:latin typeface="Open Sauce Bold"/>
                <a:ea typeface="Open Sauce Bold"/>
                <a:cs typeface="Open Sauce Bold"/>
                <a:sym typeface="Open Sauce Bold"/>
              </a:rPr>
              <a:t>Our Approach</a:t>
            </a:r>
            <a:endParaRPr lang="en-US" sz="1700" b="1" spc="-80">
              <a:solidFill>
                <a:srgbClr val="FFFFFF"/>
              </a:solidFill>
              <a:latin typeface="Open Sauce Bold"/>
              <a:ea typeface="Open Sauce Bold"/>
              <a:cs typeface="Open Sauce Bold"/>
            </a:endParaRPr>
          </a:p>
          <a:p>
            <a:pPr marL="345440" lvl="1" indent="-172720" algn="l">
              <a:lnSpc>
                <a:spcPts val="2240"/>
              </a:lnSpc>
              <a:spcBef>
                <a:spcPct val="0"/>
              </a:spcBef>
              <a:buFont typeface="Arial"/>
              <a:buChar char="•"/>
            </a:pPr>
            <a:r>
              <a:rPr lang="en-US" sz="1700" spc="-80">
                <a:solidFill>
                  <a:srgbClr val="FFFFFF"/>
                </a:solidFill>
                <a:latin typeface="Open Sauce"/>
                <a:ea typeface="Open Sauce"/>
                <a:cs typeface="Open Sauce"/>
                <a:sym typeface="Open Sauce"/>
              </a:rPr>
              <a:t>The Challenge: Missing or inaccessible structural physical pipeline data.</a:t>
            </a:r>
            <a:endParaRPr lang="en-US" sz="1700" spc="-80" dirty="0">
              <a:solidFill>
                <a:srgbClr val="FFFFFF"/>
              </a:solidFill>
              <a:latin typeface="Open Sauce"/>
              <a:ea typeface="Open Sauce"/>
              <a:cs typeface="Open Sauce"/>
            </a:endParaRPr>
          </a:p>
          <a:p>
            <a:pPr algn="l">
              <a:lnSpc>
                <a:spcPts val="2240"/>
              </a:lnSpc>
              <a:spcBef>
                <a:spcPct val="0"/>
              </a:spcBef>
            </a:pPr>
            <a:endParaRPr lang="en-US" sz="1700" spc="-80" dirty="0">
              <a:solidFill>
                <a:srgbClr val="FFFFFF"/>
              </a:solidFill>
              <a:latin typeface="Open Sauce"/>
              <a:ea typeface="Open Sauce"/>
              <a:cs typeface="Open Sauce"/>
            </a:endParaRPr>
          </a:p>
          <a:p>
            <a:pPr marL="345440" lvl="1" indent="-172720" algn="l">
              <a:lnSpc>
                <a:spcPts val="2240"/>
              </a:lnSpc>
              <a:spcBef>
                <a:spcPct val="0"/>
              </a:spcBef>
              <a:buFont typeface="Arial"/>
              <a:buChar char="•"/>
            </a:pPr>
            <a:r>
              <a:rPr lang="en-US" sz="1700" spc="-80">
                <a:solidFill>
                  <a:srgbClr val="FFFFFF"/>
                </a:solidFill>
                <a:latin typeface="Open Sauce"/>
                <a:ea typeface="Open Sauce"/>
                <a:cs typeface="Open Sauce"/>
                <a:sym typeface="Open Sauce"/>
              </a:rPr>
              <a:t>The Solution: Pivot the problem structure to exploit the vast availability of Open Data in the remaining two dimensions.</a:t>
            </a:r>
            <a:endParaRPr lang="en-US" sz="1700" spc="-80" dirty="0">
              <a:solidFill>
                <a:srgbClr val="FFFFFF"/>
              </a:solidFill>
              <a:latin typeface="Open Sauce"/>
              <a:ea typeface="Open Sauce"/>
              <a:cs typeface="Open Sauce"/>
            </a:endParaRPr>
          </a:p>
          <a:p>
            <a:pPr algn="l">
              <a:lnSpc>
                <a:spcPts val="2240"/>
              </a:lnSpc>
              <a:spcBef>
                <a:spcPct val="0"/>
              </a:spcBef>
            </a:pPr>
            <a:endParaRPr lang="en-US" sz="1700" spc="-80" dirty="0">
              <a:solidFill>
                <a:srgbClr val="FFFFFF"/>
              </a:solidFill>
              <a:latin typeface="Open Sauce"/>
              <a:ea typeface="Open Sauce"/>
              <a:cs typeface="Open Sauce"/>
            </a:endParaRPr>
          </a:p>
          <a:p>
            <a:pPr marL="345440" lvl="1" indent="-172720" algn="l">
              <a:lnSpc>
                <a:spcPts val="2240"/>
              </a:lnSpc>
              <a:spcBef>
                <a:spcPct val="0"/>
              </a:spcBef>
              <a:buFont typeface="Arial"/>
              <a:buChar char="•"/>
            </a:pPr>
            <a:r>
              <a:rPr lang="en-US" sz="1700" spc="-80">
                <a:solidFill>
                  <a:srgbClr val="FFFFFF"/>
                </a:solidFill>
                <a:latin typeface="Open Sauce"/>
                <a:ea typeface="Open Sauce"/>
                <a:cs typeface="Open Sauce"/>
                <a:sym typeface="Open Sauce"/>
              </a:rPr>
              <a:t>Focus Area: Building a flexible risk framework driven entirely by Environmental and Operational indicators.</a:t>
            </a:r>
            <a:endParaRPr lang="en-US" sz="1700" spc="-80">
              <a:solidFill>
                <a:srgbClr val="FFFFFF"/>
              </a:solidFill>
              <a:latin typeface="Open Sauce"/>
              <a:ea typeface="Open Sauce"/>
              <a:cs typeface="Open Sauce"/>
            </a:endParaRPr>
          </a:p>
          <a:p>
            <a:pPr algn="l">
              <a:lnSpc>
                <a:spcPts val="2240"/>
              </a:lnSpc>
              <a:spcBef>
                <a:spcPct val="0"/>
              </a:spcBef>
            </a:pPr>
            <a:endParaRPr lang="en-US" sz="1600" spc="-80">
              <a:solidFill>
                <a:srgbClr val="FFFFFF"/>
              </a:solidFill>
              <a:latin typeface="Open Sauce"/>
              <a:ea typeface="Open Sauce"/>
              <a:cs typeface="Open Sauce"/>
              <a:sym typeface="Open Sauce"/>
            </a:endParaRPr>
          </a:p>
        </p:txBody>
      </p:sp>
      <p:grpSp>
        <p:nvGrpSpPr>
          <p:cNvPr id="19" name="Group 19"/>
          <p:cNvGrpSpPr/>
          <p:nvPr/>
        </p:nvGrpSpPr>
        <p:grpSpPr>
          <a:xfrm>
            <a:off x="11067329" y="6838280"/>
            <a:ext cx="6109233" cy="2970137"/>
            <a:chOff x="0" y="0"/>
            <a:chExt cx="1609016" cy="782258"/>
          </a:xfrm>
        </p:grpSpPr>
        <p:sp>
          <p:nvSpPr>
            <p:cNvPr id="20" name="Freeform 20"/>
            <p:cNvSpPr/>
            <p:nvPr/>
          </p:nvSpPr>
          <p:spPr>
            <a:xfrm>
              <a:off x="0" y="0"/>
              <a:ext cx="1609016" cy="782258"/>
            </a:xfrm>
            <a:custGeom>
              <a:avLst/>
              <a:gdLst/>
              <a:ahLst/>
              <a:cxnLst/>
              <a:rect l="l" t="t" r="r" b="b"/>
              <a:pathLst>
                <a:path w="1609016" h="782258">
                  <a:moveTo>
                    <a:pt x="31681" y="0"/>
                  </a:moveTo>
                  <a:lnTo>
                    <a:pt x="1577335" y="0"/>
                  </a:lnTo>
                  <a:cubicBezTo>
                    <a:pt x="1594832" y="0"/>
                    <a:pt x="1609016" y="14184"/>
                    <a:pt x="1609016" y="31681"/>
                  </a:cubicBezTo>
                  <a:lnTo>
                    <a:pt x="1609016" y="750577"/>
                  </a:lnTo>
                  <a:cubicBezTo>
                    <a:pt x="1609016" y="768074"/>
                    <a:pt x="1594832" y="782258"/>
                    <a:pt x="1577335" y="782258"/>
                  </a:cubicBezTo>
                  <a:lnTo>
                    <a:pt x="31681" y="782258"/>
                  </a:lnTo>
                  <a:cubicBezTo>
                    <a:pt x="14184" y="782258"/>
                    <a:pt x="0" y="768074"/>
                    <a:pt x="0" y="750577"/>
                  </a:cubicBezTo>
                  <a:lnTo>
                    <a:pt x="0" y="31681"/>
                  </a:lnTo>
                  <a:cubicBezTo>
                    <a:pt x="0" y="14184"/>
                    <a:pt x="14184" y="0"/>
                    <a:pt x="31681" y="0"/>
                  </a:cubicBezTo>
                  <a:close/>
                </a:path>
              </a:pathLst>
            </a:custGeom>
            <a:solidFill>
              <a:srgbClr val="72838A"/>
            </a:solidFill>
          </p:spPr>
        </p:sp>
        <p:sp>
          <p:nvSpPr>
            <p:cNvPr id="21" name="TextBox 21"/>
            <p:cNvSpPr txBox="1"/>
            <p:nvPr/>
          </p:nvSpPr>
          <p:spPr>
            <a:xfrm>
              <a:off x="0" y="-28575"/>
              <a:ext cx="1609016" cy="810833"/>
            </a:xfrm>
            <a:prstGeom prst="rect">
              <a:avLst/>
            </a:prstGeom>
          </p:spPr>
          <p:txBody>
            <a:bodyPr lIns="50800" tIns="50800" rIns="50800" bIns="50800" rtlCol="0" anchor="ctr"/>
            <a:lstStyle/>
            <a:p>
              <a:pPr algn="ctr">
                <a:lnSpc>
                  <a:spcPts val="1960"/>
                </a:lnSpc>
              </a:pPr>
              <a:endParaRPr/>
            </a:p>
          </p:txBody>
        </p:sp>
      </p:grpSp>
      <p:sp>
        <p:nvSpPr>
          <p:cNvPr id="22" name="TextBox 22"/>
          <p:cNvSpPr txBox="1"/>
          <p:nvPr/>
        </p:nvSpPr>
        <p:spPr>
          <a:xfrm>
            <a:off x="11150067" y="6988246"/>
            <a:ext cx="6109233" cy="264160"/>
          </a:xfrm>
          <a:prstGeom prst="rect">
            <a:avLst/>
          </a:prstGeom>
        </p:spPr>
        <p:txBody>
          <a:bodyPr lIns="0" tIns="0" rIns="0" bIns="0" rtlCol="0" anchor="t">
            <a:spAutoFit/>
          </a:bodyPr>
          <a:lstStyle/>
          <a:p>
            <a:pPr algn="ctr">
              <a:lnSpc>
                <a:spcPts val="2240"/>
              </a:lnSpc>
              <a:spcBef>
                <a:spcPct val="0"/>
              </a:spcBef>
            </a:pPr>
            <a:r>
              <a:rPr lang="en-US" b="1" spc="-80">
                <a:solidFill>
                  <a:srgbClr val="FFFFFF"/>
                </a:solidFill>
                <a:latin typeface="Open Sauce Bold"/>
                <a:ea typeface="Open Sauce Bold"/>
                <a:cs typeface="Open Sauce Bold"/>
                <a:sym typeface="Open Sauce Bold"/>
              </a:rPr>
              <a:t>Case study &amp; geospatial scope</a:t>
            </a:r>
            <a:endParaRPr lang="en-US" b="1" spc="-80">
              <a:solidFill>
                <a:srgbClr val="FFFFFF"/>
              </a:solidFill>
              <a:latin typeface="Open Sauce Bold"/>
              <a:ea typeface="Open Sauce Bold"/>
              <a:cs typeface="Open Sauce Bold"/>
            </a:endParaRPr>
          </a:p>
        </p:txBody>
      </p:sp>
      <p:sp>
        <p:nvSpPr>
          <p:cNvPr id="23" name="TextBox 23"/>
          <p:cNvSpPr txBox="1"/>
          <p:nvPr/>
        </p:nvSpPr>
        <p:spPr>
          <a:xfrm>
            <a:off x="11067329" y="7334472"/>
            <a:ext cx="2818934" cy="2543068"/>
          </a:xfrm>
          <a:prstGeom prst="rect">
            <a:avLst/>
          </a:prstGeom>
        </p:spPr>
        <p:txBody>
          <a:bodyPr lIns="0" tIns="0" rIns="0" bIns="0" rtlCol="0" anchor="t">
            <a:spAutoFit/>
          </a:bodyPr>
          <a:lstStyle/>
          <a:p>
            <a:pPr marL="309880" lvl="1" indent="-154940" algn="l">
              <a:lnSpc>
                <a:spcPts val="2012"/>
              </a:lnSpc>
              <a:buFont typeface="Arial"/>
              <a:buChar char="•"/>
            </a:pPr>
            <a:r>
              <a:rPr lang="en-US" sz="1600" spc="-71" dirty="0">
                <a:solidFill>
                  <a:srgbClr val="FFFFFF"/>
                </a:solidFill>
                <a:latin typeface="Open Sauce"/>
                <a:ea typeface="Open Sauce"/>
                <a:cs typeface="Open Sauce"/>
                <a:sym typeface="Open Sauce"/>
              </a:rPr>
              <a:t>Province of Florence (Firenze) initial phase.</a:t>
            </a:r>
            <a:endParaRPr lang="en-US" sz="1600" spc="-71" dirty="0">
              <a:solidFill>
                <a:srgbClr val="FFFFFF"/>
              </a:solidFill>
              <a:latin typeface="Open Sauce"/>
              <a:ea typeface="Open Sauce"/>
              <a:cs typeface="Open Sauce"/>
            </a:endParaRPr>
          </a:p>
          <a:p>
            <a:pPr algn="l">
              <a:lnSpc>
                <a:spcPts val="2012"/>
              </a:lnSpc>
            </a:pPr>
            <a:endParaRPr lang="en-US" sz="1600" spc="-71" dirty="0">
              <a:solidFill>
                <a:srgbClr val="FFFFFF"/>
              </a:solidFill>
              <a:latin typeface="Open Sauce"/>
              <a:ea typeface="Open Sauce"/>
              <a:cs typeface="Open Sauce"/>
            </a:endParaRPr>
          </a:p>
          <a:p>
            <a:pPr marL="309880" lvl="1" indent="-154940" algn="l">
              <a:lnSpc>
                <a:spcPts val="2012"/>
              </a:lnSpc>
              <a:buFont typeface="Arial"/>
              <a:buChar char="•"/>
            </a:pPr>
            <a:r>
              <a:rPr lang="en-US" sz="1600" spc="-71">
                <a:solidFill>
                  <a:srgbClr val="FFFFFF"/>
                </a:solidFill>
                <a:latin typeface="Open Sauce"/>
                <a:ea typeface="Open Sauce"/>
                <a:cs typeface="Open Sauce"/>
                <a:sym typeface="Open Sauce"/>
              </a:rPr>
              <a:t>Initial scope manageable and controlled.</a:t>
            </a:r>
            <a:endParaRPr lang="en-US" sz="1600" spc="-71" dirty="0">
              <a:solidFill>
                <a:srgbClr val="FFFFFF"/>
              </a:solidFill>
              <a:latin typeface="Open Sauce"/>
              <a:ea typeface="Open Sauce"/>
              <a:cs typeface="Open Sauce"/>
            </a:endParaRPr>
          </a:p>
          <a:p>
            <a:pPr algn="l">
              <a:lnSpc>
                <a:spcPts val="2012"/>
              </a:lnSpc>
            </a:pPr>
            <a:endParaRPr lang="en-US" sz="1600" spc="-71" dirty="0">
              <a:solidFill>
                <a:srgbClr val="FFFFFF"/>
              </a:solidFill>
              <a:latin typeface="Open Sauce"/>
              <a:ea typeface="Open Sauce"/>
              <a:cs typeface="Open Sauce"/>
            </a:endParaRPr>
          </a:p>
          <a:p>
            <a:pPr marL="309880" lvl="1" indent="-154940" algn="l">
              <a:lnSpc>
                <a:spcPts val="2012"/>
              </a:lnSpc>
              <a:buFont typeface="Arial"/>
              <a:buChar char="•"/>
            </a:pPr>
            <a:r>
              <a:rPr lang="en-US" sz="1600" spc="-71" dirty="0">
                <a:solidFill>
                  <a:srgbClr val="FFFFFF"/>
                </a:solidFill>
                <a:latin typeface="Open Sauce"/>
                <a:ea typeface="Open Sauce"/>
                <a:cs typeface="Open Sauce"/>
                <a:sym typeface="Open Sauce"/>
              </a:rPr>
              <a:t>Designed to scale the methodology across the Italian territory.</a:t>
            </a:r>
            <a:endParaRPr lang="en-US" sz="1600" spc="-71" dirty="0">
              <a:solidFill>
                <a:srgbClr val="FFFFFF"/>
              </a:solidFill>
              <a:latin typeface="Open Sauce"/>
              <a:ea typeface="Open Sauce"/>
              <a:cs typeface="Open Sauce"/>
            </a:endParaRPr>
          </a:p>
          <a:p>
            <a:pPr algn="l">
              <a:lnSpc>
                <a:spcPts val="2012"/>
              </a:lnSpc>
              <a:spcBef>
                <a:spcPct val="0"/>
              </a:spcBef>
            </a:pPr>
            <a:endParaRPr lang="en-US" sz="1437" spc="-71">
              <a:solidFill>
                <a:srgbClr val="FFFFFF"/>
              </a:solidFill>
              <a:latin typeface="Open Sauce"/>
              <a:ea typeface="Open Sauce"/>
              <a:cs typeface="Open Sauce"/>
              <a:sym typeface="Open Sauce"/>
            </a:endParaRPr>
          </a:p>
        </p:txBody>
      </p:sp>
      <p:sp>
        <p:nvSpPr>
          <p:cNvPr id="24" name="TextBox 24"/>
          <p:cNvSpPr txBox="1"/>
          <p:nvPr/>
        </p:nvSpPr>
        <p:spPr>
          <a:xfrm>
            <a:off x="13948471" y="7324947"/>
            <a:ext cx="3137334" cy="2515753"/>
          </a:xfrm>
          <a:prstGeom prst="rect">
            <a:avLst/>
          </a:prstGeom>
        </p:spPr>
        <p:txBody>
          <a:bodyPr lIns="0" tIns="0" rIns="0" bIns="0" rtlCol="0" anchor="t">
            <a:spAutoFit/>
          </a:bodyPr>
          <a:lstStyle/>
          <a:p>
            <a:pPr marL="344805" lvl="1" indent="-172085" algn="l">
              <a:lnSpc>
                <a:spcPts val="2239"/>
              </a:lnSpc>
              <a:buFont typeface="Arial"/>
              <a:buChar char="•"/>
            </a:pPr>
            <a:r>
              <a:rPr lang="en-US" sz="1600" spc="-79">
                <a:solidFill>
                  <a:srgbClr val="FFFFFF"/>
                </a:solidFill>
                <a:latin typeface="Open Sauce"/>
                <a:ea typeface="Open Sauce"/>
                <a:cs typeface="Open Sauce"/>
                <a:sym typeface="Open Sauce"/>
              </a:rPr>
              <a:t>Standardized Uber H3 grid</a:t>
            </a:r>
            <a:endParaRPr lang="en-US" sz="1600" spc="-79" dirty="0">
              <a:solidFill>
                <a:srgbClr val="FFFFFF"/>
              </a:solidFill>
              <a:latin typeface="Open Sauce"/>
              <a:ea typeface="Open Sauce"/>
              <a:cs typeface="Open Sauce"/>
            </a:endParaRPr>
          </a:p>
          <a:p>
            <a:pPr algn="l">
              <a:lnSpc>
                <a:spcPts val="2239"/>
              </a:lnSpc>
            </a:pPr>
            <a:endParaRPr lang="en-US" sz="1600" spc="-79" dirty="0">
              <a:solidFill>
                <a:srgbClr val="FFFFFF"/>
              </a:solidFill>
              <a:latin typeface="Open Sauce"/>
              <a:ea typeface="Open Sauce"/>
              <a:cs typeface="Open Sauce"/>
            </a:endParaRPr>
          </a:p>
          <a:p>
            <a:pPr algn="l">
              <a:lnSpc>
                <a:spcPts val="2239"/>
              </a:lnSpc>
            </a:pPr>
            <a:endParaRPr lang="en-US" sz="1600" spc="-79" dirty="0">
              <a:solidFill>
                <a:srgbClr val="FFFFFF"/>
              </a:solidFill>
              <a:latin typeface="Open Sauce"/>
              <a:ea typeface="Open Sauce"/>
              <a:cs typeface="Open Sauce"/>
            </a:endParaRPr>
          </a:p>
          <a:p>
            <a:pPr marL="344805" lvl="1" indent="-172085" algn="l">
              <a:lnSpc>
                <a:spcPts val="2239"/>
              </a:lnSpc>
              <a:buFont typeface="Arial"/>
              <a:buChar char="•"/>
            </a:pPr>
            <a:r>
              <a:rPr lang="en-US" sz="1600" spc="-79">
                <a:solidFill>
                  <a:srgbClr val="FFFFFF"/>
                </a:solidFill>
                <a:latin typeface="Open Sauce"/>
                <a:ea typeface="Open Sauce"/>
                <a:cs typeface="Open Sauce"/>
                <a:sym typeface="Open Sauce"/>
              </a:rPr>
              <a:t>Instead of mapping specific points we map zones</a:t>
            </a:r>
            <a:endParaRPr lang="en-US" sz="1600" spc="-79" dirty="0">
              <a:solidFill>
                <a:srgbClr val="FFFFFF"/>
              </a:solidFill>
              <a:latin typeface="Open Sauce"/>
              <a:ea typeface="Open Sauce"/>
              <a:cs typeface="Open Sauce"/>
            </a:endParaRPr>
          </a:p>
          <a:p>
            <a:pPr algn="l">
              <a:lnSpc>
                <a:spcPts val="2239"/>
              </a:lnSpc>
            </a:pPr>
            <a:endParaRPr lang="en-US" sz="1600" spc="-79" dirty="0">
              <a:solidFill>
                <a:srgbClr val="FFFFFF"/>
              </a:solidFill>
              <a:latin typeface="Open Sauce"/>
              <a:ea typeface="Open Sauce"/>
              <a:cs typeface="Open Sauce"/>
            </a:endParaRPr>
          </a:p>
          <a:p>
            <a:pPr marL="344805" lvl="1" indent="-172085" algn="l">
              <a:lnSpc>
                <a:spcPts val="2239"/>
              </a:lnSpc>
              <a:buFont typeface="Arial"/>
              <a:buChar char="•"/>
            </a:pPr>
            <a:r>
              <a:rPr lang="en-US" sz="1600" spc="-79">
                <a:solidFill>
                  <a:srgbClr val="FFFFFF"/>
                </a:solidFill>
                <a:latin typeface="Open Sauce"/>
                <a:ea typeface="Open Sauce"/>
                <a:cs typeface="Open Sauce"/>
                <a:sym typeface="Open Sauce"/>
              </a:rPr>
              <a:t>If a pipeline is inside the zone, how hazardous would it be?</a:t>
            </a:r>
            <a:endParaRPr lang="en-US" sz="1600" spc="-79">
              <a:solidFill>
                <a:srgbClr val="FFFFFF"/>
              </a:solidFill>
              <a:latin typeface="Open Sauce"/>
              <a:ea typeface="Open Sauce"/>
              <a:cs typeface="Open Sauce"/>
            </a:endParaRPr>
          </a:p>
          <a:p>
            <a:pPr algn="l">
              <a:lnSpc>
                <a:spcPts val="2239"/>
              </a:lnSpc>
              <a:spcBef>
                <a:spcPct val="0"/>
              </a:spcBef>
            </a:pPr>
            <a:endParaRPr lang="en-US" sz="1599" spc="-79">
              <a:solidFill>
                <a:srgbClr val="FFFFFF"/>
              </a:solidFill>
              <a:latin typeface="Open Sauce"/>
              <a:ea typeface="Open Sauce"/>
              <a:cs typeface="Open Sauce"/>
              <a:sym typeface="Open Sauce"/>
            </a:endParaRPr>
          </a:p>
        </p:txBody>
      </p:sp>
      <p:pic>
        <p:nvPicPr>
          <p:cNvPr id="26" name="Picture 25" descr="Province of Florence - Simple English Wikipedia, the free encyclopedia">
            <a:extLst>
              <a:ext uri="{FF2B5EF4-FFF2-40B4-BE49-F238E27FC236}">
                <a16:creationId xmlns:a16="http://schemas.microsoft.com/office/drawing/2014/main" id="{A466EA16-6A7D-3260-3004-9264C56FCB7A}"/>
              </a:ext>
            </a:extLst>
          </p:cNvPr>
          <p:cNvPicPr>
            <a:picLocks noChangeAspect="1"/>
          </p:cNvPicPr>
          <p:nvPr/>
        </p:nvPicPr>
        <p:blipFill>
          <a:blip r:embed="rId5"/>
          <a:stretch>
            <a:fillRect/>
          </a:stretch>
        </p:blipFill>
        <p:spPr>
          <a:xfrm>
            <a:off x="11153775" y="762000"/>
            <a:ext cx="2038350" cy="2490788"/>
          </a:xfrm>
          <a:prstGeom prst="rect">
            <a:avLst/>
          </a:prstGeom>
        </p:spPr>
      </p:pic>
      <p:cxnSp>
        <p:nvCxnSpPr>
          <p:cNvPr id="28" name="Straight Arrow Connector 27">
            <a:extLst>
              <a:ext uri="{FF2B5EF4-FFF2-40B4-BE49-F238E27FC236}">
                <a16:creationId xmlns:a16="http://schemas.microsoft.com/office/drawing/2014/main" id="{1EFFB85E-4550-4AA8-2EA9-75D0217EBD11}"/>
              </a:ext>
            </a:extLst>
          </p:cNvPr>
          <p:cNvCxnSpPr/>
          <p:nvPr/>
        </p:nvCxnSpPr>
        <p:spPr>
          <a:xfrm flipH="1">
            <a:off x="11108531" y="1607344"/>
            <a:ext cx="839390" cy="2607468"/>
          </a:xfrm>
          <a:prstGeom prst="straightConnector1">
            <a:avLst/>
          </a:prstGeom>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6039E7AA-6747-5796-74E4-C26464520E40}"/>
              </a:ext>
            </a:extLst>
          </p:cNvPr>
          <p:cNvCxnSpPr/>
          <p:nvPr/>
        </p:nvCxnSpPr>
        <p:spPr>
          <a:xfrm flipV="1">
            <a:off x="12055078" y="1250156"/>
            <a:ext cx="1589484" cy="285750"/>
          </a:xfrm>
          <a:prstGeom prst="straightConnector1">
            <a:avLst/>
          </a:prstGeom>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6517392"/>
            <a:ext cx="7284692" cy="2740908"/>
            <a:chOff x="0" y="0"/>
            <a:chExt cx="2020887" cy="760371"/>
          </a:xfrm>
        </p:grpSpPr>
        <p:sp>
          <p:nvSpPr>
            <p:cNvPr id="3" name="Freeform 3"/>
            <p:cNvSpPr/>
            <p:nvPr/>
          </p:nvSpPr>
          <p:spPr>
            <a:xfrm>
              <a:off x="0" y="0"/>
              <a:ext cx="2020887" cy="760371"/>
            </a:xfrm>
            <a:custGeom>
              <a:avLst/>
              <a:gdLst/>
              <a:ahLst/>
              <a:cxnLst/>
              <a:rect l="l" t="t" r="r" b="b"/>
              <a:pathLst>
                <a:path w="2020887" h="760371">
                  <a:moveTo>
                    <a:pt x="21255" y="0"/>
                  </a:moveTo>
                  <a:lnTo>
                    <a:pt x="1999632" y="0"/>
                  </a:lnTo>
                  <a:cubicBezTo>
                    <a:pt x="2005269" y="0"/>
                    <a:pt x="2010676" y="2239"/>
                    <a:pt x="2014662" y="6226"/>
                  </a:cubicBezTo>
                  <a:cubicBezTo>
                    <a:pt x="2018648" y="10212"/>
                    <a:pt x="2020887" y="15618"/>
                    <a:pt x="2020887" y="21255"/>
                  </a:cubicBezTo>
                  <a:lnTo>
                    <a:pt x="2020887" y="739115"/>
                  </a:lnTo>
                  <a:cubicBezTo>
                    <a:pt x="2020887" y="744753"/>
                    <a:pt x="2018648" y="750159"/>
                    <a:pt x="2014662" y="754145"/>
                  </a:cubicBezTo>
                  <a:cubicBezTo>
                    <a:pt x="2010676" y="758131"/>
                    <a:pt x="2005269" y="760371"/>
                    <a:pt x="1999632" y="760371"/>
                  </a:cubicBezTo>
                  <a:lnTo>
                    <a:pt x="21255" y="760371"/>
                  </a:lnTo>
                  <a:cubicBezTo>
                    <a:pt x="15618" y="760371"/>
                    <a:pt x="10212" y="758131"/>
                    <a:pt x="6226" y="754145"/>
                  </a:cubicBezTo>
                  <a:cubicBezTo>
                    <a:pt x="2239" y="750159"/>
                    <a:pt x="0" y="744753"/>
                    <a:pt x="0" y="739115"/>
                  </a:cubicBezTo>
                  <a:lnTo>
                    <a:pt x="0" y="21255"/>
                  </a:lnTo>
                  <a:cubicBezTo>
                    <a:pt x="0" y="15618"/>
                    <a:pt x="2239" y="10212"/>
                    <a:pt x="6226" y="6226"/>
                  </a:cubicBezTo>
                  <a:cubicBezTo>
                    <a:pt x="10212" y="2239"/>
                    <a:pt x="15618" y="0"/>
                    <a:pt x="21255" y="0"/>
                  </a:cubicBezTo>
                  <a:close/>
                </a:path>
              </a:pathLst>
            </a:custGeom>
            <a:blipFill>
              <a:blip r:embed="rId2"/>
              <a:stretch>
                <a:fillRect t="-38431" b="-38431"/>
              </a:stretch>
            </a:blipFill>
          </p:spPr>
        </p:sp>
      </p:grpSp>
      <p:sp>
        <p:nvSpPr>
          <p:cNvPr id="4" name="TextBox 4"/>
          <p:cNvSpPr txBox="1"/>
          <p:nvPr/>
        </p:nvSpPr>
        <p:spPr>
          <a:xfrm>
            <a:off x="1028700" y="725955"/>
            <a:ext cx="7422661" cy="2286000"/>
          </a:xfrm>
          <a:prstGeom prst="rect">
            <a:avLst/>
          </a:prstGeom>
        </p:spPr>
        <p:txBody>
          <a:bodyPr lIns="0" tIns="0" rIns="0" bIns="0" rtlCol="0" anchor="t">
            <a:spAutoFit/>
          </a:bodyPr>
          <a:lstStyle/>
          <a:p>
            <a:pPr algn="l">
              <a:lnSpc>
                <a:spcPts val="9027"/>
              </a:lnSpc>
            </a:pPr>
            <a:r>
              <a:rPr lang="en-US" sz="7522" spc="-601">
                <a:solidFill>
                  <a:srgbClr val="4B3C3D"/>
                </a:solidFill>
                <a:latin typeface="Open Sauce"/>
                <a:ea typeface="Open Sauce"/>
                <a:cs typeface="Open Sauce"/>
                <a:sym typeface="Open Sauce"/>
              </a:rPr>
              <a:t>Research question &amp; objectives</a:t>
            </a:r>
          </a:p>
        </p:txBody>
      </p:sp>
      <p:grpSp>
        <p:nvGrpSpPr>
          <p:cNvPr id="5" name="Group 5"/>
          <p:cNvGrpSpPr/>
          <p:nvPr/>
        </p:nvGrpSpPr>
        <p:grpSpPr>
          <a:xfrm>
            <a:off x="1028700" y="3165795"/>
            <a:ext cx="7284692" cy="3197756"/>
            <a:chOff x="0" y="0"/>
            <a:chExt cx="1918602" cy="842207"/>
          </a:xfrm>
        </p:grpSpPr>
        <p:sp>
          <p:nvSpPr>
            <p:cNvPr id="6" name="Freeform 6"/>
            <p:cNvSpPr/>
            <p:nvPr/>
          </p:nvSpPr>
          <p:spPr>
            <a:xfrm>
              <a:off x="0" y="0"/>
              <a:ext cx="1918602" cy="842207"/>
            </a:xfrm>
            <a:custGeom>
              <a:avLst/>
              <a:gdLst/>
              <a:ahLst/>
              <a:cxnLst/>
              <a:rect l="l" t="t" r="r" b="b"/>
              <a:pathLst>
                <a:path w="1918602" h="842207">
                  <a:moveTo>
                    <a:pt x="26569" y="0"/>
                  </a:moveTo>
                  <a:lnTo>
                    <a:pt x="1892033" y="0"/>
                  </a:lnTo>
                  <a:cubicBezTo>
                    <a:pt x="1906707" y="0"/>
                    <a:pt x="1918602" y="11895"/>
                    <a:pt x="1918602" y="26569"/>
                  </a:cubicBezTo>
                  <a:lnTo>
                    <a:pt x="1918602" y="815638"/>
                  </a:lnTo>
                  <a:cubicBezTo>
                    <a:pt x="1918602" y="830312"/>
                    <a:pt x="1906707" y="842207"/>
                    <a:pt x="1892033" y="842207"/>
                  </a:cubicBezTo>
                  <a:lnTo>
                    <a:pt x="26569" y="842207"/>
                  </a:lnTo>
                  <a:cubicBezTo>
                    <a:pt x="11895" y="842207"/>
                    <a:pt x="0" y="830312"/>
                    <a:pt x="0" y="815638"/>
                  </a:cubicBezTo>
                  <a:lnTo>
                    <a:pt x="0" y="26569"/>
                  </a:lnTo>
                  <a:cubicBezTo>
                    <a:pt x="0" y="11895"/>
                    <a:pt x="11895" y="0"/>
                    <a:pt x="26569" y="0"/>
                  </a:cubicBezTo>
                  <a:close/>
                </a:path>
              </a:pathLst>
            </a:custGeom>
            <a:solidFill>
              <a:srgbClr val="B8C0BF"/>
            </a:solidFill>
          </p:spPr>
        </p:sp>
        <p:sp>
          <p:nvSpPr>
            <p:cNvPr id="7" name="TextBox 7"/>
            <p:cNvSpPr txBox="1"/>
            <p:nvPr/>
          </p:nvSpPr>
          <p:spPr>
            <a:xfrm>
              <a:off x="0" y="-28575"/>
              <a:ext cx="1918602" cy="870782"/>
            </a:xfrm>
            <a:prstGeom prst="rect">
              <a:avLst/>
            </a:prstGeom>
          </p:spPr>
          <p:txBody>
            <a:bodyPr lIns="50800" tIns="50800" rIns="50800" bIns="50800" rtlCol="0" anchor="ctr"/>
            <a:lstStyle/>
            <a:p>
              <a:pPr algn="ctr">
                <a:lnSpc>
                  <a:spcPts val="1960"/>
                </a:lnSpc>
              </a:pPr>
              <a:endParaRPr/>
            </a:p>
          </p:txBody>
        </p:sp>
      </p:grpSp>
      <p:sp>
        <p:nvSpPr>
          <p:cNvPr id="8" name="TextBox 8"/>
          <p:cNvSpPr txBox="1"/>
          <p:nvPr/>
        </p:nvSpPr>
        <p:spPr>
          <a:xfrm>
            <a:off x="1558206" y="4475958"/>
            <a:ext cx="6317473" cy="495970"/>
          </a:xfrm>
          <a:prstGeom prst="rect">
            <a:avLst/>
          </a:prstGeom>
        </p:spPr>
        <p:txBody>
          <a:bodyPr lIns="0" tIns="0" rIns="0" bIns="0" rtlCol="0" anchor="t">
            <a:spAutoFit/>
          </a:bodyPr>
          <a:lstStyle/>
          <a:p>
            <a:pPr algn="l">
              <a:lnSpc>
                <a:spcPts val="1960"/>
              </a:lnSpc>
              <a:spcBef>
                <a:spcPct val="0"/>
              </a:spcBef>
            </a:pPr>
            <a:r>
              <a:rPr lang="en-US" sz="1600" spc="-70">
                <a:solidFill>
                  <a:srgbClr val="4B3C3D"/>
                </a:solidFill>
                <a:latin typeface="Open Sauce"/>
                <a:ea typeface="Open Sauce"/>
                <a:cs typeface="Open Sauce"/>
                <a:sym typeface="Open Sauce"/>
              </a:rPr>
              <a:t>How can multimodal open data and patent data be used to reduce inefficiencies in water transportation systems through pipelines?</a:t>
            </a:r>
            <a:endParaRPr lang="en-US" sz="1600" spc="-70">
              <a:solidFill>
                <a:srgbClr val="4B3C3D"/>
              </a:solidFill>
              <a:latin typeface="Open Sauce"/>
              <a:ea typeface="Open Sauce"/>
              <a:cs typeface="Open Sauce"/>
            </a:endParaRPr>
          </a:p>
        </p:txBody>
      </p:sp>
      <p:sp>
        <p:nvSpPr>
          <p:cNvPr id="9" name="TextBox 9"/>
          <p:cNvSpPr txBox="1"/>
          <p:nvPr/>
        </p:nvSpPr>
        <p:spPr>
          <a:xfrm>
            <a:off x="1558206" y="3856568"/>
            <a:ext cx="2514350" cy="240665"/>
          </a:xfrm>
          <a:prstGeom prst="rect">
            <a:avLst/>
          </a:prstGeom>
        </p:spPr>
        <p:txBody>
          <a:bodyPr lIns="0" tIns="0" rIns="0" bIns="0" rtlCol="0" anchor="t">
            <a:spAutoFit/>
          </a:bodyPr>
          <a:lstStyle/>
          <a:p>
            <a:pPr algn="l">
              <a:lnSpc>
                <a:spcPts val="1960"/>
              </a:lnSpc>
              <a:spcBef>
                <a:spcPct val="0"/>
              </a:spcBef>
            </a:pPr>
            <a:r>
              <a:rPr lang="en-US" sz="1600" b="1" spc="-70">
                <a:solidFill>
                  <a:srgbClr val="4B3C3D"/>
                </a:solidFill>
                <a:latin typeface="Open Sauce Bold"/>
                <a:ea typeface="Open Sauce Bold"/>
                <a:cs typeface="Open Sauce Bold"/>
                <a:sym typeface="Open Sauce Bold"/>
              </a:rPr>
              <a:t>Main Research question</a:t>
            </a:r>
            <a:endParaRPr lang="en-US" sz="1600" b="1" spc="-70">
              <a:solidFill>
                <a:srgbClr val="4B3C3D"/>
              </a:solidFill>
              <a:latin typeface="Open Sauce Bold"/>
              <a:ea typeface="Open Sauce Bold"/>
              <a:cs typeface="Open Sauce Bo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6517392"/>
            <a:ext cx="7284692" cy="2740908"/>
            <a:chOff x="0" y="0"/>
            <a:chExt cx="2020887" cy="760371"/>
          </a:xfrm>
        </p:grpSpPr>
        <p:sp>
          <p:nvSpPr>
            <p:cNvPr id="3" name="Freeform 3"/>
            <p:cNvSpPr/>
            <p:nvPr/>
          </p:nvSpPr>
          <p:spPr>
            <a:xfrm>
              <a:off x="0" y="0"/>
              <a:ext cx="2020887" cy="760371"/>
            </a:xfrm>
            <a:custGeom>
              <a:avLst/>
              <a:gdLst/>
              <a:ahLst/>
              <a:cxnLst/>
              <a:rect l="l" t="t" r="r" b="b"/>
              <a:pathLst>
                <a:path w="2020887" h="760371">
                  <a:moveTo>
                    <a:pt x="21255" y="0"/>
                  </a:moveTo>
                  <a:lnTo>
                    <a:pt x="1999632" y="0"/>
                  </a:lnTo>
                  <a:cubicBezTo>
                    <a:pt x="2005269" y="0"/>
                    <a:pt x="2010676" y="2239"/>
                    <a:pt x="2014662" y="6226"/>
                  </a:cubicBezTo>
                  <a:cubicBezTo>
                    <a:pt x="2018648" y="10212"/>
                    <a:pt x="2020887" y="15618"/>
                    <a:pt x="2020887" y="21255"/>
                  </a:cubicBezTo>
                  <a:lnTo>
                    <a:pt x="2020887" y="739115"/>
                  </a:lnTo>
                  <a:cubicBezTo>
                    <a:pt x="2020887" y="744753"/>
                    <a:pt x="2018648" y="750159"/>
                    <a:pt x="2014662" y="754145"/>
                  </a:cubicBezTo>
                  <a:cubicBezTo>
                    <a:pt x="2010676" y="758131"/>
                    <a:pt x="2005269" y="760371"/>
                    <a:pt x="1999632" y="760371"/>
                  </a:cubicBezTo>
                  <a:lnTo>
                    <a:pt x="21255" y="760371"/>
                  </a:lnTo>
                  <a:cubicBezTo>
                    <a:pt x="15618" y="760371"/>
                    <a:pt x="10212" y="758131"/>
                    <a:pt x="6226" y="754145"/>
                  </a:cubicBezTo>
                  <a:cubicBezTo>
                    <a:pt x="2239" y="750159"/>
                    <a:pt x="0" y="744753"/>
                    <a:pt x="0" y="739115"/>
                  </a:cubicBezTo>
                  <a:lnTo>
                    <a:pt x="0" y="21255"/>
                  </a:lnTo>
                  <a:cubicBezTo>
                    <a:pt x="0" y="15618"/>
                    <a:pt x="2239" y="10212"/>
                    <a:pt x="6226" y="6226"/>
                  </a:cubicBezTo>
                  <a:cubicBezTo>
                    <a:pt x="10212" y="2239"/>
                    <a:pt x="15618" y="0"/>
                    <a:pt x="21255" y="0"/>
                  </a:cubicBezTo>
                  <a:close/>
                </a:path>
              </a:pathLst>
            </a:custGeom>
            <a:blipFill>
              <a:blip r:embed="rId2"/>
              <a:stretch>
                <a:fillRect t="-38431" b="-38431"/>
              </a:stretch>
            </a:blipFill>
          </p:spPr>
        </p:sp>
      </p:grpSp>
      <p:sp>
        <p:nvSpPr>
          <p:cNvPr id="4" name="TextBox 4"/>
          <p:cNvSpPr txBox="1"/>
          <p:nvPr/>
        </p:nvSpPr>
        <p:spPr>
          <a:xfrm>
            <a:off x="1028700" y="725955"/>
            <a:ext cx="7422661" cy="2286000"/>
          </a:xfrm>
          <a:prstGeom prst="rect">
            <a:avLst/>
          </a:prstGeom>
        </p:spPr>
        <p:txBody>
          <a:bodyPr lIns="0" tIns="0" rIns="0" bIns="0" rtlCol="0" anchor="t">
            <a:spAutoFit/>
          </a:bodyPr>
          <a:lstStyle/>
          <a:p>
            <a:pPr algn="l">
              <a:lnSpc>
                <a:spcPts val="9027"/>
              </a:lnSpc>
            </a:pPr>
            <a:r>
              <a:rPr lang="en-US" sz="7522" spc="-601">
                <a:solidFill>
                  <a:srgbClr val="4B3C3D"/>
                </a:solidFill>
                <a:latin typeface="Open Sauce"/>
                <a:ea typeface="Open Sauce"/>
                <a:cs typeface="Open Sauce"/>
                <a:sym typeface="Open Sauce"/>
              </a:rPr>
              <a:t>Research question &amp; objectives</a:t>
            </a:r>
          </a:p>
        </p:txBody>
      </p:sp>
      <p:grpSp>
        <p:nvGrpSpPr>
          <p:cNvPr id="5" name="Group 5"/>
          <p:cNvGrpSpPr/>
          <p:nvPr/>
        </p:nvGrpSpPr>
        <p:grpSpPr>
          <a:xfrm>
            <a:off x="9594797" y="2274236"/>
            <a:ext cx="3573362" cy="3197756"/>
            <a:chOff x="0" y="0"/>
            <a:chExt cx="941132" cy="842207"/>
          </a:xfrm>
        </p:grpSpPr>
        <p:sp>
          <p:nvSpPr>
            <p:cNvPr id="6" name="Freeform 6"/>
            <p:cNvSpPr/>
            <p:nvPr/>
          </p:nvSpPr>
          <p:spPr>
            <a:xfrm>
              <a:off x="0" y="0"/>
              <a:ext cx="941132" cy="842207"/>
            </a:xfrm>
            <a:custGeom>
              <a:avLst/>
              <a:gdLst/>
              <a:ahLst/>
              <a:cxnLst/>
              <a:rect l="l" t="t" r="r" b="b"/>
              <a:pathLst>
                <a:path w="941132" h="842207">
                  <a:moveTo>
                    <a:pt x="54164" y="0"/>
                  </a:moveTo>
                  <a:lnTo>
                    <a:pt x="886968" y="0"/>
                  </a:lnTo>
                  <a:cubicBezTo>
                    <a:pt x="916882" y="0"/>
                    <a:pt x="941132" y="24250"/>
                    <a:pt x="941132" y="54164"/>
                  </a:cubicBezTo>
                  <a:lnTo>
                    <a:pt x="941132" y="788043"/>
                  </a:lnTo>
                  <a:cubicBezTo>
                    <a:pt x="941132" y="817957"/>
                    <a:pt x="916882" y="842207"/>
                    <a:pt x="886968" y="842207"/>
                  </a:cubicBezTo>
                  <a:lnTo>
                    <a:pt x="54164" y="842207"/>
                  </a:lnTo>
                  <a:cubicBezTo>
                    <a:pt x="24250" y="842207"/>
                    <a:pt x="0" y="817957"/>
                    <a:pt x="0" y="788043"/>
                  </a:cubicBezTo>
                  <a:lnTo>
                    <a:pt x="0" y="54164"/>
                  </a:lnTo>
                  <a:cubicBezTo>
                    <a:pt x="0" y="24250"/>
                    <a:pt x="24250" y="0"/>
                    <a:pt x="54164" y="0"/>
                  </a:cubicBezTo>
                  <a:close/>
                </a:path>
              </a:pathLst>
            </a:custGeom>
            <a:solidFill>
              <a:srgbClr val="B8C0BF"/>
            </a:solidFill>
          </p:spPr>
        </p:sp>
        <p:sp>
          <p:nvSpPr>
            <p:cNvPr id="7" name="TextBox 7"/>
            <p:cNvSpPr txBox="1"/>
            <p:nvPr/>
          </p:nvSpPr>
          <p:spPr>
            <a:xfrm>
              <a:off x="0" y="-28575"/>
              <a:ext cx="941132" cy="870782"/>
            </a:xfrm>
            <a:prstGeom prst="rect">
              <a:avLst/>
            </a:prstGeom>
          </p:spPr>
          <p:txBody>
            <a:bodyPr lIns="50800" tIns="50800" rIns="50800" bIns="50800" rtlCol="0" anchor="ctr"/>
            <a:lstStyle/>
            <a:p>
              <a:pPr algn="ctr">
                <a:lnSpc>
                  <a:spcPts val="1960"/>
                </a:lnSpc>
              </a:pPr>
              <a:endParaRPr/>
            </a:p>
          </p:txBody>
        </p:sp>
      </p:grpSp>
      <p:sp>
        <p:nvSpPr>
          <p:cNvPr id="8" name="TextBox 8"/>
          <p:cNvSpPr txBox="1"/>
          <p:nvPr/>
        </p:nvSpPr>
        <p:spPr>
          <a:xfrm>
            <a:off x="10124303" y="3210154"/>
            <a:ext cx="2514350" cy="1519006"/>
          </a:xfrm>
          <a:prstGeom prst="rect">
            <a:avLst/>
          </a:prstGeom>
        </p:spPr>
        <p:txBody>
          <a:bodyPr lIns="0" tIns="0" rIns="0" bIns="0" rtlCol="0" anchor="t">
            <a:spAutoFit/>
          </a:bodyPr>
          <a:lstStyle/>
          <a:p>
            <a:pPr algn="l">
              <a:lnSpc>
                <a:spcPts val="1960"/>
              </a:lnSpc>
              <a:spcBef>
                <a:spcPct val="0"/>
              </a:spcBef>
            </a:pPr>
            <a:r>
              <a:rPr lang="en-US" sz="1500" spc="-70" dirty="0">
                <a:solidFill>
                  <a:srgbClr val="4B3C3D"/>
                </a:solidFill>
                <a:latin typeface="Open Sauce"/>
                <a:ea typeface="Open Sauce"/>
                <a:cs typeface="Open Sauce"/>
                <a:sym typeface="Open Sauce"/>
              </a:rPr>
              <a:t>To identify and systematically catalog diverse repositories of multimodal open data and global patent databases relevant to the Italian water transport system.</a:t>
            </a:r>
            <a:endParaRPr lang="en-US" sz="1500" spc="-70" dirty="0">
              <a:solidFill>
                <a:srgbClr val="4B3C3D"/>
              </a:solidFill>
              <a:latin typeface="Open Sauce"/>
              <a:ea typeface="Open Sauce"/>
              <a:cs typeface="Open Sauce"/>
            </a:endParaRPr>
          </a:p>
        </p:txBody>
      </p:sp>
      <p:sp>
        <p:nvSpPr>
          <p:cNvPr id="9" name="TextBox 9"/>
          <p:cNvSpPr txBox="1"/>
          <p:nvPr/>
        </p:nvSpPr>
        <p:spPr>
          <a:xfrm>
            <a:off x="10124303" y="2674889"/>
            <a:ext cx="2514350" cy="240665"/>
          </a:xfrm>
          <a:prstGeom prst="rect">
            <a:avLst/>
          </a:prstGeom>
        </p:spPr>
        <p:txBody>
          <a:bodyPr lIns="0" tIns="0" rIns="0" bIns="0" rtlCol="0" anchor="t">
            <a:spAutoFit/>
          </a:bodyPr>
          <a:lstStyle/>
          <a:p>
            <a:pPr algn="l">
              <a:lnSpc>
                <a:spcPts val="1960"/>
              </a:lnSpc>
              <a:spcBef>
                <a:spcPct val="0"/>
              </a:spcBef>
            </a:pPr>
            <a:r>
              <a:rPr lang="en-US" sz="1600" b="1" spc="-70">
                <a:solidFill>
                  <a:srgbClr val="4B3C3D"/>
                </a:solidFill>
                <a:latin typeface="Open Sauce Bold"/>
                <a:ea typeface="Open Sauce Bold"/>
                <a:cs typeface="Open Sauce Bold"/>
                <a:sym typeface="Open Sauce Bold"/>
              </a:rPr>
              <a:t>Secondary objectives</a:t>
            </a:r>
            <a:endParaRPr lang="en-US" sz="1600" b="1" spc="-70">
              <a:solidFill>
                <a:srgbClr val="4B3C3D"/>
              </a:solidFill>
              <a:latin typeface="Open Sauce Bold"/>
              <a:ea typeface="Open Sauce Bold"/>
              <a:cs typeface="Open Sauce Bold"/>
            </a:endParaRPr>
          </a:p>
        </p:txBody>
      </p:sp>
      <p:grpSp>
        <p:nvGrpSpPr>
          <p:cNvPr id="10" name="Group 10"/>
          <p:cNvGrpSpPr/>
          <p:nvPr/>
        </p:nvGrpSpPr>
        <p:grpSpPr>
          <a:xfrm>
            <a:off x="13685938" y="2274236"/>
            <a:ext cx="3573362" cy="3197756"/>
            <a:chOff x="0" y="0"/>
            <a:chExt cx="941132" cy="842207"/>
          </a:xfrm>
        </p:grpSpPr>
        <p:sp>
          <p:nvSpPr>
            <p:cNvPr id="11" name="Freeform 11"/>
            <p:cNvSpPr/>
            <p:nvPr/>
          </p:nvSpPr>
          <p:spPr>
            <a:xfrm>
              <a:off x="0" y="0"/>
              <a:ext cx="941132" cy="842207"/>
            </a:xfrm>
            <a:custGeom>
              <a:avLst/>
              <a:gdLst/>
              <a:ahLst/>
              <a:cxnLst/>
              <a:rect l="l" t="t" r="r" b="b"/>
              <a:pathLst>
                <a:path w="941132" h="842207">
                  <a:moveTo>
                    <a:pt x="54164" y="0"/>
                  </a:moveTo>
                  <a:lnTo>
                    <a:pt x="886968" y="0"/>
                  </a:lnTo>
                  <a:cubicBezTo>
                    <a:pt x="916882" y="0"/>
                    <a:pt x="941132" y="24250"/>
                    <a:pt x="941132" y="54164"/>
                  </a:cubicBezTo>
                  <a:lnTo>
                    <a:pt x="941132" y="788043"/>
                  </a:lnTo>
                  <a:cubicBezTo>
                    <a:pt x="941132" y="817957"/>
                    <a:pt x="916882" y="842207"/>
                    <a:pt x="886968" y="842207"/>
                  </a:cubicBezTo>
                  <a:lnTo>
                    <a:pt x="54164" y="842207"/>
                  </a:lnTo>
                  <a:cubicBezTo>
                    <a:pt x="24250" y="842207"/>
                    <a:pt x="0" y="817957"/>
                    <a:pt x="0" y="788043"/>
                  </a:cubicBezTo>
                  <a:lnTo>
                    <a:pt x="0" y="54164"/>
                  </a:lnTo>
                  <a:cubicBezTo>
                    <a:pt x="0" y="24250"/>
                    <a:pt x="24250" y="0"/>
                    <a:pt x="54164" y="0"/>
                  </a:cubicBezTo>
                  <a:close/>
                </a:path>
              </a:pathLst>
            </a:custGeom>
            <a:solidFill>
              <a:srgbClr val="72838A"/>
            </a:solidFill>
          </p:spPr>
        </p:sp>
        <p:sp>
          <p:nvSpPr>
            <p:cNvPr id="12" name="TextBox 12"/>
            <p:cNvSpPr txBox="1"/>
            <p:nvPr/>
          </p:nvSpPr>
          <p:spPr>
            <a:xfrm>
              <a:off x="0" y="-28575"/>
              <a:ext cx="941132" cy="870782"/>
            </a:xfrm>
            <a:prstGeom prst="rect">
              <a:avLst/>
            </a:prstGeom>
          </p:spPr>
          <p:txBody>
            <a:bodyPr lIns="50800" tIns="50800" rIns="50800" bIns="50800" rtlCol="0" anchor="ctr"/>
            <a:lstStyle/>
            <a:p>
              <a:pPr algn="ctr">
                <a:lnSpc>
                  <a:spcPts val="1960"/>
                </a:lnSpc>
              </a:pPr>
              <a:endParaRPr/>
            </a:p>
          </p:txBody>
        </p:sp>
      </p:grpSp>
      <p:sp>
        <p:nvSpPr>
          <p:cNvPr id="13" name="TextBox 13"/>
          <p:cNvSpPr txBox="1"/>
          <p:nvPr/>
        </p:nvSpPr>
        <p:spPr>
          <a:xfrm>
            <a:off x="14215444" y="3010129"/>
            <a:ext cx="2514350" cy="2288447"/>
          </a:xfrm>
          <a:prstGeom prst="rect">
            <a:avLst/>
          </a:prstGeom>
        </p:spPr>
        <p:txBody>
          <a:bodyPr lIns="0" tIns="0" rIns="0" bIns="0" rtlCol="0" anchor="t">
            <a:spAutoFit/>
          </a:bodyPr>
          <a:lstStyle/>
          <a:p>
            <a:pPr algn="l">
              <a:lnSpc>
                <a:spcPts val="1960"/>
              </a:lnSpc>
              <a:spcBef>
                <a:spcPct val="0"/>
              </a:spcBef>
            </a:pPr>
            <a:r>
              <a:rPr lang="en-US" sz="1500" spc="-70" dirty="0">
                <a:solidFill>
                  <a:srgbClr val="DBD2D2"/>
                </a:solidFill>
                <a:latin typeface="Open Sauce"/>
                <a:ea typeface="Open Sauce"/>
                <a:cs typeface="Open Sauce"/>
                <a:sym typeface="Open Sauce"/>
              </a:rPr>
              <a:t>To establish a comprehensive methodology for the integration and harmonization of heterogeneous datasets, ensuring interoperability between various knowledge fields and from structured to unstructured data.</a:t>
            </a:r>
            <a:endParaRPr lang="en-US" sz="1500" spc="-70" dirty="0">
              <a:solidFill>
                <a:srgbClr val="DBD2D2"/>
              </a:solidFill>
              <a:latin typeface="Open Sauce"/>
              <a:ea typeface="Open Sauce"/>
              <a:cs typeface="Open Sauce"/>
            </a:endParaRPr>
          </a:p>
        </p:txBody>
      </p:sp>
      <p:sp>
        <p:nvSpPr>
          <p:cNvPr id="14" name="TextBox 14"/>
          <p:cNvSpPr txBox="1"/>
          <p:nvPr/>
        </p:nvSpPr>
        <p:spPr>
          <a:xfrm>
            <a:off x="14215444" y="2674889"/>
            <a:ext cx="2514350" cy="240665"/>
          </a:xfrm>
          <a:prstGeom prst="rect">
            <a:avLst/>
          </a:prstGeom>
        </p:spPr>
        <p:txBody>
          <a:bodyPr lIns="0" tIns="0" rIns="0" bIns="0" rtlCol="0" anchor="t">
            <a:spAutoFit/>
          </a:bodyPr>
          <a:lstStyle/>
          <a:p>
            <a:pPr algn="l">
              <a:lnSpc>
                <a:spcPts val="1960"/>
              </a:lnSpc>
              <a:spcBef>
                <a:spcPct val="0"/>
              </a:spcBef>
            </a:pPr>
            <a:r>
              <a:rPr lang="en-US" sz="1600" b="1" spc="-70">
                <a:solidFill>
                  <a:srgbClr val="DBD2D2"/>
                </a:solidFill>
                <a:latin typeface="Open Sauce Bold"/>
                <a:ea typeface="Open Sauce Bold"/>
                <a:cs typeface="Open Sauce Bold"/>
                <a:sym typeface="Open Sauce Bold"/>
              </a:rPr>
              <a:t>Secondary objectives</a:t>
            </a:r>
            <a:endParaRPr lang="en-US" sz="1600" b="1" spc="-70">
              <a:solidFill>
                <a:srgbClr val="DBD2D2"/>
              </a:solidFill>
              <a:latin typeface="Open Sauce Bold"/>
              <a:ea typeface="Open Sauce Bold"/>
              <a:cs typeface="Open Sauce Bold"/>
            </a:endParaRPr>
          </a:p>
        </p:txBody>
      </p:sp>
      <p:grpSp>
        <p:nvGrpSpPr>
          <p:cNvPr id="15" name="Group 15"/>
          <p:cNvGrpSpPr/>
          <p:nvPr/>
        </p:nvGrpSpPr>
        <p:grpSpPr>
          <a:xfrm>
            <a:off x="9594797" y="6060544"/>
            <a:ext cx="3573362" cy="3197756"/>
            <a:chOff x="0" y="0"/>
            <a:chExt cx="941132" cy="842207"/>
          </a:xfrm>
        </p:grpSpPr>
        <p:sp>
          <p:nvSpPr>
            <p:cNvPr id="16" name="Freeform 16"/>
            <p:cNvSpPr/>
            <p:nvPr/>
          </p:nvSpPr>
          <p:spPr>
            <a:xfrm>
              <a:off x="0" y="0"/>
              <a:ext cx="941132" cy="842207"/>
            </a:xfrm>
            <a:custGeom>
              <a:avLst/>
              <a:gdLst/>
              <a:ahLst/>
              <a:cxnLst/>
              <a:rect l="l" t="t" r="r" b="b"/>
              <a:pathLst>
                <a:path w="941132" h="842207">
                  <a:moveTo>
                    <a:pt x="54164" y="0"/>
                  </a:moveTo>
                  <a:lnTo>
                    <a:pt x="886968" y="0"/>
                  </a:lnTo>
                  <a:cubicBezTo>
                    <a:pt x="916882" y="0"/>
                    <a:pt x="941132" y="24250"/>
                    <a:pt x="941132" y="54164"/>
                  </a:cubicBezTo>
                  <a:lnTo>
                    <a:pt x="941132" y="788043"/>
                  </a:lnTo>
                  <a:cubicBezTo>
                    <a:pt x="941132" y="817957"/>
                    <a:pt x="916882" y="842207"/>
                    <a:pt x="886968" y="842207"/>
                  </a:cubicBezTo>
                  <a:lnTo>
                    <a:pt x="54164" y="842207"/>
                  </a:lnTo>
                  <a:cubicBezTo>
                    <a:pt x="24250" y="842207"/>
                    <a:pt x="0" y="817957"/>
                    <a:pt x="0" y="788043"/>
                  </a:cubicBezTo>
                  <a:lnTo>
                    <a:pt x="0" y="54164"/>
                  </a:lnTo>
                  <a:cubicBezTo>
                    <a:pt x="0" y="24250"/>
                    <a:pt x="24250" y="0"/>
                    <a:pt x="54164" y="0"/>
                  </a:cubicBezTo>
                  <a:close/>
                </a:path>
              </a:pathLst>
            </a:custGeom>
            <a:solidFill>
              <a:srgbClr val="B8C0BF"/>
            </a:solidFill>
          </p:spPr>
        </p:sp>
        <p:sp>
          <p:nvSpPr>
            <p:cNvPr id="17" name="TextBox 17"/>
            <p:cNvSpPr txBox="1"/>
            <p:nvPr/>
          </p:nvSpPr>
          <p:spPr>
            <a:xfrm>
              <a:off x="0" y="-28575"/>
              <a:ext cx="941132" cy="870782"/>
            </a:xfrm>
            <a:prstGeom prst="rect">
              <a:avLst/>
            </a:prstGeom>
          </p:spPr>
          <p:txBody>
            <a:bodyPr lIns="50800" tIns="50800" rIns="50800" bIns="50800" rtlCol="0" anchor="ctr"/>
            <a:lstStyle/>
            <a:p>
              <a:pPr algn="ctr">
                <a:lnSpc>
                  <a:spcPts val="1960"/>
                </a:lnSpc>
              </a:pPr>
              <a:endParaRPr/>
            </a:p>
          </p:txBody>
        </p:sp>
      </p:grpSp>
      <p:sp>
        <p:nvSpPr>
          <p:cNvPr id="18" name="TextBox 18"/>
          <p:cNvSpPr txBox="1"/>
          <p:nvPr/>
        </p:nvSpPr>
        <p:spPr>
          <a:xfrm>
            <a:off x="10124303" y="6997137"/>
            <a:ext cx="2514350" cy="2029017"/>
          </a:xfrm>
          <a:prstGeom prst="rect">
            <a:avLst/>
          </a:prstGeom>
        </p:spPr>
        <p:txBody>
          <a:bodyPr lIns="0" tIns="0" rIns="0" bIns="0" rtlCol="0" anchor="t">
            <a:spAutoFit/>
          </a:bodyPr>
          <a:lstStyle/>
          <a:p>
            <a:pPr>
              <a:lnSpc>
                <a:spcPts val="1960"/>
              </a:lnSpc>
              <a:spcBef>
                <a:spcPct val="0"/>
              </a:spcBef>
            </a:pPr>
            <a:r>
              <a:rPr lang="en-US" sz="1500" spc="-70" dirty="0">
                <a:solidFill>
                  <a:srgbClr val="000000"/>
                </a:solidFill>
                <a:latin typeface="Open Sauce"/>
                <a:ea typeface="Open Sauce"/>
                <a:cs typeface="Open Sauce"/>
                <a:sym typeface="Open Sauce"/>
              </a:rPr>
              <a:t>To design a data-driven framework that utilizes integrated insights built on causes and effects to support the prioritization of infrastructure interventions and the optimization of resource allocation.</a:t>
            </a:r>
          </a:p>
        </p:txBody>
      </p:sp>
      <p:sp>
        <p:nvSpPr>
          <p:cNvPr id="19" name="TextBox 19"/>
          <p:cNvSpPr txBox="1"/>
          <p:nvPr/>
        </p:nvSpPr>
        <p:spPr>
          <a:xfrm>
            <a:off x="10124303" y="6461197"/>
            <a:ext cx="2514350" cy="240665"/>
          </a:xfrm>
          <a:prstGeom prst="rect">
            <a:avLst/>
          </a:prstGeom>
        </p:spPr>
        <p:txBody>
          <a:bodyPr lIns="0" tIns="0" rIns="0" bIns="0" rtlCol="0" anchor="t">
            <a:spAutoFit/>
          </a:bodyPr>
          <a:lstStyle/>
          <a:p>
            <a:pPr algn="l">
              <a:lnSpc>
                <a:spcPts val="1960"/>
              </a:lnSpc>
              <a:spcBef>
                <a:spcPct val="0"/>
              </a:spcBef>
            </a:pPr>
            <a:r>
              <a:rPr lang="en-US" sz="1500" b="1" spc="-70">
                <a:solidFill>
                  <a:srgbClr val="000000"/>
                </a:solidFill>
                <a:latin typeface="Open Sauce Bold"/>
                <a:ea typeface="Open Sauce Bold"/>
                <a:cs typeface="Open Sauce Bold"/>
                <a:sym typeface="Open Sauce Bold"/>
              </a:rPr>
              <a:t>Secondary objectives</a:t>
            </a:r>
            <a:endParaRPr lang="en-US" sz="1500" b="1" spc="-70">
              <a:solidFill>
                <a:srgbClr val="000000"/>
              </a:solidFill>
              <a:latin typeface="Open Sauce Bold"/>
              <a:ea typeface="Open Sauce Bold"/>
              <a:cs typeface="Open Sauce Bold"/>
            </a:endParaRPr>
          </a:p>
        </p:txBody>
      </p:sp>
      <p:grpSp>
        <p:nvGrpSpPr>
          <p:cNvPr id="20" name="Group 20"/>
          <p:cNvGrpSpPr/>
          <p:nvPr/>
        </p:nvGrpSpPr>
        <p:grpSpPr>
          <a:xfrm>
            <a:off x="1028700" y="3165795"/>
            <a:ext cx="7284692" cy="3197756"/>
            <a:chOff x="0" y="0"/>
            <a:chExt cx="1918602" cy="842207"/>
          </a:xfrm>
        </p:grpSpPr>
        <p:sp>
          <p:nvSpPr>
            <p:cNvPr id="21" name="Freeform 21"/>
            <p:cNvSpPr/>
            <p:nvPr/>
          </p:nvSpPr>
          <p:spPr>
            <a:xfrm>
              <a:off x="0" y="0"/>
              <a:ext cx="1918602" cy="842207"/>
            </a:xfrm>
            <a:custGeom>
              <a:avLst/>
              <a:gdLst/>
              <a:ahLst/>
              <a:cxnLst/>
              <a:rect l="l" t="t" r="r" b="b"/>
              <a:pathLst>
                <a:path w="1918602" h="842207">
                  <a:moveTo>
                    <a:pt x="26569" y="0"/>
                  </a:moveTo>
                  <a:lnTo>
                    <a:pt x="1892033" y="0"/>
                  </a:lnTo>
                  <a:cubicBezTo>
                    <a:pt x="1906707" y="0"/>
                    <a:pt x="1918602" y="11895"/>
                    <a:pt x="1918602" y="26569"/>
                  </a:cubicBezTo>
                  <a:lnTo>
                    <a:pt x="1918602" y="815638"/>
                  </a:lnTo>
                  <a:cubicBezTo>
                    <a:pt x="1918602" y="830312"/>
                    <a:pt x="1906707" y="842207"/>
                    <a:pt x="1892033" y="842207"/>
                  </a:cubicBezTo>
                  <a:lnTo>
                    <a:pt x="26569" y="842207"/>
                  </a:lnTo>
                  <a:cubicBezTo>
                    <a:pt x="11895" y="842207"/>
                    <a:pt x="0" y="830312"/>
                    <a:pt x="0" y="815638"/>
                  </a:cubicBezTo>
                  <a:lnTo>
                    <a:pt x="0" y="26569"/>
                  </a:lnTo>
                  <a:cubicBezTo>
                    <a:pt x="0" y="11895"/>
                    <a:pt x="11895" y="0"/>
                    <a:pt x="26569" y="0"/>
                  </a:cubicBezTo>
                  <a:close/>
                </a:path>
              </a:pathLst>
            </a:custGeom>
            <a:solidFill>
              <a:srgbClr val="B8C0BF"/>
            </a:solidFill>
          </p:spPr>
        </p:sp>
        <p:sp>
          <p:nvSpPr>
            <p:cNvPr id="22" name="TextBox 22"/>
            <p:cNvSpPr txBox="1"/>
            <p:nvPr/>
          </p:nvSpPr>
          <p:spPr>
            <a:xfrm>
              <a:off x="0" y="-28575"/>
              <a:ext cx="1918602" cy="870782"/>
            </a:xfrm>
            <a:prstGeom prst="rect">
              <a:avLst/>
            </a:prstGeom>
          </p:spPr>
          <p:txBody>
            <a:bodyPr lIns="50800" tIns="50800" rIns="50800" bIns="50800" rtlCol="0" anchor="ctr"/>
            <a:lstStyle/>
            <a:p>
              <a:pPr algn="ctr">
                <a:lnSpc>
                  <a:spcPts val="1960"/>
                </a:lnSpc>
              </a:pPr>
              <a:endParaRPr/>
            </a:p>
          </p:txBody>
        </p:sp>
      </p:grpSp>
      <p:sp>
        <p:nvSpPr>
          <p:cNvPr id="23" name="TextBox 23"/>
          <p:cNvSpPr txBox="1"/>
          <p:nvPr/>
        </p:nvSpPr>
        <p:spPr>
          <a:xfrm>
            <a:off x="1558206" y="4475958"/>
            <a:ext cx="6317473" cy="495970"/>
          </a:xfrm>
          <a:prstGeom prst="rect">
            <a:avLst/>
          </a:prstGeom>
        </p:spPr>
        <p:txBody>
          <a:bodyPr lIns="0" tIns="0" rIns="0" bIns="0" rtlCol="0" anchor="t">
            <a:spAutoFit/>
          </a:bodyPr>
          <a:lstStyle/>
          <a:p>
            <a:pPr algn="l">
              <a:lnSpc>
                <a:spcPts val="1960"/>
              </a:lnSpc>
              <a:spcBef>
                <a:spcPct val="0"/>
              </a:spcBef>
            </a:pPr>
            <a:r>
              <a:rPr lang="en-US" sz="1600" spc="-70">
                <a:solidFill>
                  <a:srgbClr val="4B3C3D"/>
                </a:solidFill>
                <a:latin typeface="Open Sauce"/>
                <a:ea typeface="Open Sauce"/>
                <a:cs typeface="Open Sauce"/>
                <a:sym typeface="Open Sauce"/>
              </a:rPr>
              <a:t>How can multimodal open data and patent data be used to reduce inefficiencies in water transportation systems through pipelines?</a:t>
            </a:r>
            <a:endParaRPr lang="en-US" sz="1600" spc="-70">
              <a:solidFill>
                <a:srgbClr val="4B3C3D"/>
              </a:solidFill>
              <a:latin typeface="Open Sauce"/>
              <a:ea typeface="Open Sauce"/>
              <a:cs typeface="Open Sauce"/>
            </a:endParaRPr>
          </a:p>
        </p:txBody>
      </p:sp>
      <p:sp>
        <p:nvSpPr>
          <p:cNvPr id="24" name="TextBox 24"/>
          <p:cNvSpPr txBox="1"/>
          <p:nvPr/>
        </p:nvSpPr>
        <p:spPr>
          <a:xfrm>
            <a:off x="1558206" y="3856568"/>
            <a:ext cx="2514350" cy="240665"/>
          </a:xfrm>
          <a:prstGeom prst="rect">
            <a:avLst/>
          </a:prstGeom>
        </p:spPr>
        <p:txBody>
          <a:bodyPr lIns="0" tIns="0" rIns="0" bIns="0" rtlCol="0" anchor="t">
            <a:spAutoFit/>
          </a:bodyPr>
          <a:lstStyle/>
          <a:p>
            <a:pPr algn="l">
              <a:lnSpc>
                <a:spcPts val="1960"/>
              </a:lnSpc>
              <a:spcBef>
                <a:spcPct val="0"/>
              </a:spcBef>
            </a:pPr>
            <a:r>
              <a:rPr lang="en-US" sz="1600" b="1" spc="-70">
                <a:solidFill>
                  <a:srgbClr val="4B3C3D"/>
                </a:solidFill>
                <a:latin typeface="Open Sauce Bold"/>
                <a:ea typeface="Open Sauce Bold"/>
                <a:cs typeface="Open Sauce Bold"/>
                <a:sym typeface="Open Sauce Bold"/>
              </a:rPr>
              <a:t>Main Research question</a:t>
            </a:r>
            <a:endParaRPr lang="en-US" sz="1600" b="1" spc="-70">
              <a:solidFill>
                <a:srgbClr val="4B3C3D"/>
              </a:solidFill>
              <a:latin typeface="Open Sauce Bold"/>
              <a:ea typeface="Open Sauce Bold"/>
              <a:cs typeface="Open Sauce Bold"/>
            </a:endParaRPr>
          </a:p>
        </p:txBody>
      </p:sp>
      <p:grpSp>
        <p:nvGrpSpPr>
          <p:cNvPr id="25" name="Group 25"/>
          <p:cNvGrpSpPr/>
          <p:nvPr/>
        </p:nvGrpSpPr>
        <p:grpSpPr>
          <a:xfrm>
            <a:off x="13685938" y="6060544"/>
            <a:ext cx="3573362" cy="3197756"/>
            <a:chOff x="0" y="0"/>
            <a:chExt cx="2020887" cy="1808466"/>
          </a:xfrm>
        </p:grpSpPr>
        <p:sp>
          <p:nvSpPr>
            <p:cNvPr id="26" name="Freeform 26"/>
            <p:cNvSpPr/>
            <p:nvPr/>
          </p:nvSpPr>
          <p:spPr>
            <a:xfrm>
              <a:off x="0" y="0"/>
              <a:ext cx="2020887" cy="1808466"/>
            </a:xfrm>
            <a:custGeom>
              <a:avLst/>
              <a:gdLst/>
              <a:ahLst/>
              <a:cxnLst/>
              <a:rect l="l" t="t" r="r" b="b"/>
              <a:pathLst>
                <a:path w="2020887" h="1808466">
                  <a:moveTo>
                    <a:pt x="43331" y="0"/>
                  </a:moveTo>
                  <a:lnTo>
                    <a:pt x="1977556" y="0"/>
                  </a:lnTo>
                  <a:cubicBezTo>
                    <a:pt x="2001487" y="0"/>
                    <a:pt x="2020887" y="19400"/>
                    <a:pt x="2020887" y="43331"/>
                  </a:cubicBezTo>
                  <a:lnTo>
                    <a:pt x="2020887" y="1765135"/>
                  </a:lnTo>
                  <a:cubicBezTo>
                    <a:pt x="2020887" y="1789066"/>
                    <a:pt x="2001487" y="1808466"/>
                    <a:pt x="1977556" y="1808466"/>
                  </a:cubicBezTo>
                  <a:lnTo>
                    <a:pt x="43331" y="1808466"/>
                  </a:lnTo>
                  <a:cubicBezTo>
                    <a:pt x="19400" y="1808466"/>
                    <a:pt x="0" y="1789066"/>
                    <a:pt x="0" y="1765135"/>
                  </a:cubicBezTo>
                  <a:lnTo>
                    <a:pt x="0" y="43331"/>
                  </a:lnTo>
                  <a:cubicBezTo>
                    <a:pt x="0" y="19400"/>
                    <a:pt x="19400" y="0"/>
                    <a:pt x="43331" y="0"/>
                  </a:cubicBezTo>
                  <a:close/>
                </a:path>
              </a:pathLst>
            </a:custGeom>
            <a:blipFill>
              <a:blip r:embed="rId3"/>
              <a:stretch>
                <a:fillRect t="-34192" b="-34192"/>
              </a:stretch>
            </a:blipFill>
          </p:spPr>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1028700"/>
            <a:ext cx="6358394" cy="8464024"/>
            <a:chOff x="0" y="0"/>
            <a:chExt cx="1146885" cy="1526685"/>
          </a:xfrm>
        </p:grpSpPr>
        <p:sp>
          <p:nvSpPr>
            <p:cNvPr id="3" name="Freeform 3"/>
            <p:cNvSpPr/>
            <p:nvPr/>
          </p:nvSpPr>
          <p:spPr>
            <a:xfrm>
              <a:off x="0" y="0"/>
              <a:ext cx="1146885" cy="1526685"/>
            </a:xfrm>
            <a:custGeom>
              <a:avLst/>
              <a:gdLst/>
              <a:ahLst/>
              <a:cxnLst/>
              <a:rect l="l" t="t" r="r" b="b"/>
              <a:pathLst>
                <a:path w="1146885" h="1526685">
                  <a:moveTo>
                    <a:pt x="30440" y="0"/>
                  </a:moveTo>
                  <a:lnTo>
                    <a:pt x="1116445" y="0"/>
                  </a:lnTo>
                  <a:cubicBezTo>
                    <a:pt x="1133257" y="0"/>
                    <a:pt x="1146885" y="13628"/>
                    <a:pt x="1146885" y="30440"/>
                  </a:cubicBezTo>
                  <a:lnTo>
                    <a:pt x="1146885" y="1496245"/>
                  </a:lnTo>
                  <a:cubicBezTo>
                    <a:pt x="1146885" y="1513056"/>
                    <a:pt x="1133257" y="1526685"/>
                    <a:pt x="1116445" y="1526685"/>
                  </a:cubicBezTo>
                  <a:lnTo>
                    <a:pt x="30440" y="1526685"/>
                  </a:lnTo>
                  <a:cubicBezTo>
                    <a:pt x="13628" y="1526685"/>
                    <a:pt x="0" y="1513056"/>
                    <a:pt x="0" y="1496245"/>
                  </a:cubicBezTo>
                  <a:lnTo>
                    <a:pt x="0" y="30440"/>
                  </a:lnTo>
                  <a:cubicBezTo>
                    <a:pt x="0" y="13628"/>
                    <a:pt x="13628" y="0"/>
                    <a:pt x="30440" y="0"/>
                  </a:cubicBezTo>
                  <a:close/>
                </a:path>
              </a:pathLst>
            </a:custGeom>
            <a:blipFill>
              <a:blip r:embed="rId3"/>
              <a:stretch>
                <a:fillRect t="-142" b="-142"/>
              </a:stretch>
            </a:blipFill>
          </p:spPr>
        </p:sp>
      </p:grpSp>
      <p:sp>
        <p:nvSpPr>
          <p:cNvPr id="4" name="TextBox 4"/>
          <p:cNvSpPr txBox="1"/>
          <p:nvPr/>
        </p:nvSpPr>
        <p:spPr>
          <a:xfrm>
            <a:off x="8272919" y="2310211"/>
            <a:ext cx="10015081" cy="1255225"/>
          </a:xfrm>
          <a:prstGeom prst="rect">
            <a:avLst/>
          </a:prstGeom>
        </p:spPr>
        <p:txBody>
          <a:bodyPr lIns="0" tIns="0" rIns="0" bIns="0" rtlCol="0" anchor="t">
            <a:spAutoFit/>
          </a:bodyPr>
          <a:lstStyle/>
          <a:p>
            <a:pPr algn="l">
              <a:lnSpc>
                <a:spcPts val="9896"/>
              </a:lnSpc>
            </a:pPr>
            <a:r>
              <a:rPr lang="en-US" sz="8246" spc="-659">
                <a:solidFill>
                  <a:srgbClr val="4B3C3D"/>
                </a:solidFill>
                <a:latin typeface="Open Sauce"/>
                <a:ea typeface="Open Sauce"/>
                <a:cs typeface="Open Sauce"/>
                <a:sym typeface="Open Sauce"/>
              </a:rPr>
              <a:t>Approach</a:t>
            </a:r>
          </a:p>
        </p:txBody>
      </p:sp>
      <p:sp>
        <p:nvSpPr>
          <p:cNvPr id="5" name="TextBox 5"/>
          <p:cNvSpPr txBox="1"/>
          <p:nvPr/>
        </p:nvSpPr>
        <p:spPr>
          <a:xfrm>
            <a:off x="14055930" y="1035975"/>
            <a:ext cx="3203370" cy="737235"/>
          </a:xfrm>
          <a:prstGeom prst="rect">
            <a:avLst/>
          </a:prstGeom>
        </p:spPr>
        <p:txBody>
          <a:bodyPr lIns="0" tIns="0" rIns="0" bIns="0" rtlCol="0" anchor="t">
            <a:spAutoFit/>
          </a:bodyPr>
          <a:lstStyle/>
          <a:p>
            <a:pPr algn="l">
              <a:lnSpc>
                <a:spcPts val="2939"/>
              </a:lnSpc>
              <a:spcBef>
                <a:spcPct val="0"/>
              </a:spcBef>
            </a:pPr>
            <a:r>
              <a:rPr lang="en-US" sz="2099" b="1" i="1" spc="-104">
                <a:solidFill>
                  <a:srgbClr val="4B3C3D"/>
                </a:solidFill>
                <a:latin typeface="Open Sauce Bold Italics"/>
                <a:ea typeface="Open Sauce Bold Italics"/>
                <a:cs typeface="Open Sauce Bold Italics"/>
                <a:sym typeface="Open Sauce Bold Italics"/>
              </a:rPr>
              <a:t>How can we pair causes with solutions?</a:t>
            </a:r>
          </a:p>
        </p:txBody>
      </p:sp>
      <p:sp>
        <p:nvSpPr>
          <p:cNvPr id="6" name="TextBox 6"/>
          <p:cNvSpPr txBox="1"/>
          <p:nvPr/>
        </p:nvSpPr>
        <p:spPr>
          <a:xfrm>
            <a:off x="8272919" y="4247860"/>
            <a:ext cx="8986381" cy="405765"/>
          </a:xfrm>
          <a:prstGeom prst="rect">
            <a:avLst/>
          </a:prstGeom>
        </p:spPr>
        <p:txBody>
          <a:bodyPr lIns="0" tIns="0" rIns="0" bIns="0" rtlCol="0" anchor="t">
            <a:spAutoFit/>
          </a:bodyPr>
          <a:lstStyle/>
          <a:p>
            <a:pPr algn="l">
              <a:lnSpc>
                <a:spcPts val="3359"/>
              </a:lnSpc>
              <a:spcBef>
                <a:spcPct val="0"/>
              </a:spcBef>
            </a:pPr>
            <a:r>
              <a:rPr lang="en-US" sz="2399" spc="-119">
                <a:solidFill>
                  <a:srgbClr val="968C90"/>
                </a:solidFill>
                <a:latin typeface="Open Sauce"/>
                <a:ea typeface="Open Sauce"/>
                <a:cs typeface="Open Sauce"/>
                <a:sym typeface="Open Sauce"/>
              </a:rPr>
              <a:t>Vulnerability layer &amp; Mitigation layer</a:t>
            </a:r>
          </a:p>
        </p:txBody>
      </p:sp>
      <p:grpSp>
        <p:nvGrpSpPr>
          <p:cNvPr id="7" name="Group 7"/>
          <p:cNvGrpSpPr/>
          <p:nvPr/>
        </p:nvGrpSpPr>
        <p:grpSpPr>
          <a:xfrm>
            <a:off x="8272919" y="5387050"/>
            <a:ext cx="4336826" cy="4334273"/>
            <a:chOff x="0" y="0"/>
            <a:chExt cx="1142209" cy="1081330"/>
          </a:xfrm>
        </p:grpSpPr>
        <p:sp>
          <p:nvSpPr>
            <p:cNvPr id="8" name="Freeform 8"/>
            <p:cNvSpPr/>
            <p:nvPr/>
          </p:nvSpPr>
          <p:spPr>
            <a:xfrm>
              <a:off x="0" y="0"/>
              <a:ext cx="1142209" cy="1081330"/>
            </a:xfrm>
            <a:custGeom>
              <a:avLst/>
              <a:gdLst/>
              <a:ahLst/>
              <a:cxnLst/>
              <a:rect l="l" t="t" r="r" b="b"/>
              <a:pathLst>
                <a:path w="1142209" h="1081330">
                  <a:moveTo>
                    <a:pt x="44629" y="0"/>
                  </a:moveTo>
                  <a:lnTo>
                    <a:pt x="1097580" y="0"/>
                  </a:lnTo>
                  <a:cubicBezTo>
                    <a:pt x="1109417" y="0"/>
                    <a:pt x="1120768" y="4702"/>
                    <a:pt x="1129138" y="13072"/>
                  </a:cubicBezTo>
                  <a:cubicBezTo>
                    <a:pt x="1137507" y="21441"/>
                    <a:pt x="1142209" y="32793"/>
                    <a:pt x="1142209" y="44629"/>
                  </a:cubicBezTo>
                  <a:lnTo>
                    <a:pt x="1142209" y="1036701"/>
                  </a:lnTo>
                  <a:cubicBezTo>
                    <a:pt x="1142209" y="1048537"/>
                    <a:pt x="1137507" y="1059889"/>
                    <a:pt x="1129138" y="1068258"/>
                  </a:cubicBezTo>
                  <a:cubicBezTo>
                    <a:pt x="1120768" y="1076628"/>
                    <a:pt x="1109417" y="1081330"/>
                    <a:pt x="1097580" y="1081330"/>
                  </a:cubicBezTo>
                  <a:lnTo>
                    <a:pt x="44629" y="1081330"/>
                  </a:lnTo>
                  <a:cubicBezTo>
                    <a:pt x="32793" y="1081330"/>
                    <a:pt x="21441" y="1076628"/>
                    <a:pt x="13072" y="1068258"/>
                  </a:cubicBezTo>
                  <a:cubicBezTo>
                    <a:pt x="4702" y="1059889"/>
                    <a:pt x="0" y="1048537"/>
                    <a:pt x="0" y="1036701"/>
                  </a:cubicBezTo>
                  <a:lnTo>
                    <a:pt x="0" y="44629"/>
                  </a:lnTo>
                  <a:cubicBezTo>
                    <a:pt x="0" y="32793"/>
                    <a:pt x="4702" y="21441"/>
                    <a:pt x="13072" y="13072"/>
                  </a:cubicBezTo>
                  <a:cubicBezTo>
                    <a:pt x="21441" y="4702"/>
                    <a:pt x="32793" y="0"/>
                    <a:pt x="44629" y="0"/>
                  </a:cubicBezTo>
                  <a:close/>
                </a:path>
              </a:pathLst>
            </a:custGeom>
            <a:solidFill>
              <a:srgbClr val="B8C0BF"/>
            </a:solidFill>
          </p:spPr>
        </p:sp>
        <p:sp>
          <p:nvSpPr>
            <p:cNvPr id="9" name="TextBox 9"/>
            <p:cNvSpPr txBox="1"/>
            <p:nvPr/>
          </p:nvSpPr>
          <p:spPr>
            <a:xfrm>
              <a:off x="0" y="-28575"/>
              <a:ext cx="1142209" cy="1109905"/>
            </a:xfrm>
            <a:prstGeom prst="rect">
              <a:avLst/>
            </a:prstGeom>
          </p:spPr>
          <p:txBody>
            <a:bodyPr lIns="50800" tIns="50800" rIns="50800" bIns="50800" rtlCol="0" anchor="ctr"/>
            <a:lstStyle/>
            <a:p>
              <a:pPr algn="ctr">
                <a:lnSpc>
                  <a:spcPts val="1960"/>
                </a:lnSpc>
              </a:pPr>
              <a:endParaRPr/>
            </a:p>
          </p:txBody>
        </p:sp>
      </p:grpSp>
      <p:sp>
        <p:nvSpPr>
          <p:cNvPr id="10" name="TextBox 10"/>
          <p:cNvSpPr txBox="1"/>
          <p:nvPr/>
        </p:nvSpPr>
        <p:spPr>
          <a:xfrm>
            <a:off x="8832443" y="5923940"/>
            <a:ext cx="3217779" cy="3314369"/>
          </a:xfrm>
          <a:prstGeom prst="rect">
            <a:avLst/>
          </a:prstGeom>
        </p:spPr>
        <p:txBody>
          <a:bodyPr lIns="0" tIns="0" rIns="0" bIns="0" rtlCol="0" anchor="t">
            <a:spAutoFit/>
          </a:bodyPr>
          <a:lstStyle/>
          <a:p>
            <a:pPr marL="302260" lvl="1" indent="-151130" algn="l">
              <a:lnSpc>
                <a:spcPts val="1960"/>
              </a:lnSpc>
              <a:buFont typeface="Arial"/>
              <a:buChar char="•"/>
            </a:pPr>
            <a:r>
              <a:rPr lang="en-US" sz="1500" spc="-70">
                <a:solidFill>
                  <a:srgbClr val="4B3C3D"/>
                </a:solidFill>
                <a:latin typeface="Open Sauce"/>
                <a:ea typeface="Open Sauce"/>
                <a:cs typeface="Open Sauce"/>
                <a:sym typeface="Open Sauce"/>
              </a:rPr>
              <a:t>Compiles all collected spatial layers into a single, unified index for every individual H3 hexagon cell.</a:t>
            </a:r>
            <a:endParaRPr lang="en-US" sz="1500">
              <a:ea typeface="Calibri"/>
              <a:cs typeface="Calibri"/>
            </a:endParaRPr>
          </a:p>
          <a:p>
            <a:pPr algn="l">
              <a:lnSpc>
                <a:spcPts val="1960"/>
              </a:lnSpc>
            </a:pPr>
            <a:endParaRPr lang="en-US" sz="1500" spc="-70" dirty="0">
              <a:solidFill>
                <a:srgbClr val="4B3C3D"/>
              </a:solidFill>
              <a:latin typeface="Open Sauce"/>
              <a:ea typeface="Open Sauce"/>
              <a:cs typeface="Open Sauce"/>
            </a:endParaRPr>
          </a:p>
          <a:p>
            <a:pPr marL="302260" lvl="1" indent="-151130">
              <a:lnSpc>
                <a:spcPts val="1960"/>
              </a:lnSpc>
              <a:buFont typeface="Arial"/>
              <a:buChar char="•"/>
            </a:pPr>
            <a:r>
              <a:rPr lang="en-US" sz="1500" spc="-70">
                <a:solidFill>
                  <a:srgbClr val="4B3C3D"/>
                </a:solidFill>
                <a:latin typeface="Open Sauce"/>
                <a:ea typeface="Open Sauce"/>
                <a:cs typeface="Open Sauce"/>
                <a:sym typeface="Open Sauce"/>
              </a:rPr>
              <a:t>Output a single risk score; and calculates Feature Importance metrics.</a:t>
            </a:r>
            <a:endParaRPr lang="en-US" sz="1500" spc="-70" dirty="0">
              <a:solidFill>
                <a:srgbClr val="4B3C3D"/>
              </a:solidFill>
              <a:latin typeface="Open Sauce"/>
              <a:ea typeface="Open Sauce"/>
              <a:cs typeface="Open Sauce"/>
            </a:endParaRPr>
          </a:p>
          <a:p>
            <a:pPr algn="l">
              <a:lnSpc>
                <a:spcPts val="1960"/>
              </a:lnSpc>
            </a:pPr>
            <a:endParaRPr lang="en-US" sz="1500" spc="-70" dirty="0">
              <a:solidFill>
                <a:srgbClr val="4B3C3D"/>
              </a:solidFill>
              <a:latin typeface="Open Sauce"/>
              <a:ea typeface="Open Sauce"/>
              <a:cs typeface="Open Sauce"/>
            </a:endParaRPr>
          </a:p>
          <a:p>
            <a:pPr marL="302260" lvl="1" indent="-151130" algn="l">
              <a:lnSpc>
                <a:spcPts val="1960"/>
              </a:lnSpc>
              <a:buFont typeface="Arial"/>
              <a:buChar char="•"/>
            </a:pPr>
            <a:r>
              <a:rPr lang="en-US" sz="1500" spc="-70">
                <a:solidFill>
                  <a:srgbClr val="4B3C3D"/>
                </a:solidFill>
                <a:latin typeface="Open Sauce"/>
                <a:ea typeface="Open Sauce"/>
                <a:cs typeface="Open Sauce"/>
                <a:sym typeface="Open Sauce"/>
              </a:rPr>
              <a:t>It breaks down the exact percentage of why a specific hexagon is risky (e.g., 70% Slope, 20% Soil Type, 10% Rainfall).</a:t>
            </a:r>
            <a:endParaRPr lang="en-US" sz="1500" spc="-70">
              <a:solidFill>
                <a:srgbClr val="4B3C3D"/>
              </a:solidFill>
              <a:latin typeface="Open Sauce"/>
              <a:ea typeface="Open Sauce"/>
              <a:cs typeface="Open Sauce"/>
            </a:endParaRPr>
          </a:p>
        </p:txBody>
      </p:sp>
      <p:sp>
        <p:nvSpPr>
          <p:cNvPr id="11" name="TextBox 11"/>
          <p:cNvSpPr txBox="1"/>
          <p:nvPr/>
        </p:nvSpPr>
        <p:spPr>
          <a:xfrm>
            <a:off x="8832443" y="5534352"/>
            <a:ext cx="3217779" cy="240665"/>
          </a:xfrm>
          <a:prstGeom prst="rect">
            <a:avLst/>
          </a:prstGeom>
        </p:spPr>
        <p:txBody>
          <a:bodyPr lIns="0" tIns="0" rIns="0" bIns="0" rtlCol="0" anchor="t">
            <a:spAutoFit/>
          </a:bodyPr>
          <a:lstStyle/>
          <a:p>
            <a:pPr algn="l">
              <a:lnSpc>
                <a:spcPts val="1960"/>
              </a:lnSpc>
              <a:spcBef>
                <a:spcPct val="0"/>
              </a:spcBef>
            </a:pPr>
            <a:r>
              <a:rPr lang="en-US" sz="1600" b="1" spc="-70">
                <a:solidFill>
                  <a:srgbClr val="4B3C3D"/>
                </a:solidFill>
                <a:latin typeface="Open Sauce Bold"/>
                <a:ea typeface="Open Sauce Bold"/>
                <a:cs typeface="Open Sauce Bold"/>
                <a:sym typeface="Open Sauce Bold"/>
              </a:rPr>
              <a:t>Vulnerability layer</a:t>
            </a:r>
            <a:endParaRPr lang="en-US" sz="1600" b="1" spc="-70">
              <a:solidFill>
                <a:srgbClr val="4B3C3D"/>
              </a:solidFill>
              <a:latin typeface="Open Sauce Bold"/>
              <a:ea typeface="Open Sauce Bold"/>
              <a:cs typeface="Open Sauce Bold"/>
            </a:endParaRPr>
          </a:p>
        </p:txBody>
      </p:sp>
      <p:grpSp>
        <p:nvGrpSpPr>
          <p:cNvPr id="12" name="Group 12"/>
          <p:cNvGrpSpPr/>
          <p:nvPr/>
        </p:nvGrpSpPr>
        <p:grpSpPr>
          <a:xfrm>
            <a:off x="8272919" y="1028700"/>
            <a:ext cx="1742162" cy="689872"/>
            <a:chOff x="0" y="0"/>
            <a:chExt cx="458841" cy="181695"/>
          </a:xfrm>
        </p:grpSpPr>
        <p:sp>
          <p:nvSpPr>
            <p:cNvPr id="13" name="Freeform 13"/>
            <p:cNvSpPr/>
            <p:nvPr/>
          </p:nvSpPr>
          <p:spPr>
            <a:xfrm>
              <a:off x="0" y="0"/>
              <a:ext cx="458841" cy="181695"/>
            </a:xfrm>
            <a:custGeom>
              <a:avLst/>
              <a:gdLst/>
              <a:ahLst/>
              <a:cxnLst/>
              <a:rect l="l" t="t" r="r" b="b"/>
              <a:pathLst>
                <a:path w="458841" h="181695">
                  <a:moveTo>
                    <a:pt x="90847" y="0"/>
                  </a:moveTo>
                  <a:lnTo>
                    <a:pt x="367994" y="0"/>
                  </a:lnTo>
                  <a:cubicBezTo>
                    <a:pt x="392088" y="0"/>
                    <a:pt x="415195" y="9571"/>
                    <a:pt x="432232" y="26609"/>
                  </a:cubicBezTo>
                  <a:cubicBezTo>
                    <a:pt x="449270" y="43646"/>
                    <a:pt x="458841" y="66753"/>
                    <a:pt x="458841" y="90847"/>
                  </a:cubicBezTo>
                  <a:lnTo>
                    <a:pt x="458841" y="90847"/>
                  </a:lnTo>
                  <a:cubicBezTo>
                    <a:pt x="458841" y="141021"/>
                    <a:pt x="418167" y="181695"/>
                    <a:pt x="367994" y="181695"/>
                  </a:cubicBezTo>
                  <a:lnTo>
                    <a:pt x="90847" y="181695"/>
                  </a:lnTo>
                  <a:cubicBezTo>
                    <a:pt x="66753" y="181695"/>
                    <a:pt x="43646" y="172123"/>
                    <a:pt x="26609" y="155086"/>
                  </a:cubicBezTo>
                  <a:cubicBezTo>
                    <a:pt x="9571" y="138049"/>
                    <a:pt x="0" y="114942"/>
                    <a:pt x="0" y="90847"/>
                  </a:cubicBezTo>
                  <a:lnTo>
                    <a:pt x="0" y="90847"/>
                  </a:lnTo>
                  <a:cubicBezTo>
                    <a:pt x="0" y="66753"/>
                    <a:pt x="9571" y="43646"/>
                    <a:pt x="26609" y="26609"/>
                  </a:cubicBezTo>
                  <a:cubicBezTo>
                    <a:pt x="43646" y="9571"/>
                    <a:pt x="66753" y="0"/>
                    <a:pt x="90847" y="0"/>
                  </a:cubicBezTo>
                  <a:close/>
                </a:path>
              </a:pathLst>
            </a:custGeom>
            <a:solidFill>
              <a:srgbClr val="B8C0BF"/>
            </a:solidFill>
          </p:spPr>
        </p:sp>
        <p:sp>
          <p:nvSpPr>
            <p:cNvPr id="14" name="TextBox 14"/>
            <p:cNvSpPr txBox="1"/>
            <p:nvPr/>
          </p:nvSpPr>
          <p:spPr>
            <a:xfrm>
              <a:off x="0" y="-28575"/>
              <a:ext cx="458841" cy="210270"/>
            </a:xfrm>
            <a:prstGeom prst="rect">
              <a:avLst/>
            </a:prstGeom>
          </p:spPr>
          <p:txBody>
            <a:bodyPr lIns="50800" tIns="50800" rIns="50800" bIns="50800" rtlCol="0" anchor="ctr"/>
            <a:lstStyle/>
            <a:p>
              <a:pPr algn="ctr">
                <a:lnSpc>
                  <a:spcPts val="2240"/>
                </a:lnSpc>
              </a:pPr>
              <a:endParaRPr/>
            </a:p>
          </p:txBody>
        </p:sp>
      </p:grpSp>
      <p:sp>
        <p:nvSpPr>
          <p:cNvPr id="15" name="Freeform 15"/>
          <p:cNvSpPr/>
          <p:nvPr/>
        </p:nvSpPr>
        <p:spPr>
          <a:xfrm>
            <a:off x="8507350" y="1155751"/>
            <a:ext cx="154386" cy="183001"/>
          </a:xfrm>
          <a:custGeom>
            <a:avLst/>
            <a:gdLst/>
            <a:ahLst/>
            <a:cxnLst/>
            <a:rect l="l" t="t" r="r" b="b"/>
            <a:pathLst>
              <a:path w="154386" h="183001">
                <a:moveTo>
                  <a:pt x="0" y="0"/>
                </a:moveTo>
                <a:lnTo>
                  <a:pt x="154386" y="0"/>
                </a:lnTo>
                <a:lnTo>
                  <a:pt x="154386" y="183000"/>
                </a:lnTo>
                <a:lnTo>
                  <a:pt x="0" y="1830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6" name="TextBox 16"/>
          <p:cNvSpPr txBox="1"/>
          <p:nvPr/>
        </p:nvSpPr>
        <p:spPr>
          <a:xfrm>
            <a:off x="8661736" y="1112631"/>
            <a:ext cx="1118915" cy="488315"/>
          </a:xfrm>
          <a:prstGeom prst="rect">
            <a:avLst/>
          </a:prstGeom>
        </p:spPr>
        <p:txBody>
          <a:bodyPr lIns="0" tIns="0" rIns="0" bIns="0" rtlCol="0" anchor="t">
            <a:spAutoFit/>
          </a:bodyPr>
          <a:lstStyle/>
          <a:p>
            <a:pPr algn="r">
              <a:lnSpc>
                <a:spcPts val="1960"/>
              </a:lnSpc>
              <a:spcBef>
                <a:spcPct val="0"/>
              </a:spcBef>
            </a:pPr>
            <a:r>
              <a:rPr lang="en-US" sz="1400" spc="-70">
                <a:solidFill>
                  <a:srgbClr val="4B3C3D"/>
                </a:solidFill>
                <a:latin typeface="Open Sauce"/>
                <a:ea typeface="Open Sauce"/>
                <a:cs typeface="Open Sauce"/>
                <a:sym typeface="Open Sauce"/>
              </a:rPr>
              <a:t>Methodology framing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1028700"/>
            <a:ext cx="6358394" cy="8464024"/>
            <a:chOff x="0" y="0"/>
            <a:chExt cx="1146885" cy="1526685"/>
          </a:xfrm>
        </p:grpSpPr>
        <p:sp>
          <p:nvSpPr>
            <p:cNvPr id="3" name="Freeform 3"/>
            <p:cNvSpPr/>
            <p:nvPr/>
          </p:nvSpPr>
          <p:spPr>
            <a:xfrm>
              <a:off x="0" y="0"/>
              <a:ext cx="1146885" cy="1526685"/>
            </a:xfrm>
            <a:custGeom>
              <a:avLst/>
              <a:gdLst/>
              <a:ahLst/>
              <a:cxnLst/>
              <a:rect l="l" t="t" r="r" b="b"/>
              <a:pathLst>
                <a:path w="1146885" h="1526685">
                  <a:moveTo>
                    <a:pt x="30440" y="0"/>
                  </a:moveTo>
                  <a:lnTo>
                    <a:pt x="1116445" y="0"/>
                  </a:lnTo>
                  <a:cubicBezTo>
                    <a:pt x="1133257" y="0"/>
                    <a:pt x="1146885" y="13628"/>
                    <a:pt x="1146885" y="30440"/>
                  </a:cubicBezTo>
                  <a:lnTo>
                    <a:pt x="1146885" y="1496245"/>
                  </a:lnTo>
                  <a:cubicBezTo>
                    <a:pt x="1146885" y="1513056"/>
                    <a:pt x="1133257" y="1526685"/>
                    <a:pt x="1116445" y="1526685"/>
                  </a:cubicBezTo>
                  <a:lnTo>
                    <a:pt x="30440" y="1526685"/>
                  </a:lnTo>
                  <a:cubicBezTo>
                    <a:pt x="13628" y="1526685"/>
                    <a:pt x="0" y="1513056"/>
                    <a:pt x="0" y="1496245"/>
                  </a:cubicBezTo>
                  <a:lnTo>
                    <a:pt x="0" y="30440"/>
                  </a:lnTo>
                  <a:cubicBezTo>
                    <a:pt x="0" y="13628"/>
                    <a:pt x="13628" y="0"/>
                    <a:pt x="30440" y="0"/>
                  </a:cubicBezTo>
                  <a:close/>
                </a:path>
              </a:pathLst>
            </a:custGeom>
            <a:blipFill>
              <a:blip r:embed="rId3"/>
              <a:stretch>
                <a:fillRect t="-142" b="-142"/>
              </a:stretch>
            </a:blipFill>
          </p:spPr>
        </p:sp>
      </p:grpSp>
      <p:sp>
        <p:nvSpPr>
          <p:cNvPr id="4" name="TextBox 4"/>
          <p:cNvSpPr txBox="1"/>
          <p:nvPr/>
        </p:nvSpPr>
        <p:spPr>
          <a:xfrm>
            <a:off x="8272919" y="2310211"/>
            <a:ext cx="10015081" cy="1255225"/>
          </a:xfrm>
          <a:prstGeom prst="rect">
            <a:avLst/>
          </a:prstGeom>
        </p:spPr>
        <p:txBody>
          <a:bodyPr lIns="0" tIns="0" rIns="0" bIns="0" rtlCol="0" anchor="t">
            <a:spAutoFit/>
          </a:bodyPr>
          <a:lstStyle/>
          <a:p>
            <a:pPr algn="l">
              <a:lnSpc>
                <a:spcPts val="9896"/>
              </a:lnSpc>
            </a:pPr>
            <a:r>
              <a:rPr lang="en-US" sz="8246" spc="-659">
                <a:solidFill>
                  <a:srgbClr val="4B3C3D"/>
                </a:solidFill>
                <a:latin typeface="Open Sauce"/>
                <a:ea typeface="Open Sauce"/>
                <a:cs typeface="Open Sauce"/>
                <a:sym typeface="Open Sauce"/>
              </a:rPr>
              <a:t>Approach</a:t>
            </a:r>
          </a:p>
        </p:txBody>
      </p:sp>
      <p:sp>
        <p:nvSpPr>
          <p:cNvPr id="5" name="TextBox 5"/>
          <p:cNvSpPr txBox="1"/>
          <p:nvPr/>
        </p:nvSpPr>
        <p:spPr>
          <a:xfrm>
            <a:off x="14055930" y="1035975"/>
            <a:ext cx="3203370" cy="737235"/>
          </a:xfrm>
          <a:prstGeom prst="rect">
            <a:avLst/>
          </a:prstGeom>
        </p:spPr>
        <p:txBody>
          <a:bodyPr lIns="0" tIns="0" rIns="0" bIns="0" rtlCol="0" anchor="t">
            <a:spAutoFit/>
          </a:bodyPr>
          <a:lstStyle/>
          <a:p>
            <a:pPr algn="l">
              <a:lnSpc>
                <a:spcPts val="2939"/>
              </a:lnSpc>
              <a:spcBef>
                <a:spcPct val="0"/>
              </a:spcBef>
            </a:pPr>
            <a:r>
              <a:rPr lang="en-US" sz="2099" b="1" i="1" spc="-104">
                <a:solidFill>
                  <a:srgbClr val="4B3C3D"/>
                </a:solidFill>
                <a:latin typeface="Open Sauce Bold Italics"/>
                <a:ea typeface="Open Sauce Bold Italics"/>
                <a:cs typeface="Open Sauce Bold Italics"/>
                <a:sym typeface="Open Sauce Bold Italics"/>
              </a:rPr>
              <a:t>How can we pair causes with solutions?</a:t>
            </a:r>
          </a:p>
        </p:txBody>
      </p:sp>
      <p:sp>
        <p:nvSpPr>
          <p:cNvPr id="6" name="TextBox 6"/>
          <p:cNvSpPr txBox="1"/>
          <p:nvPr/>
        </p:nvSpPr>
        <p:spPr>
          <a:xfrm>
            <a:off x="8272919" y="4247860"/>
            <a:ext cx="8986381" cy="405765"/>
          </a:xfrm>
          <a:prstGeom prst="rect">
            <a:avLst/>
          </a:prstGeom>
        </p:spPr>
        <p:txBody>
          <a:bodyPr lIns="0" tIns="0" rIns="0" bIns="0" rtlCol="0" anchor="t">
            <a:spAutoFit/>
          </a:bodyPr>
          <a:lstStyle/>
          <a:p>
            <a:pPr algn="l">
              <a:lnSpc>
                <a:spcPts val="3359"/>
              </a:lnSpc>
              <a:spcBef>
                <a:spcPct val="0"/>
              </a:spcBef>
            </a:pPr>
            <a:r>
              <a:rPr lang="en-US" sz="2399" spc="-119">
                <a:solidFill>
                  <a:srgbClr val="968C90"/>
                </a:solidFill>
                <a:latin typeface="Open Sauce"/>
                <a:ea typeface="Open Sauce"/>
                <a:cs typeface="Open Sauce"/>
                <a:sym typeface="Open Sauce"/>
              </a:rPr>
              <a:t>Vulnerability layer &amp; Mitigation layer</a:t>
            </a:r>
          </a:p>
        </p:txBody>
      </p:sp>
      <p:grpSp>
        <p:nvGrpSpPr>
          <p:cNvPr id="7" name="Group 7"/>
          <p:cNvGrpSpPr/>
          <p:nvPr/>
        </p:nvGrpSpPr>
        <p:grpSpPr>
          <a:xfrm>
            <a:off x="8272919" y="5387050"/>
            <a:ext cx="4336826" cy="4391424"/>
            <a:chOff x="0" y="0"/>
            <a:chExt cx="1142209" cy="1081330"/>
          </a:xfrm>
        </p:grpSpPr>
        <p:sp>
          <p:nvSpPr>
            <p:cNvPr id="8" name="Freeform 8"/>
            <p:cNvSpPr/>
            <p:nvPr/>
          </p:nvSpPr>
          <p:spPr>
            <a:xfrm>
              <a:off x="0" y="0"/>
              <a:ext cx="1142209" cy="1081330"/>
            </a:xfrm>
            <a:custGeom>
              <a:avLst/>
              <a:gdLst/>
              <a:ahLst/>
              <a:cxnLst/>
              <a:rect l="l" t="t" r="r" b="b"/>
              <a:pathLst>
                <a:path w="1142209" h="1081330">
                  <a:moveTo>
                    <a:pt x="44629" y="0"/>
                  </a:moveTo>
                  <a:lnTo>
                    <a:pt x="1097580" y="0"/>
                  </a:lnTo>
                  <a:cubicBezTo>
                    <a:pt x="1109417" y="0"/>
                    <a:pt x="1120768" y="4702"/>
                    <a:pt x="1129138" y="13072"/>
                  </a:cubicBezTo>
                  <a:cubicBezTo>
                    <a:pt x="1137507" y="21441"/>
                    <a:pt x="1142209" y="32793"/>
                    <a:pt x="1142209" y="44629"/>
                  </a:cubicBezTo>
                  <a:lnTo>
                    <a:pt x="1142209" y="1036701"/>
                  </a:lnTo>
                  <a:cubicBezTo>
                    <a:pt x="1142209" y="1048537"/>
                    <a:pt x="1137507" y="1059889"/>
                    <a:pt x="1129138" y="1068258"/>
                  </a:cubicBezTo>
                  <a:cubicBezTo>
                    <a:pt x="1120768" y="1076628"/>
                    <a:pt x="1109417" y="1081330"/>
                    <a:pt x="1097580" y="1081330"/>
                  </a:cubicBezTo>
                  <a:lnTo>
                    <a:pt x="44629" y="1081330"/>
                  </a:lnTo>
                  <a:cubicBezTo>
                    <a:pt x="32793" y="1081330"/>
                    <a:pt x="21441" y="1076628"/>
                    <a:pt x="13072" y="1068258"/>
                  </a:cubicBezTo>
                  <a:cubicBezTo>
                    <a:pt x="4702" y="1059889"/>
                    <a:pt x="0" y="1048537"/>
                    <a:pt x="0" y="1036701"/>
                  </a:cubicBezTo>
                  <a:lnTo>
                    <a:pt x="0" y="44629"/>
                  </a:lnTo>
                  <a:cubicBezTo>
                    <a:pt x="0" y="32793"/>
                    <a:pt x="4702" y="21441"/>
                    <a:pt x="13072" y="13072"/>
                  </a:cubicBezTo>
                  <a:cubicBezTo>
                    <a:pt x="21441" y="4702"/>
                    <a:pt x="32793" y="0"/>
                    <a:pt x="44629" y="0"/>
                  </a:cubicBezTo>
                  <a:close/>
                </a:path>
              </a:pathLst>
            </a:custGeom>
            <a:solidFill>
              <a:srgbClr val="B8C0BF"/>
            </a:solidFill>
          </p:spPr>
        </p:sp>
        <p:sp>
          <p:nvSpPr>
            <p:cNvPr id="9" name="TextBox 9"/>
            <p:cNvSpPr txBox="1"/>
            <p:nvPr/>
          </p:nvSpPr>
          <p:spPr>
            <a:xfrm>
              <a:off x="0" y="-28575"/>
              <a:ext cx="1142209" cy="1109905"/>
            </a:xfrm>
            <a:prstGeom prst="rect">
              <a:avLst/>
            </a:prstGeom>
          </p:spPr>
          <p:txBody>
            <a:bodyPr lIns="50800" tIns="50800" rIns="50800" bIns="50800" rtlCol="0" anchor="ctr"/>
            <a:lstStyle/>
            <a:p>
              <a:pPr algn="ctr">
                <a:lnSpc>
                  <a:spcPts val="1960"/>
                </a:lnSpc>
              </a:pPr>
              <a:endParaRPr/>
            </a:p>
          </p:txBody>
        </p:sp>
      </p:grpSp>
      <p:sp>
        <p:nvSpPr>
          <p:cNvPr id="10" name="TextBox 10"/>
          <p:cNvSpPr txBox="1"/>
          <p:nvPr/>
        </p:nvSpPr>
        <p:spPr>
          <a:xfrm>
            <a:off x="8832443" y="5923940"/>
            <a:ext cx="3217779" cy="3314369"/>
          </a:xfrm>
          <a:prstGeom prst="rect">
            <a:avLst/>
          </a:prstGeom>
        </p:spPr>
        <p:txBody>
          <a:bodyPr lIns="0" tIns="0" rIns="0" bIns="0" rtlCol="0" anchor="t">
            <a:spAutoFit/>
          </a:bodyPr>
          <a:lstStyle/>
          <a:p>
            <a:pPr marL="302260" lvl="1" indent="-151130" algn="l">
              <a:lnSpc>
                <a:spcPts val="1960"/>
              </a:lnSpc>
              <a:buFont typeface="Arial"/>
              <a:buChar char="•"/>
            </a:pPr>
            <a:r>
              <a:rPr lang="en-US" sz="1500" spc="-70">
                <a:solidFill>
                  <a:srgbClr val="4B3C3D"/>
                </a:solidFill>
                <a:latin typeface="Open Sauce"/>
                <a:ea typeface="Open Sauce"/>
                <a:cs typeface="Open Sauce"/>
                <a:sym typeface="Open Sauce"/>
              </a:rPr>
              <a:t>Compiles all collected spatial layers into a single, unified index for every individual H3 hexagon cell.</a:t>
            </a:r>
            <a:endParaRPr lang="en-US" sz="1500">
              <a:ea typeface="Calibri"/>
              <a:cs typeface="Calibri"/>
            </a:endParaRPr>
          </a:p>
          <a:p>
            <a:pPr algn="l">
              <a:lnSpc>
                <a:spcPts val="1960"/>
              </a:lnSpc>
            </a:pPr>
            <a:endParaRPr lang="en-US" sz="1500" spc="-70" dirty="0">
              <a:solidFill>
                <a:srgbClr val="4B3C3D"/>
              </a:solidFill>
              <a:latin typeface="Open Sauce"/>
              <a:ea typeface="Open Sauce"/>
              <a:cs typeface="Open Sauce"/>
            </a:endParaRPr>
          </a:p>
          <a:p>
            <a:pPr marL="302260" lvl="1" indent="-151130">
              <a:lnSpc>
                <a:spcPts val="1960"/>
              </a:lnSpc>
              <a:buFont typeface="Arial"/>
              <a:buChar char="•"/>
            </a:pPr>
            <a:r>
              <a:rPr lang="en-US" sz="1500" spc="-70">
                <a:solidFill>
                  <a:srgbClr val="4B3C3D"/>
                </a:solidFill>
                <a:latin typeface="Open Sauce"/>
                <a:ea typeface="Open Sauce"/>
                <a:cs typeface="Open Sauce"/>
                <a:sym typeface="Open Sauce"/>
              </a:rPr>
              <a:t>Output a single risk score; and calculates Feature Importance </a:t>
            </a:r>
            <a:r>
              <a:rPr lang="en-US" sz="1500" spc="-70" dirty="0">
                <a:solidFill>
                  <a:srgbClr val="4B3C3D"/>
                </a:solidFill>
                <a:latin typeface="Open Sauce"/>
                <a:ea typeface="Open Sauce"/>
                <a:cs typeface="Open Sauce"/>
                <a:sym typeface="Open Sauce"/>
              </a:rPr>
              <a:t>metrics.</a:t>
            </a:r>
            <a:endParaRPr lang="en-US" sz="1500" spc="-70" dirty="0">
              <a:solidFill>
                <a:srgbClr val="4B3C3D"/>
              </a:solidFill>
              <a:latin typeface="Open Sauce"/>
              <a:ea typeface="Open Sauce"/>
              <a:cs typeface="Open Sauce"/>
            </a:endParaRPr>
          </a:p>
          <a:p>
            <a:pPr algn="l">
              <a:lnSpc>
                <a:spcPts val="1960"/>
              </a:lnSpc>
            </a:pPr>
            <a:endParaRPr lang="en-US" sz="1500" spc="-70" dirty="0">
              <a:solidFill>
                <a:srgbClr val="4B3C3D"/>
              </a:solidFill>
              <a:latin typeface="Open Sauce"/>
              <a:ea typeface="Open Sauce"/>
              <a:cs typeface="Open Sauce"/>
            </a:endParaRPr>
          </a:p>
          <a:p>
            <a:pPr marL="302260" lvl="1" indent="-151130" algn="l">
              <a:lnSpc>
                <a:spcPts val="1960"/>
              </a:lnSpc>
              <a:buFont typeface="Arial"/>
              <a:buChar char="•"/>
            </a:pPr>
            <a:r>
              <a:rPr lang="en-US" sz="1500" spc="-70">
                <a:solidFill>
                  <a:srgbClr val="4B3C3D"/>
                </a:solidFill>
                <a:latin typeface="Open Sauce"/>
                <a:ea typeface="Open Sauce"/>
                <a:cs typeface="Open Sauce"/>
                <a:sym typeface="Open Sauce"/>
              </a:rPr>
              <a:t>It breaks down the exact percentage of why a specific hexagon is risky (e.g., 70% Slope, 20% Soil Type, 10% Rainfall).</a:t>
            </a:r>
            <a:endParaRPr lang="en-US" sz="1500" spc="-70">
              <a:solidFill>
                <a:srgbClr val="4B3C3D"/>
              </a:solidFill>
              <a:latin typeface="Open Sauce"/>
              <a:ea typeface="Open Sauce"/>
              <a:cs typeface="Open Sauce"/>
            </a:endParaRPr>
          </a:p>
        </p:txBody>
      </p:sp>
      <p:sp>
        <p:nvSpPr>
          <p:cNvPr id="11" name="TextBox 11"/>
          <p:cNvSpPr txBox="1"/>
          <p:nvPr/>
        </p:nvSpPr>
        <p:spPr>
          <a:xfrm>
            <a:off x="8832443" y="5534352"/>
            <a:ext cx="3217779" cy="240665"/>
          </a:xfrm>
          <a:prstGeom prst="rect">
            <a:avLst/>
          </a:prstGeom>
        </p:spPr>
        <p:txBody>
          <a:bodyPr lIns="0" tIns="0" rIns="0" bIns="0" rtlCol="0" anchor="t">
            <a:spAutoFit/>
          </a:bodyPr>
          <a:lstStyle/>
          <a:p>
            <a:pPr algn="l">
              <a:lnSpc>
                <a:spcPts val="1960"/>
              </a:lnSpc>
              <a:spcBef>
                <a:spcPct val="0"/>
              </a:spcBef>
            </a:pPr>
            <a:r>
              <a:rPr lang="en-US" sz="1600" b="1" spc="-70">
                <a:solidFill>
                  <a:srgbClr val="4B3C3D"/>
                </a:solidFill>
                <a:latin typeface="Open Sauce Bold"/>
                <a:ea typeface="Open Sauce Bold"/>
                <a:cs typeface="Open Sauce Bold"/>
                <a:sym typeface="Open Sauce Bold"/>
              </a:rPr>
              <a:t>Vulnerability layer</a:t>
            </a:r>
            <a:endParaRPr lang="en-US" sz="1600" b="1" spc="-70">
              <a:solidFill>
                <a:srgbClr val="4B3C3D"/>
              </a:solidFill>
              <a:latin typeface="Open Sauce Bold"/>
              <a:ea typeface="Open Sauce Bold"/>
              <a:cs typeface="Open Sauce Bold"/>
            </a:endParaRPr>
          </a:p>
        </p:txBody>
      </p:sp>
      <p:grpSp>
        <p:nvGrpSpPr>
          <p:cNvPr id="12" name="Group 12"/>
          <p:cNvGrpSpPr/>
          <p:nvPr/>
        </p:nvGrpSpPr>
        <p:grpSpPr>
          <a:xfrm>
            <a:off x="12930986" y="5387050"/>
            <a:ext cx="4328314" cy="4391424"/>
            <a:chOff x="0" y="0"/>
            <a:chExt cx="1139968" cy="1081330"/>
          </a:xfrm>
        </p:grpSpPr>
        <p:sp>
          <p:nvSpPr>
            <p:cNvPr id="13" name="Freeform 13"/>
            <p:cNvSpPr/>
            <p:nvPr/>
          </p:nvSpPr>
          <p:spPr>
            <a:xfrm>
              <a:off x="0" y="0"/>
              <a:ext cx="1139968" cy="1081330"/>
            </a:xfrm>
            <a:custGeom>
              <a:avLst/>
              <a:gdLst/>
              <a:ahLst/>
              <a:cxnLst/>
              <a:rect l="l" t="t" r="r" b="b"/>
              <a:pathLst>
                <a:path w="1139968" h="1081330">
                  <a:moveTo>
                    <a:pt x="44717" y="0"/>
                  </a:moveTo>
                  <a:lnTo>
                    <a:pt x="1095251" y="0"/>
                  </a:lnTo>
                  <a:cubicBezTo>
                    <a:pt x="1107110" y="0"/>
                    <a:pt x="1118484" y="4711"/>
                    <a:pt x="1126870" y="13097"/>
                  </a:cubicBezTo>
                  <a:cubicBezTo>
                    <a:pt x="1135256" y="21483"/>
                    <a:pt x="1139968" y="32857"/>
                    <a:pt x="1139968" y="44717"/>
                  </a:cubicBezTo>
                  <a:lnTo>
                    <a:pt x="1139968" y="1036613"/>
                  </a:lnTo>
                  <a:cubicBezTo>
                    <a:pt x="1139968" y="1048473"/>
                    <a:pt x="1135256" y="1059846"/>
                    <a:pt x="1126870" y="1068232"/>
                  </a:cubicBezTo>
                  <a:cubicBezTo>
                    <a:pt x="1118484" y="1076618"/>
                    <a:pt x="1107110" y="1081330"/>
                    <a:pt x="1095251" y="1081330"/>
                  </a:cubicBezTo>
                  <a:lnTo>
                    <a:pt x="44717" y="1081330"/>
                  </a:lnTo>
                  <a:cubicBezTo>
                    <a:pt x="32857" y="1081330"/>
                    <a:pt x="21483" y="1076618"/>
                    <a:pt x="13097" y="1068232"/>
                  </a:cubicBezTo>
                  <a:cubicBezTo>
                    <a:pt x="4711" y="1059846"/>
                    <a:pt x="0" y="1048473"/>
                    <a:pt x="0" y="1036613"/>
                  </a:cubicBezTo>
                  <a:lnTo>
                    <a:pt x="0" y="44717"/>
                  </a:lnTo>
                  <a:cubicBezTo>
                    <a:pt x="0" y="32857"/>
                    <a:pt x="4711" y="21483"/>
                    <a:pt x="13097" y="13097"/>
                  </a:cubicBezTo>
                  <a:cubicBezTo>
                    <a:pt x="21483" y="4711"/>
                    <a:pt x="32857" y="0"/>
                    <a:pt x="44717" y="0"/>
                  </a:cubicBezTo>
                  <a:close/>
                </a:path>
              </a:pathLst>
            </a:custGeom>
            <a:solidFill>
              <a:srgbClr val="B8C0BF"/>
            </a:solidFill>
          </p:spPr>
        </p:sp>
        <p:sp>
          <p:nvSpPr>
            <p:cNvPr id="14" name="TextBox 14"/>
            <p:cNvSpPr txBox="1"/>
            <p:nvPr/>
          </p:nvSpPr>
          <p:spPr>
            <a:xfrm>
              <a:off x="0" y="-28575"/>
              <a:ext cx="1139968" cy="1109905"/>
            </a:xfrm>
            <a:prstGeom prst="rect">
              <a:avLst/>
            </a:prstGeom>
          </p:spPr>
          <p:txBody>
            <a:bodyPr lIns="50800" tIns="50800" rIns="50800" bIns="50800" rtlCol="0" anchor="ctr"/>
            <a:lstStyle/>
            <a:p>
              <a:pPr algn="ctr">
                <a:lnSpc>
                  <a:spcPts val="1960"/>
                </a:lnSpc>
              </a:pPr>
              <a:endParaRPr/>
            </a:p>
          </p:txBody>
        </p:sp>
      </p:grpSp>
      <p:sp>
        <p:nvSpPr>
          <p:cNvPr id="15" name="TextBox 15"/>
          <p:cNvSpPr txBox="1"/>
          <p:nvPr/>
        </p:nvSpPr>
        <p:spPr>
          <a:xfrm>
            <a:off x="13486253" y="5529925"/>
            <a:ext cx="3355676" cy="239489"/>
          </a:xfrm>
          <a:prstGeom prst="rect">
            <a:avLst/>
          </a:prstGeom>
        </p:spPr>
        <p:txBody>
          <a:bodyPr lIns="0" tIns="0" rIns="0" bIns="0" rtlCol="0" anchor="t">
            <a:spAutoFit/>
          </a:bodyPr>
          <a:lstStyle/>
          <a:p>
            <a:pPr algn="l">
              <a:lnSpc>
                <a:spcPts val="1960"/>
              </a:lnSpc>
              <a:spcBef>
                <a:spcPct val="0"/>
              </a:spcBef>
            </a:pPr>
            <a:r>
              <a:rPr lang="en-US" sz="1600" b="1" spc="-70">
                <a:solidFill>
                  <a:srgbClr val="4B3C3D"/>
                </a:solidFill>
                <a:latin typeface="Open Sauce Bold"/>
                <a:ea typeface="Open Sauce Bold"/>
                <a:cs typeface="Open Sauce Bold"/>
                <a:sym typeface="Open Sauce Bold"/>
              </a:rPr>
              <a:t>Mitigation layer</a:t>
            </a:r>
            <a:endParaRPr lang="en-US" sz="1600" b="1" spc="-70">
              <a:solidFill>
                <a:srgbClr val="4B3C3D"/>
              </a:solidFill>
              <a:latin typeface="Open Sauce Bold"/>
              <a:ea typeface="Open Sauce Bold"/>
              <a:cs typeface="Open Sauce Bold"/>
            </a:endParaRPr>
          </a:p>
        </p:txBody>
      </p:sp>
      <p:grpSp>
        <p:nvGrpSpPr>
          <p:cNvPr id="16" name="Group 16"/>
          <p:cNvGrpSpPr/>
          <p:nvPr/>
        </p:nvGrpSpPr>
        <p:grpSpPr>
          <a:xfrm>
            <a:off x="8272919" y="1028700"/>
            <a:ext cx="1742162" cy="689872"/>
            <a:chOff x="0" y="0"/>
            <a:chExt cx="458841" cy="181695"/>
          </a:xfrm>
        </p:grpSpPr>
        <p:sp>
          <p:nvSpPr>
            <p:cNvPr id="17" name="Freeform 17"/>
            <p:cNvSpPr/>
            <p:nvPr/>
          </p:nvSpPr>
          <p:spPr>
            <a:xfrm>
              <a:off x="0" y="0"/>
              <a:ext cx="458841" cy="181695"/>
            </a:xfrm>
            <a:custGeom>
              <a:avLst/>
              <a:gdLst/>
              <a:ahLst/>
              <a:cxnLst/>
              <a:rect l="l" t="t" r="r" b="b"/>
              <a:pathLst>
                <a:path w="458841" h="181695">
                  <a:moveTo>
                    <a:pt x="90847" y="0"/>
                  </a:moveTo>
                  <a:lnTo>
                    <a:pt x="367994" y="0"/>
                  </a:lnTo>
                  <a:cubicBezTo>
                    <a:pt x="392088" y="0"/>
                    <a:pt x="415195" y="9571"/>
                    <a:pt x="432232" y="26609"/>
                  </a:cubicBezTo>
                  <a:cubicBezTo>
                    <a:pt x="449270" y="43646"/>
                    <a:pt x="458841" y="66753"/>
                    <a:pt x="458841" y="90847"/>
                  </a:cubicBezTo>
                  <a:lnTo>
                    <a:pt x="458841" y="90847"/>
                  </a:lnTo>
                  <a:cubicBezTo>
                    <a:pt x="458841" y="141021"/>
                    <a:pt x="418167" y="181695"/>
                    <a:pt x="367994" y="181695"/>
                  </a:cubicBezTo>
                  <a:lnTo>
                    <a:pt x="90847" y="181695"/>
                  </a:lnTo>
                  <a:cubicBezTo>
                    <a:pt x="66753" y="181695"/>
                    <a:pt x="43646" y="172123"/>
                    <a:pt x="26609" y="155086"/>
                  </a:cubicBezTo>
                  <a:cubicBezTo>
                    <a:pt x="9571" y="138049"/>
                    <a:pt x="0" y="114942"/>
                    <a:pt x="0" y="90847"/>
                  </a:cubicBezTo>
                  <a:lnTo>
                    <a:pt x="0" y="90847"/>
                  </a:lnTo>
                  <a:cubicBezTo>
                    <a:pt x="0" y="66753"/>
                    <a:pt x="9571" y="43646"/>
                    <a:pt x="26609" y="26609"/>
                  </a:cubicBezTo>
                  <a:cubicBezTo>
                    <a:pt x="43646" y="9571"/>
                    <a:pt x="66753" y="0"/>
                    <a:pt x="90847" y="0"/>
                  </a:cubicBezTo>
                  <a:close/>
                </a:path>
              </a:pathLst>
            </a:custGeom>
            <a:solidFill>
              <a:srgbClr val="B8C0BF"/>
            </a:solidFill>
          </p:spPr>
        </p:sp>
        <p:sp>
          <p:nvSpPr>
            <p:cNvPr id="18" name="TextBox 18"/>
            <p:cNvSpPr txBox="1"/>
            <p:nvPr/>
          </p:nvSpPr>
          <p:spPr>
            <a:xfrm>
              <a:off x="0" y="-28575"/>
              <a:ext cx="458841" cy="210270"/>
            </a:xfrm>
            <a:prstGeom prst="rect">
              <a:avLst/>
            </a:prstGeom>
          </p:spPr>
          <p:txBody>
            <a:bodyPr lIns="50800" tIns="50800" rIns="50800" bIns="50800" rtlCol="0" anchor="ctr"/>
            <a:lstStyle/>
            <a:p>
              <a:pPr algn="ctr">
                <a:lnSpc>
                  <a:spcPts val="2240"/>
                </a:lnSpc>
              </a:pPr>
              <a:endParaRPr/>
            </a:p>
          </p:txBody>
        </p:sp>
      </p:grpSp>
      <p:sp>
        <p:nvSpPr>
          <p:cNvPr id="19" name="Freeform 19"/>
          <p:cNvSpPr/>
          <p:nvPr/>
        </p:nvSpPr>
        <p:spPr>
          <a:xfrm>
            <a:off x="8507350" y="1155751"/>
            <a:ext cx="154386" cy="183001"/>
          </a:xfrm>
          <a:custGeom>
            <a:avLst/>
            <a:gdLst/>
            <a:ahLst/>
            <a:cxnLst/>
            <a:rect l="l" t="t" r="r" b="b"/>
            <a:pathLst>
              <a:path w="154386" h="183001">
                <a:moveTo>
                  <a:pt x="0" y="0"/>
                </a:moveTo>
                <a:lnTo>
                  <a:pt x="154386" y="0"/>
                </a:lnTo>
                <a:lnTo>
                  <a:pt x="154386" y="183000"/>
                </a:lnTo>
                <a:lnTo>
                  <a:pt x="0" y="1830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20" name="TextBox 20"/>
          <p:cNvSpPr txBox="1"/>
          <p:nvPr/>
        </p:nvSpPr>
        <p:spPr>
          <a:xfrm>
            <a:off x="8661736" y="1112631"/>
            <a:ext cx="1118915" cy="488315"/>
          </a:xfrm>
          <a:prstGeom prst="rect">
            <a:avLst/>
          </a:prstGeom>
        </p:spPr>
        <p:txBody>
          <a:bodyPr lIns="0" tIns="0" rIns="0" bIns="0" rtlCol="0" anchor="t">
            <a:spAutoFit/>
          </a:bodyPr>
          <a:lstStyle/>
          <a:p>
            <a:pPr algn="r">
              <a:lnSpc>
                <a:spcPts val="1960"/>
              </a:lnSpc>
              <a:spcBef>
                <a:spcPct val="0"/>
              </a:spcBef>
            </a:pPr>
            <a:r>
              <a:rPr lang="en-US" sz="1400" spc="-70">
                <a:solidFill>
                  <a:srgbClr val="4B3C3D"/>
                </a:solidFill>
                <a:latin typeface="Open Sauce"/>
                <a:ea typeface="Open Sauce"/>
                <a:cs typeface="Open Sauce"/>
                <a:sym typeface="Open Sauce"/>
              </a:rPr>
              <a:t>Methodology framing</a:t>
            </a:r>
          </a:p>
        </p:txBody>
      </p:sp>
      <p:sp>
        <p:nvSpPr>
          <p:cNvPr id="21" name="TextBox 21"/>
          <p:cNvSpPr txBox="1"/>
          <p:nvPr/>
        </p:nvSpPr>
        <p:spPr>
          <a:xfrm>
            <a:off x="13486253" y="5923940"/>
            <a:ext cx="3217779" cy="3827330"/>
          </a:xfrm>
          <a:prstGeom prst="rect">
            <a:avLst/>
          </a:prstGeom>
        </p:spPr>
        <p:txBody>
          <a:bodyPr lIns="0" tIns="0" rIns="0" bIns="0" rtlCol="0" anchor="t">
            <a:spAutoFit/>
          </a:bodyPr>
          <a:lstStyle/>
          <a:p>
            <a:pPr marL="302260" lvl="1" indent="-151130" algn="l">
              <a:lnSpc>
                <a:spcPts val="1960"/>
              </a:lnSpc>
              <a:buFont typeface="Arial"/>
              <a:buChar char="•"/>
            </a:pPr>
            <a:r>
              <a:rPr lang="en-US" sz="1500" spc="-70">
                <a:solidFill>
                  <a:srgbClr val="4B3C3D"/>
                </a:solidFill>
                <a:latin typeface="Open Sauce"/>
                <a:ea typeface="Open Sauce"/>
                <a:cs typeface="Open Sauce"/>
                <a:sym typeface="Open Sauce"/>
              </a:rPr>
              <a:t>The system ingests the Risk Index and the Feature Importances generated by the vulnerability layer.</a:t>
            </a:r>
            <a:endParaRPr lang="en-US" sz="1500" spc="-70" dirty="0">
              <a:solidFill>
                <a:srgbClr val="4B3C3D"/>
              </a:solidFill>
              <a:latin typeface="Open Sauce"/>
              <a:ea typeface="Open Sauce"/>
              <a:cs typeface="Open Sauce"/>
            </a:endParaRPr>
          </a:p>
          <a:p>
            <a:pPr algn="l">
              <a:lnSpc>
                <a:spcPts val="1960"/>
              </a:lnSpc>
            </a:pPr>
            <a:endParaRPr lang="en-US" sz="1500" spc="-70" dirty="0">
              <a:solidFill>
                <a:srgbClr val="4B3C3D"/>
              </a:solidFill>
              <a:latin typeface="Open Sauce"/>
              <a:ea typeface="Open Sauce"/>
              <a:cs typeface="Open Sauce"/>
            </a:endParaRPr>
          </a:p>
          <a:p>
            <a:pPr marL="302260" lvl="1" indent="-151130" algn="l">
              <a:lnSpc>
                <a:spcPts val="1960"/>
              </a:lnSpc>
              <a:buFont typeface="Arial"/>
              <a:buChar char="•"/>
            </a:pPr>
            <a:r>
              <a:rPr lang="en-US" sz="1500" spc="-70">
                <a:solidFill>
                  <a:srgbClr val="4B3C3D"/>
                </a:solidFill>
                <a:latin typeface="Open Sauce"/>
                <a:ea typeface="Open Sauce"/>
                <a:cs typeface="Open Sauce"/>
                <a:sym typeface="Open Sauce"/>
              </a:rPr>
              <a:t>Rather than giving generic warnings, it cross-references the hazard profile of the hexagon (e.g., high soil acidity or steep slope).</a:t>
            </a:r>
            <a:endParaRPr lang="en-US" sz="1500" spc="-70" dirty="0">
              <a:solidFill>
                <a:srgbClr val="4B3C3D"/>
              </a:solidFill>
              <a:latin typeface="Open Sauce"/>
              <a:ea typeface="Open Sauce"/>
              <a:cs typeface="Open Sauce"/>
            </a:endParaRPr>
          </a:p>
          <a:p>
            <a:pPr algn="l">
              <a:lnSpc>
                <a:spcPts val="1960"/>
              </a:lnSpc>
            </a:pPr>
            <a:endParaRPr lang="en-US" sz="1500" spc="-70" dirty="0">
              <a:solidFill>
                <a:srgbClr val="4B3C3D"/>
              </a:solidFill>
              <a:latin typeface="Open Sauce"/>
              <a:ea typeface="Open Sauce"/>
              <a:cs typeface="Open Sauce"/>
            </a:endParaRPr>
          </a:p>
          <a:p>
            <a:pPr marL="302260" lvl="1" indent="-151130" algn="l">
              <a:lnSpc>
                <a:spcPts val="1960"/>
              </a:lnSpc>
              <a:buFont typeface="Arial"/>
              <a:buChar char="•"/>
            </a:pPr>
            <a:r>
              <a:rPr lang="en-US" sz="1500" spc="-70">
                <a:solidFill>
                  <a:srgbClr val="4B3C3D"/>
                </a:solidFill>
                <a:latin typeface="Open Sauce"/>
                <a:ea typeface="Open Sauce"/>
                <a:cs typeface="Open Sauce"/>
                <a:sym typeface="Open Sauce"/>
              </a:rPr>
              <a:t>The system automatically recommends specific </a:t>
            </a:r>
            <a:r>
              <a:rPr lang="en-US" sz="1500" b="1" spc="-70">
                <a:solidFill>
                  <a:srgbClr val="4B3C3D"/>
                </a:solidFill>
                <a:latin typeface="Open Sauce Bold"/>
                <a:ea typeface="Open Sauce Bold"/>
                <a:cs typeface="Open Sauce Bold"/>
                <a:sym typeface="Open Sauce Bold"/>
              </a:rPr>
              <a:t>patented </a:t>
            </a:r>
            <a:r>
              <a:rPr lang="en-US" sz="1500" spc="-70">
                <a:solidFill>
                  <a:srgbClr val="4B3C3D"/>
                </a:solidFill>
                <a:latin typeface="Open Sauce"/>
                <a:ea typeface="Open Sauce"/>
                <a:cs typeface="Open Sauce"/>
                <a:sym typeface="Open Sauce"/>
              </a:rPr>
              <a:t>engineering solutions tailored precisely to mitigate the risks of that area.</a:t>
            </a:r>
            <a:endParaRPr lang="en-US" sz="1500" spc="-70">
              <a:solidFill>
                <a:srgbClr val="4B3C3D"/>
              </a:solidFill>
              <a:latin typeface="Open Sauce"/>
              <a:ea typeface="Open Sauce"/>
              <a:cs typeface="Open Sauce"/>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22992" y="994139"/>
            <a:ext cx="7050896" cy="3423805"/>
            <a:chOff x="0" y="0"/>
            <a:chExt cx="2396152" cy="1163534"/>
          </a:xfrm>
        </p:grpSpPr>
        <p:sp>
          <p:nvSpPr>
            <p:cNvPr id="3" name="Freeform 3"/>
            <p:cNvSpPr/>
            <p:nvPr/>
          </p:nvSpPr>
          <p:spPr>
            <a:xfrm>
              <a:off x="0" y="0"/>
              <a:ext cx="2396152" cy="1163534"/>
            </a:xfrm>
            <a:custGeom>
              <a:avLst/>
              <a:gdLst/>
              <a:ahLst/>
              <a:cxnLst/>
              <a:rect l="l" t="t" r="r" b="b"/>
              <a:pathLst>
                <a:path w="2396152" h="1163534">
                  <a:moveTo>
                    <a:pt x="27450" y="0"/>
                  </a:moveTo>
                  <a:lnTo>
                    <a:pt x="2368702" y="0"/>
                  </a:lnTo>
                  <a:cubicBezTo>
                    <a:pt x="2375982" y="0"/>
                    <a:pt x="2382964" y="2892"/>
                    <a:pt x="2388112" y="8040"/>
                  </a:cubicBezTo>
                  <a:cubicBezTo>
                    <a:pt x="2393260" y="13188"/>
                    <a:pt x="2396152" y="20170"/>
                    <a:pt x="2396152" y="27450"/>
                  </a:cubicBezTo>
                  <a:lnTo>
                    <a:pt x="2396152" y="1136084"/>
                  </a:lnTo>
                  <a:cubicBezTo>
                    <a:pt x="2396152" y="1143364"/>
                    <a:pt x="2393260" y="1150346"/>
                    <a:pt x="2388112" y="1155494"/>
                  </a:cubicBezTo>
                  <a:cubicBezTo>
                    <a:pt x="2382964" y="1160642"/>
                    <a:pt x="2375982" y="1163534"/>
                    <a:pt x="2368702" y="1163534"/>
                  </a:cubicBezTo>
                  <a:lnTo>
                    <a:pt x="27450" y="1163534"/>
                  </a:lnTo>
                  <a:cubicBezTo>
                    <a:pt x="20170" y="1163534"/>
                    <a:pt x="13188" y="1160642"/>
                    <a:pt x="8040" y="1155494"/>
                  </a:cubicBezTo>
                  <a:cubicBezTo>
                    <a:pt x="2892" y="1150346"/>
                    <a:pt x="0" y="1143364"/>
                    <a:pt x="0" y="1136084"/>
                  </a:cubicBezTo>
                  <a:lnTo>
                    <a:pt x="0" y="27450"/>
                  </a:lnTo>
                  <a:cubicBezTo>
                    <a:pt x="0" y="20170"/>
                    <a:pt x="2892" y="13188"/>
                    <a:pt x="8040" y="8040"/>
                  </a:cubicBezTo>
                  <a:cubicBezTo>
                    <a:pt x="13188" y="2892"/>
                    <a:pt x="20170" y="0"/>
                    <a:pt x="27450" y="0"/>
                  </a:cubicBezTo>
                  <a:close/>
                </a:path>
              </a:pathLst>
            </a:custGeom>
            <a:solidFill>
              <a:srgbClr val="B8C0BF"/>
            </a:solidFill>
          </p:spPr>
        </p:sp>
        <p:sp>
          <p:nvSpPr>
            <p:cNvPr id="4" name="TextBox 4"/>
            <p:cNvSpPr txBox="1"/>
            <p:nvPr/>
          </p:nvSpPr>
          <p:spPr>
            <a:xfrm>
              <a:off x="0" y="-28575"/>
              <a:ext cx="2396152" cy="1192109"/>
            </a:xfrm>
            <a:prstGeom prst="rect">
              <a:avLst/>
            </a:prstGeom>
          </p:spPr>
          <p:txBody>
            <a:bodyPr lIns="50800" tIns="50800" rIns="50800" bIns="50800" rtlCol="0" anchor="ctr"/>
            <a:lstStyle/>
            <a:p>
              <a:pPr algn="ctr">
                <a:lnSpc>
                  <a:spcPts val="1960"/>
                </a:lnSpc>
              </a:pPr>
              <a:endParaRPr/>
            </a:p>
          </p:txBody>
        </p:sp>
      </p:grpSp>
      <p:grpSp>
        <p:nvGrpSpPr>
          <p:cNvPr id="5" name="Group 5"/>
          <p:cNvGrpSpPr/>
          <p:nvPr/>
        </p:nvGrpSpPr>
        <p:grpSpPr>
          <a:xfrm>
            <a:off x="10704687" y="1451392"/>
            <a:ext cx="3074362" cy="662031"/>
            <a:chOff x="0" y="0"/>
            <a:chExt cx="715523" cy="154080"/>
          </a:xfrm>
        </p:grpSpPr>
        <p:sp>
          <p:nvSpPr>
            <p:cNvPr id="6" name="Freeform 6"/>
            <p:cNvSpPr/>
            <p:nvPr/>
          </p:nvSpPr>
          <p:spPr>
            <a:xfrm>
              <a:off x="0" y="0"/>
              <a:ext cx="715523" cy="154080"/>
            </a:xfrm>
            <a:custGeom>
              <a:avLst/>
              <a:gdLst/>
              <a:ahLst/>
              <a:cxnLst/>
              <a:rect l="l" t="t" r="r" b="b"/>
              <a:pathLst>
                <a:path w="715523" h="154080">
                  <a:moveTo>
                    <a:pt x="50364" y="0"/>
                  </a:moveTo>
                  <a:lnTo>
                    <a:pt x="665159" y="0"/>
                  </a:lnTo>
                  <a:cubicBezTo>
                    <a:pt x="692974" y="0"/>
                    <a:pt x="715523" y="22549"/>
                    <a:pt x="715523" y="50364"/>
                  </a:cubicBezTo>
                  <a:lnTo>
                    <a:pt x="715523" y="103716"/>
                  </a:lnTo>
                  <a:cubicBezTo>
                    <a:pt x="715523" y="117073"/>
                    <a:pt x="710217" y="129884"/>
                    <a:pt x="700772" y="139329"/>
                  </a:cubicBezTo>
                  <a:cubicBezTo>
                    <a:pt x="691327" y="148774"/>
                    <a:pt x="678516" y="154080"/>
                    <a:pt x="665159" y="154080"/>
                  </a:cubicBezTo>
                  <a:lnTo>
                    <a:pt x="50364" y="154080"/>
                  </a:lnTo>
                  <a:cubicBezTo>
                    <a:pt x="37007" y="154080"/>
                    <a:pt x="24197" y="148774"/>
                    <a:pt x="14751" y="139329"/>
                  </a:cubicBezTo>
                  <a:cubicBezTo>
                    <a:pt x="5306" y="129884"/>
                    <a:pt x="0" y="117073"/>
                    <a:pt x="0" y="103716"/>
                  </a:cubicBezTo>
                  <a:lnTo>
                    <a:pt x="0" y="50364"/>
                  </a:lnTo>
                  <a:cubicBezTo>
                    <a:pt x="0" y="37007"/>
                    <a:pt x="5306" y="24197"/>
                    <a:pt x="14751" y="14751"/>
                  </a:cubicBezTo>
                  <a:cubicBezTo>
                    <a:pt x="24197" y="5306"/>
                    <a:pt x="37007" y="0"/>
                    <a:pt x="50364" y="0"/>
                  </a:cubicBezTo>
                  <a:close/>
                </a:path>
              </a:pathLst>
            </a:custGeom>
            <a:blipFill>
              <a:blip r:embed="rId3"/>
              <a:stretch>
                <a:fillRect t="-72087" b="-72087"/>
              </a:stretch>
            </a:blipFill>
          </p:spPr>
        </p:sp>
      </p:grpSp>
      <p:grpSp>
        <p:nvGrpSpPr>
          <p:cNvPr id="7" name="Group 7"/>
          <p:cNvGrpSpPr/>
          <p:nvPr/>
        </p:nvGrpSpPr>
        <p:grpSpPr>
          <a:xfrm>
            <a:off x="13779049" y="2499251"/>
            <a:ext cx="3074362" cy="715029"/>
            <a:chOff x="0" y="0"/>
            <a:chExt cx="715523" cy="166415"/>
          </a:xfrm>
        </p:grpSpPr>
        <p:sp>
          <p:nvSpPr>
            <p:cNvPr id="8" name="Freeform 8"/>
            <p:cNvSpPr/>
            <p:nvPr/>
          </p:nvSpPr>
          <p:spPr>
            <a:xfrm>
              <a:off x="0" y="0"/>
              <a:ext cx="715523" cy="166415"/>
            </a:xfrm>
            <a:custGeom>
              <a:avLst/>
              <a:gdLst/>
              <a:ahLst/>
              <a:cxnLst/>
              <a:rect l="l" t="t" r="r" b="b"/>
              <a:pathLst>
                <a:path w="715523" h="166415">
                  <a:moveTo>
                    <a:pt x="50364" y="0"/>
                  </a:moveTo>
                  <a:lnTo>
                    <a:pt x="665159" y="0"/>
                  </a:lnTo>
                  <a:cubicBezTo>
                    <a:pt x="692974" y="0"/>
                    <a:pt x="715523" y="22549"/>
                    <a:pt x="715523" y="50364"/>
                  </a:cubicBezTo>
                  <a:lnTo>
                    <a:pt x="715523" y="116050"/>
                  </a:lnTo>
                  <a:cubicBezTo>
                    <a:pt x="715523" y="129408"/>
                    <a:pt x="710217" y="142218"/>
                    <a:pt x="700772" y="151664"/>
                  </a:cubicBezTo>
                  <a:cubicBezTo>
                    <a:pt x="691327" y="161109"/>
                    <a:pt x="678516" y="166415"/>
                    <a:pt x="665159" y="166415"/>
                  </a:cubicBezTo>
                  <a:lnTo>
                    <a:pt x="50364" y="166415"/>
                  </a:lnTo>
                  <a:cubicBezTo>
                    <a:pt x="22549" y="166415"/>
                    <a:pt x="0" y="143866"/>
                    <a:pt x="0" y="116050"/>
                  </a:cubicBezTo>
                  <a:lnTo>
                    <a:pt x="0" y="50364"/>
                  </a:lnTo>
                  <a:cubicBezTo>
                    <a:pt x="0" y="37007"/>
                    <a:pt x="5306" y="24197"/>
                    <a:pt x="14751" y="14751"/>
                  </a:cubicBezTo>
                  <a:cubicBezTo>
                    <a:pt x="24197" y="5306"/>
                    <a:pt x="37007" y="0"/>
                    <a:pt x="50364" y="0"/>
                  </a:cubicBezTo>
                  <a:close/>
                </a:path>
              </a:pathLst>
            </a:custGeom>
            <a:blipFill>
              <a:blip r:embed="rId4"/>
              <a:stretch>
                <a:fillRect t="-76200" b="-76200"/>
              </a:stretch>
            </a:blipFill>
          </p:spPr>
        </p:sp>
      </p:grpSp>
      <p:grpSp>
        <p:nvGrpSpPr>
          <p:cNvPr id="9" name="Group 9"/>
          <p:cNvGrpSpPr/>
          <p:nvPr/>
        </p:nvGrpSpPr>
        <p:grpSpPr>
          <a:xfrm>
            <a:off x="10704687" y="3528013"/>
            <a:ext cx="3074362" cy="698536"/>
            <a:chOff x="0" y="0"/>
            <a:chExt cx="715523" cy="162576"/>
          </a:xfrm>
        </p:grpSpPr>
        <p:sp>
          <p:nvSpPr>
            <p:cNvPr id="10" name="Freeform 10"/>
            <p:cNvSpPr/>
            <p:nvPr/>
          </p:nvSpPr>
          <p:spPr>
            <a:xfrm>
              <a:off x="0" y="0"/>
              <a:ext cx="715523" cy="162576"/>
            </a:xfrm>
            <a:custGeom>
              <a:avLst/>
              <a:gdLst/>
              <a:ahLst/>
              <a:cxnLst/>
              <a:rect l="l" t="t" r="r" b="b"/>
              <a:pathLst>
                <a:path w="715523" h="162576">
                  <a:moveTo>
                    <a:pt x="50364" y="0"/>
                  </a:moveTo>
                  <a:lnTo>
                    <a:pt x="665159" y="0"/>
                  </a:lnTo>
                  <a:cubicBezTo>
                    <a:pt x="692974" y="0"/>
                    <a:pt x="715523" y="22549"/>
                    <a:pt x="715523" y="50364"/>
                  </a:cubicBezTo>
                  <a:lnTo>
                    <a:pt x="715523" y="112212"/>
                  </a:lnTo>
                  <a:cubicBezTo>
                    <a:pt x="715523" y="125569"/>
                    <a:pt x="710217" y="138380"/>
                    <a:pt x="700772" y="147825"/>
                  </a:cubicBezTo>
                  <a:cubicBezTo>
                    <a:pt x="691327" y="157270"/>
                    <a:pt x="678516" y="162576"/>
                    <a:pt x="665159" y="162576"/>
                  </a:cubicBezTo>
                  <a:lnTo>
                    <a:pt x="50364" y="162576"/>
                  </a:lnTo>
                  <a:cubicBezTo>
                    <a:pt x="37007" y="162576"/>
                    <a:pt x="24197" y="157270"/>
                    <a:pt x="14751" y="147825"/>
                  </a:cubicBezTo>
                  <a:cubicBezTo>
                    <a:pt x="5306" y="138380"/>
                    <a:pt x="0" y="125569"/>
                    <a:pt x="0" y="112212"/>
                  </a:cubicBezTo>
                  <a:lnTo>
                    <a:pt x="0" y="50364"/>
                  </a:lnTo>
                  <a:cubicBezTo>
                    <a:pt x="0" y="37007"/>
                    <a:pt x="5306" y="24197"/>
                    <a:pt x="14751" y="14751"/>
                  </a:cubicBezTo>
                  <a:cubicBezTo>
                    <a:pt x="24197" y="5306"/>
                    <a:pt x="37007" y="0"/>
                    <a:pt x="50364" y="0"/>
                  </a:cubicBezTo>
                  <a:close/>
                </a:path>
              </a:pathLst>
            </a:custGeom>
            <a:blipFill>
              <a:blip r:embed="rId5"/>
              <a:stretch>
                <a:fillRect t="-141029" b="-273143"/>
              </a:stretch>
            </a:blipFill>
          </p:spPr>
        </p:sp>
      </p:grpSp>
      <p:grpSp>
        <p:nvGrpSpPr>
          <p:cNvPr id="11" name="Group 11"/>
          <p:cNvGrpSpPr/>
          <p:nvPr/>
        </p:nvGrpSpPr>
        <p:grpSpPr>
          <a:xfrm>
            <a:off x="1043288" y="994139"/>
            <a:ext cx="7050896" cy="3423805"/>
            <a:chOff x="0" y="0"/>
            <a:chExt cx="1271794" cy="617563"/>
          </a:xfrm>
        </p:grpSpPr>
        <p:sp>
          <p:nvSpPr>
            <p:cNvPr id="12" name="Freeform 12"/>
            <p:cNvSpPr/>
            <p:nvPr/>
          </p:nvSpPr>
          <p:spPr>
            <a:xfrm>
              <a:off x="0" y="0"/>
              <a:ext cx="1271794" cy="617563"/>
            </a:xfrm>
            <a:custGeom>
              <a:avLst/>
              <a:gdLst/>
              <a:ahLst/>
              <a:cxnLst/>
              <a:rect l="l" t="t" r="r" b="b"/>
              <a:pathLst>
                <a:path w="1271794" h="617563">
                  <a:moveTo>
                    <a:pt x="21960" y="0"/>
                  </a:moveTo>
                  <a:lnTo>
                    <a:pt x="1249834" y="0"/>
                  </a:lnTo>
                  <a:cubicBezTo>
                    <a:pt x="1261962" y="0"/>
                    <a:pt x="1271794" y="9832"/>
                    <a:pt x="1271794" y="21960"/>
                  </a:cubicBezTo>
                  <a:lnTo>
                    <a:pt x="1271794" y="595603"/>
                  </a:lnTo>
                  <a:cubicBezTo>
                    <a:pt x="1271794" y="607731"/>
                    <a:pt x="1261962" y="617563"/>
                    <a:pt x="1249834" y="617563"/>
                  </a:cubicBezTo>
                  <a:lnTo>
                    <a:pt x="21960" y="617563"/>
                  </a:lnTo>
                  <a:cubicBezTo>
                    <a:pt x="9832" y="617563"/>
                    <a:pt x="0" y="607731"/>
                    <a:pt x="0" y="595603"/>
                  </a:cubicBezTo>
                  <a:lnTo>
                    <a:pt x="0" y="21960"/>
                  </a:lnTo>
                  <a:cubicBezTo>
                    <a:pt x="0" y="9832"/>
                    <a:pt x="9832" y="0"/>
                    <a:pt x="21960" y="0"/>
                  </a:cubicBezTo>
                  <a:close/>
                </a:path>
              </a:pathLst>
            </a:custGeom>
            <a:blipFill>
              <a:blip r:embed="rId6"/>
              <a:stretch>
                <a:fillRect t="-86201" b="-35887"/>
              </a:stretch>
            </a:blipFill>
          </p:spPr>
        </p:sp>
      </p:grpSp>
      <p:grpSp>
        <p:nvGrpSpPr>
          <p:cNvPr id="13" name="Group 13"/>
          <p:cNvGrpSpPr/>
          <p:nvPr/>
        </p:nvGrpSpPr>
        <p:grpSpPr>
          <a:xfrm>
            <a:off x="13779049" y="1451392"/>
            <a:ext cx="3074362" cy="662031"/>
            <a:chOff x="0" y="0"/>
            <a:chExt cx="715523" cy="154080"/>
          </a:xfrm>
        </p:grpSpPr>
        <p:sp>
          <p:nvSpPr>
            <p:cNvPr id="14" name="Freeform 14"/>
            <p:cNvSpPr/>
            <p:nvPr/>
          </p:nvSpPr>
          <p:spPr>
            <a:xfrm>
              <a:off x="0" y="0"/>
              <a:ext cx="715523" cy="154080"/>
            </a:xfrm>
            <a:custGeom>
              <a:avLst/>
              <a:gdLst/>
              <a:ahLst/>
              <a:cxnLst/>
              <a:rect l="l" t="t" r="r" b="b"/>
              <a:pathLst>
                <a:path w="715523" h="154080">
                  <a:moveTo>
                    <a:pt x="50364" y="0"/>
                  </a:moveTo>
                  <a:lnTo>
                    <a:pt x="665159" y="0"/>
                  </a:lnTo>
                  <a:cubicBezTo>
                    <a:pt x="692974" y="0"/>
                    <a:pt x="715523" y="22549"/>
                    <a:pt x="715523" y="50364"/>
                  </a:cubicBezTo>
                  <a:lnTo>
                    <a:pt x="715523" y="103716"/>
                  </a:lnTo>
                  <a:cubicBezTo>
                    <a:pt x="715523" y="117073"/>
                    <a:pt x="710217" y="129884"/>
                    <a:pt x="700772" y="139329"/>
                  </a:cubicBezTo>
                  <a:cubicBezTo>
                    <a:pt x="691327" y="148774"/>
                    <a:pt x="678516" y="154080"/>
                    <a:pt x="665159" y="154080"/>
                  </a:cubicBezTo>
                  <a:lnTo>
                    <a:pt x="50364" y="154080"/>
                  </a:lnTo>
                  <a:cubicBezTo>
                    <a:pt x="37007" y="154080"/>
                    <a:pt x="24197" y="148774"/>
                    <a:pt x="14751" y="139329"/>
                  </a:cubicBezTo>
                  <a:cubicBezTo>
                    <a:pt x="5306" y="129884"/>
                    <a:pt x="0" y="117073"/>
                    <a:pt x="0" y="103716"/>
                  </a:cubicBezTo>
                  <a:lnTo>
                    <a:pt x="0" y="50364"/>
                  </a:lnTo>
                  <a:cubicBezTo>
                    <a:pt x="0" y="37007"/>
                    <a:pt x="5306" y="24197"/>
                    <a:pt x="14751" y="14751"/>
                  </a:cubicBezTo>
                  <a:cubicBezTo>
                    <a:pt x="24197" y="5306"/>
                    <a:pt x="37007" y="0"/>
                    <a:pt x="50364" y="0"/>
                  </a:cubicBezTo>
                  <a:close/>
                </a:path>
              </a:pathLst>
            </a:custGeom>
            <a:blipFill>
              <a:blip r:embed="rId7"/>
              <a:stretch>
                <a:fillRect t="-19827" b="-19827"/>
              </a:stretch>
            </a:blipFill>
          </p:spPr>
        </p:sp>
      </p:grpSp>
      <p:grpSp>
        <p:nvGrpSpPr>
          <p:cNvPr id="15" name="Group 15"/>
          <p:cNvGrpSpPr/>
          <p:nvPr/>
        </p:nvGrpSpPr>
        <p:grpSpPr>
          <a:xfrm>
            <a:off x="10704687" y="2507775"/>
            <a:ext cx="3074362" cy="715029"/>
            <a:chOff x="0" y="0"/>
            <a:chExt cx="715523" cy="166415"/>
          </a:xfrm>
        </p:grpSpPr>
        <p:sp>
          <p:nvSpPr>
            <p:cNvPr id="16" name="Freeform 16"/>
            <p:cNvSpPr/>
            <p:nvPr/>
          </p:nvSpPr>
          <p:spPr>
            <a:xfrm>
              <a:off x="0" y="0"/>
              <a:ext cx="715523" cy="166415"/>
            </a:xfrm>
            <a:custGeom>
              <a:avLst/>
              <a:gdLst/>
              <a:ahLst/>
              <a:cxnLst/>
              <a:rect l="l" t="t" r="r" b="b"/>
              <a:pathLst>
                <a:path w="715523" h="166415">
                  <a:moveTo>
                    <a:pt x="50364" y="0"/>
                  </a:moveTo>
                  <a:lnTo>
                    <a:pt x="665159" y="0"/>
                  </a:lnTo>
                  <a:cubicBezTo>
                    <a:pt x="692974" y="0"/>
                    <a:pt x="715523" y="22549"/>
                    <a:pt x="715523" y="50364"/>
                  </a:cubicBezTo>
                  <a:lnTo>
                    <a:pt x="715523" y="116050"/>
                  </a:lnTo>
                  <a:cubicBezTo>
                    <a:pt x="715523" y="129408"/>
                    <a:pt x="710217" y="142218"/>
                    <a:pt x="700772" y="151664"/>
                  </a:cubicBezTo>
                  <a:cubicBezTo>
                    <a:pt x="691327" y="161109"/>
                    <a:pt x="678516" y="166415"/>
                    <a:pt x="665159" y="166415"/>
                  </a:cubicBezTo>
                  <a:lnTo>
                    <a:pt x="50364" y="166415"/>
                  </a:lnTo>
                  <a:cubicBezTo>
                    <a:pt x="22549" y="166415"/>
                    <a:pt x="0" y="143866"/>
                    <a:pt x="0" y="116050"/>
                  </a:cubicBezTo>
                  <a:lnTo>
                    <a:pt x="0" y="50364"/>
                  </a:lnTo>
                  <a:cubicBezTo>
                    <a:pt x="0" y="37007"/>
                    <a:pt x="5306" y="24197"/>
                    <a:pt x="14751" y="14751"/>
                  </a:cubicBezTo>
                  <a:cubicBezTo>
                    <a:pt x="24197" y="5306"/>
                    <a:pt x="37007" y="0"/>
                    <a:pt x="50364" y="0"/>
                  </a:cubicBezTo>
                  <a:close/>
                </a:path>
              </a:pathLst>
            </a:custGeom>
            <a:blipFill>
              <a:blip r:embed="rId8"/>
              <a:stretch>
                <a:fillRect t="-70389" b="-70389"/>
              </a:stretch>
            </a:blipFill>
          </p:spPr>
        </p:sp>
      </p:grpSp>
      <p:grpSp>
        <p:nvGrpSpPr>
          <p:cNvPr id="17" name="Group 17"/>
          <p:cNvGrpSpPr/>
          <p:nvPr/>
        </p:nvGrpSpPr>
        <p:grpSpPr>
          <a:xfrm>
            <a:off x="1043288" y="6360430"/>
            <a:ext cx="7050896" cy="2897870"/>
            <a:chOff x="0" y="0"/>
            <a:chExt cx="1857026" cy="763225"/>
          </a:xfrm>
        </p:grpSpPr>
        <p:sp>
          <p:nvSpPr>
            <p:cNvPr id="18" name="Freeform 18"/>
            <p:cNvSpPr/>
            <p:nvPr/>
          </p:nvSpPr>
          <p:spPr>
            <a:xfrm>
              <a:off x="0" y="0"/>
              <a:ext cx="1857026" cy="763225"/>
            </a:xfrm>
            <a:custGeom>
              <a:avLst/>
              <a:gdLst/>
              <a:ahLst/>
              <a:cxnLst/>
              <a:rect l="l" t="t" r="r" b="b"/>
              <a:pathLst>
                <a:path w="1857026" h="763225">
                  <a:moveTo>
                    <a:pt x="27450" y="0"/>
                  </a:moveTo>
                  <a:lnTo>
                    <a:pt x="1829576" y="0"/>
                  </a:lnTo>
                  <a:cubicBezTo>
                    <a:pt x="1836856" y="0"/>
                    <a:pt x="1843838" y="2892"/>
                    <a:pt x="1848986" y="8040"/>
                  </a:cubicBezTo>
                  <a:cubicBezTo>
                    <a:pt x="1854134" y="13188"/>
                    <a:pt x="1857026" y="20170"/>
                    <a:pt x="1857026" y="27450"/>
                  </a:cubicBezTo>
                  <a:lnTo>
                    <a:pt x="1857026" y="735775"/>
                  </a:lnTo>
                  <a:cubicBezTo>
                    <a:pt x="1857026" y="743055"/>
                    <a:pt x="1854134" y="750037"/>
                    <a:pt x="1848986" y="755185"/>
                  </a:cubicBezTo>
                  <a:cubicBezTo>
                    <a:pt x="1843838" y="760333"/>
                    <a:pt x="1836856" y="763225"/>
                    <a:pt x="1829576" y="763225"/>
                  </a:cubicBezTo>
                  <a:lnTo>
                    <a:pt x="27450" y="763225"/>
                  </a:lnTo>
                  <a:cubicBezTo>
                    <a:pt x="20170" y="763225"/>
                    <a:pt x="13188" y="760333"/>
                    <a:pt x="8040" y="755185"/>
                  </a:cubicBezTo>
                  <a:cubicBezTo>
                    <a:pt x="2892" y="750037"/>
                    <a:pt x="0" y="743055"/>
                    <a:pt x="0" y="735775"/>
                  </a:cubicBezTo>
                  <a:lnTo>
                    <a:pt x="0" y="27450"/>
                  </a:lnTo>
                  <a:cubicBezTo>
                    <a:pt x="0" y="20170"/>
                    <a:pt x="2892" y="13188"/>
                    <a:pt x="8040" y="8040"/>
                  </a:cubicBezTo>
                  <a:cubicBezTo>
                    <a:pt x="13188" y="2892"/>
                    <a:pt x="20170" y="0"/>
                    <a:pt x="27450" y="0"/>
                  </a:cubicBezTo>
                  <a:close/>
                </a:path>
              </a:pathLst>
            </a:custGeom>
            <a:solidFill>
              <a:srgbClr val="B8C0BF"/>
            </a:solidFill>
          </p:spPr>
        </p:sp>
        <p:sp>
          <p:nvSpPr>
            <p:cNvPr id="19" name="TextBox 19"/>
            <p:cNvSpPr txBox="1"/>
            <p:nvPr/>
          </p:nvSpPr>
          <p:spPr>
            <a:xfrm>
              <a:off x="0" y="-28575"/>
              <a:ext cx="1857026" cy="791800"/>
            </a:xfrm>
            <a:prstGeom prst="rect">
              <a:avLst/>
            </a:prstGeom>
          </p:spPr>
          <p:txBody>
            <a:bodyPr lIns="50800" tIns="50800" rIns="50800" bIns="50800" rtlCol="0" anchor="ctr"/>
            <a:lstStyle/>
            <a:p>
              <a:pPr algn="ctr">
                <a:lnSpc>
                  <a:spcPts val="1960"/>
                </a:lnSpc>
              </a:pPr>
              <a:endParaRPr/>
            </a:p>
            <a:p>
              <a:pPr algn="ctr">
                <a:lnSpc>
                  <a:spcPts val="1960"/>
                </a:lnSpc>
              </a:pPr>
              <a:endParaRPr/>
            </a:p>
          </p:txBody>
        </p:sp>
      </p:grpSp>
      <p:grpSp>
        <p:nvGrpSpPr>
          <p:cNvPr id="20" name="Group 20"/>
          <p:cNvGrpSpPr/>
          <p:nvPr/>
        </p:nvGrpSpPr>
        <p:grpSpPr>
          <a:xfrm>
            <a:off x="5170764" y="6903963"/>
            <a:ext cx="1155522" cy="390397"/>
            <a:chOff x="0" y="0"/>
            <a:chExt cx="416851" cy="140834"/>
          </a:xfrm>
        </p:grpSpPr>
        <p:sp>
          <p:nvSpPr>
            <p:cNvPr id="21" name="Freeform 21"/>
            <p:cNvSpPr/>
            <p:nvPr/>
          </p:nvSpPr>
          <p:spPr>
            <a:xfrm>
              <a:off x="0" y="0"/>
              <a:ext cx="416851" cy="140834"/>
            </a:xfrm>
            <a:custGeom>
              <a:avLst/>
              <a:gdLst/>
              <a:ahLst/>
              <a:cxnLst/>
              <a:rect l="l" t="t" r="r" b="b"/>
              <a:pathLst>
                <a:path w="416851" h="140834">
                  <a:moveTo>
                    <a:pt x="70417" y="0"/>
                  </a:moveTo>
                  <a:lnTo>
                    <a:pt x="346434" y="0"/>
                  </a:lnTo>
                  <a:cubicBezTo>
                    <a:pt x="385324" y="0"/>
                    <a:pt x="416851" y="31527"/>
                    <a:pt x="416851" y="70417"/>
                  </a:cubicBezTo>
                  <a:lnTo>
                    <a:pt x="416851" y="70417"/>
                  </a:lnTo>
                  <a:cubicBezTo>
                    <a:pt x="416851" y="89093"/>
                    <a:pt x="409432" y="107004"/>
                    <a:pt x="396226" y="120210"/>
                  </a:cubicBezTo>
                  <a:cubicBezTo>
                    <a:pt x="383020" y="133415"/>
                    <a:pt x="365109" y="140834"/>
                    <a:pt x="346434" y="140834"/>
                  </a:cubicBezTo>
                  <a:lnTo>
                    <a:pt x="70417" y="140834"/>
                  </a:lnTo>
                  <a:cubicBezTo>
                    <a:pt x="51741" y="140834"/>
                    <a:pt x="33830" y="133415"/>
                    <a:pt x="20625" y="120210"/>
                  </a:cubicBezTo>
                  <a:cubicBezTo>
                    <a:pt x="7419" y="107004"/>
                    <a:pt x="0" y="89093"/>
                    <a:pt x="0" y="70417"/>
                  </a:cubicBezTo>
                  <a:lnTo>
                    <a:pt x="0" y="70417"/>
                  </a:lnTo>
                  <a:cubicBezTo>
                    <a:pt x="0" y="51741"/>
                    <a:pt x="7419" y="33830"/>
                    <a:pt x="20625" y="20625"/>
                  </a:cubicBezTo>
                  <a:cubicBezTo>
                    <a:pt x="33830" y="7419"/>
                    <a:pt x="51741" y="0"/>
                    <a:pt x="70417" y="0"/>
                  </a:cubicBezTo>
                  <a:close/>
                </a:path>
              </a:pathLst>
            </a:custGeom>
            <a:blipFill>
              <a:blip r:embed="rId9"/>
              <a:stretch>
                <a:fillRect t="-33246" b="-33246"/>
              </a:stretch>
            </a:blipFill>
          </p:spPr>
        </p:sp>
      </p:grpSp>
      <p:grpSp>
        <p:nvGrpSpPr>
          <p:cNvPr id="22" name="Group 22"/>
          <p:cNvGrpSpPr/>
          <p:nvPr/>
        </p:nvGrpSpPr>
        <p:grpSpPr>
          <a:xfrm>
            <a:off x="5170764" y="8223095"/>
            <a:ext cx="2311043" cy="854230"/>
            <a:chOff x="0" y="0"/>
            <a:chExt cx="416851" cy="154080"/>
          </a:xfrm>
        </p:grpSpPr>
        <p:sp>
          <p:nvSpPr>
            <p:cNvPr id="23" name="Freeform 23"/>
            <p:cNvSpPr/>
            <p:nvPr/>
          </p:nvSpPr>
          <p:spPr>
            <a:xfrm>
              <a:off x="0" y="0"/>
              <a:ext cx="416851" cy="154080"/>
            </a:xfrm>
            <a:custGeom>
              <a:avLst/>
              <a:gdLst/>
              <a:ahLst/>
              <a:cxnLst/>
              <a:rect l="l" t="t" r="r" b="b"/>
              <a:pathLst>
                <a:path w="416851" h="154080">
                  <a:moveTo>
                    <a:pt x="66999" y="0"/>
                  </a:moveTo>
                  <a:lnTo>
                    <a:pt x="349851" y="0"/>
                  </a:lnTo>
                  <a:cubicBezTo>
                    <a:pt x="386854" y="0"/>
                    <a:pt x="416851" y="29997"/>
                    <a:pt x="416851" y="66999"/>
                  </a:cubicBezTo>
                  <a:lnTo>
                    <a:pt x="416851" y="87081"/>
                  </a:lnTo>
                  <a:cubicBezTo>
                    <a:pt x="416851" y="124084"/>
                    <a:pt x="386854" y="154080"/>
                    <a:pt x="349851" y="154080"/>
                  </a:cubicBezTo>
                  <a:lnTo>
                    <a:pt x="66999" y="154080"/>
                  </a:lnTo>
                  <a:cubicBezTo>
                    <a:pt x="29997" y="154080"/>
                    <a:pt x="0" y="124084"/>
                    <a:pt x="0" y="87081"/>
                  </a:cubicBezTo>
                  <a:lnTo>
                    <a:pt x="0" y="66999"/>
                  </a:lnTo>
                  <a:cubicBezTo>
                    <a:pt x="0" y="29997"/>
                    <a:pt x="29997" y="0"/>
                    <a:pt x="66999" y="0"/>
                  </a:cubicBezTo>
                  <a:close/>
                </a:path>
              </a:pathLst>
            </a:custGeom>
            <a:blipFill>
              <a:blip r:embed="rId10"/>
              <a:stretch>
                <a:fillRect t="-21078" b="-21078"/>
              </a:stretch>
            </a:blipFill>
          </p:spPr>
        </p:sp>
      </p:grpSp>
      <p:grpSp>
        <p:nvGrpSpPr>
          <p:cNvPr id="24" name="Group 24"/>
          <p:cNvGrpSpPr/>
          <p:nvPr/>
        </p:nvGrpSpPr>
        <p:grpSpPr>
          <a:xfrm>
            <a:off x="6326285" y="6920855"/>
            <a:ext cx="1155522" cy="390397"/>
            <a:chOff x="0" y="0"/>
            <a:chExt cx="416851" cy="140834"/>
          </a:xfrm>
        </p:grpSpPr>
        <p:sp>
          <p:nvSpPr>
            <p:cNvPr id="25" name="Freeform 25"/>
            <p:cNvSpPr/>
            <p:nvPr/>
          </p:nvSpPr>
          <p:spPr>
            <a:xfrm>
              <a:off x="0" y="0"/>
              <a:ext cx="416851" cy="140834"/>
            </a:xfrm>
            <a:custGeom>
              <a:avLst/>
              <a:gdLst/>
              <a:ahLst/>
              <a:cxnLst/>
              <a:rect l="l" t="t" r="r" b="b"/>
              <a:pathLst>
                <a:path w="416851" h="140834">
                  <a:moveTo>
                    <a:pt x="70417" y="0"/>
                  </a:moveTo>
                  <a:lnTo>
                    <a:pt x="346434" y="0"/>
                  </a:lnTo>
                  <a:cubicBezTo>
                    <a:pt x="385324" y="0"/>
                    <a:pt x="416851" y="31527"/>
                    <a:pt x="416851" y="70417"/>
                  </a:cubicBezTo>
                  <a:lnTo>
                    <a:pt x="416851" y="70417"/>
                  </a:lnTo>
                  <a:cubicBezTo>
                    <a:pt x="416851" y="89093"/>
                    <a:pt x="409432" y="107004"/>
                    <a:pt x="396226" y="120210"/>
                  </a:cubicBezTo>
                  <a:cubicBezTo>
                    <a:pt x="383020" y="133415"/>
                    <a:pt x="365109" y="140834"/>
                    <a:pt x="346434" y="140834"/>
                  </a:cubicBezTo>
                  <a:lnTo>
                    <a:pt x="70417" y="140834"/>
                  </a:lnTo>
                  <a:cubicBezTo>
                    <a:pt x="51741" y="140834"/>
                    <a:pt x="33830" y="133415"/>
                    <a:pt x="20625" y="120210"/>
                  </a:cubicBezTo>
                  <a:cubicBezTo>
                    <a:pt x="7419" y="107004"/>
                    <a:pt x="0" y="89093"/>
                    <a:pt x="0" y="70417"/>
                  </a:cubicBezTo>
                  <a:lnTo>
                    <a:pt x="0" y="70417"/>
                  </a:lnTo>
                  <a:cubicBezTo>
                    <a:pt x="0" y="51741"/>
                    <a:pt x="7419" y="33830"/>
                    <a:pt x="20625" y="20625"/>
                  </a:cubicBezTo>
                  <a:cubicBezTo>
                    <a:pt x="33830" y="7419"/>
                    <a:pt x="51741" y="0"/>
                    <a:pt x="70417" y="0"/>
                  </a:cubicBezTo>
                  <a:close/>
                </a:path>
              </a:pathLst>
            </a:custGeom>
            <a:blipFill>
              <a:blip r:embed="rId11"/>
              <a:stretch>
                <a:fillRect t="-7313" b="-7313"/>
              </a:stretch>
            </a:blipFill>
          </p:spPr>
        </p:sp>
      </p:grpSp>
      <p:grpSp>
        <p:nvGrpSpPr>
          <p:cNvPr id="26" name="Group 26"/>
          <p:cNvGrpSpPr/>
          <p:nvPr/>
        </p:nvGrpSpPr>
        <p:grpSpPr>
          <a:xfrm>
            <a:off x="5170764" y="7369246"/>
            <a:ext cx="1155522" cy="390397"/>
            <a:chOff x="0" y="0"/>
            <a:chExt cx="416851" cy="140834"/>
          </a:xfrm>
        </p:grpSpPr>
        <p:sp>
          <p:nvSpPr>
            <p:cNvPr id="27" name="Freeform 27"/>
            <p:cNvSpPr/>
            <p:nvPr/>
          </p:nvSpPr>
          <p:spPr>
            <a:xfrm>
              <a:off x="0" y="0"/>
              <a:ext cx="416851" cy="140834"/>
            </a:xfrm>
            <a:custGeom>
              <a:avLst/>
              <a:gdLst/>
              <a:ahLst/>
              <a:cxnLst/>
              <a:rect l="l" t="t" r="r" b="b"/>
              <a:pathLst>
                <a:path w="416851" h="140834">
                  <a:moveTo>
                    <a:pt x="70417" y="0"/>
                  </a:moveTo>
                  <a:lnTo>
                    <a:pt x="346434" y="0"/>
                  </a:lnTo>
                  <a:cubicBezTo>
                    <a:pt x="385324" y="0"/>
                    <a:pt x="416851" y="31527"/>
                    <a:pt x="416851" y="70417"/>
                  </a:cubicBezTo>
                  <a:lnTo>
                    <a:pt x="416851" y="70417"/>
                  </a:lnTo>
                  <a:cubicBezTo>
                    <a:pt x="416851" y="89093"/>
                    <a:pt x="409432" y="107004"/>
                    <a:pt x="396226" y="120210"/>
                  </a:cubicBezTo>
                  <a:cubicBezTo>
                    <a:pt x="383020" y="133415"/>
                    <a:pt x="365109" y="140834"/>
                    <a:pt x="346434" y="140834"/>
                  </a:cubicBezTo>
                  <a:lnTo>
                    <a:pt x="70417" y="140834"/>
                  </a:lnTo>
                  <a:cubicBezTo>
                    <a:pt x="51741" y="140834"/>
                    <a:pt x="33830" y="133415"/>
                    <a:pt x="20625" y="120210"/>
                  </a:cubicBezTo>
                  <a:cubicBezTo>
                    <a:pt x="7419" y="107004"/>
                    <a:pt x="0" y="89093"/>
                    <a:pt x="0" y="70417"/>
                  </a:cubicBezTo>
                  <a:lnTo>
                    <a:pt x="0" y="70417"/>
                  </a:lnTo>
                  <a:cubicBezTo>
                    <a:pt x="0" y="51741"/>
                    <a:pt x="7419" y="33830"/>
                    <a:pt x="20625" y="20625"/>
                  </a:cubicBezTo>
                  <a:cubicBezTo>
                    <a:pt x="33830" y="7419"/>
                    <a:pt x="51741" y="0"/>
                    <a:pt x="70417" y="0"/>
                  </a:cubicBezTo>
                  <a:close/>
                </a:path>
              </a:pathLst>
            </a:custGeom>
            <a:blipFill>
              <a:blip r:embed="rId12"/>
              <a:stretch>
                <a:fillRect t="-15655" b="-15655"/>
              </a:stretch>
            </a:blipFill>
          </p:spPr>
        </p:sp>
      </p:grpSp>
      <p:grpSp>
        <p:nvGrpSpPr>
          <p:cNvPr id="28" name="Group 28"/>
          <p:cNvGrpSpPr/>
          <p:nvPr/>
        </p:nvGrpSpPr>
        <p:grpSpPr>
          <a:xfrm>
            <a:off x="6326285" y="7369246"/>
            <a:ext cx="1155522" cy="390397"/>
            <a:chOff x="0" y="0"/>
            <a:chExt cx="416851" cy="140834"/>
          </a:xfrm>
        </p:grpSpPr>
        <p:sp>
          <p:nvSpPr>
            <p:cNvPr id="29" name="Freeform 29"/>
            <p:cNvSpPr/>
            <p:nvPr/>
          </p:nvSpPr>
          <p:spPr>
            <a:xfrm>
              <a:off x="0" y="0"/>
              <a:ext cx="416851" cy="140834"/>
            </a:xfrm>
            <a:custGeom>
              <a:avLst/>
              <a:gdLst/>
              <a:ahLst/>
              <a:cxnLst/>
              <a:rect l="l" t="t" r="r" b="b"/>
              <a:pathLst>
                <a:path w="416851" h="140834">
                  <a:moveTo>
                    <a:pt x="70417" y="0"/>
                  </a:moveTo>
                  <a:lnTo>
                    <a:pt x="346434" y="0"/>
                  </a:lnTo>
                  <a:cubicBezTo>
                    <a:pt x="385324" y="0"/>
                    <a:pt x="416851" y="31527"/>
                    <a:pt x="416851" y="70417"/>
                  </a:cubicBezTo>
                  <a:lnTo>
                    <a:pt x="416851" y="70417"/>
                  </a:lnTo>
                  <a:cubicBezTo>
                    <a:pt x="416851" y="89093"/>
                    <a:pt x="409432" y="107004"/>
                    <a:pt x="396226" y="120210"/>
                  </a:cubicBezTo>
                  <a:cubicBezTo>
                    <a:pt x="383020" y="133415"/>
                    <a:pt x="365109" y="140834"/>
                    <a:pt x="346434" y="140834"/>
                  </a:cubicBezTo>
                  <a:lnTo>
                    <a:pt x="70417" y="140834"/>
                  </a:lnTo>
                  <a:cubicBezTo>
                    <a:pt x="51741" y="140834"/>
                    <a:pt x="33830" y="133415"/>
                    <a:pt x="20625" y="120210"/>
                  </a:cubicBezTo>
                  <a:cubicBezTo>
                    <a:pt x="7419" y="107004"/>
                    <a:pt x="0" y="89093"/>
                    <a:pt x="0" y="70417"/>
                  </a:cubicBezTo>
                  <a:lnTo>
                    <a:pt x="0" y="70417"/>
                  </a:lnTo>
                  <a:cubicBezTo>
                    <a:pt x="0" y="51741"/>
                    <a:pt x="7419" y="33830"/>
                    <a:pt x="20625" y="20625"/>
                  </a:cubicBezTo>
                  <a:cubicBezTo>
                    <a:pt x="33830" y="7419"/>
                    <a:pt x="51741" y="0"/>
                    <a:pt x="70417" y="0"/>
                  </a:cubicBezTo>
                  <a:close/>
                </a:path>
              </a:pathLst>
            </a:custGeom>
            <a:blipFill>
              <a:blip r:embed="rId13"/>
              <a:stretch>
                <a:fillRect t="-28801" b="-28801"/>
              </a:stretch>
            </a:blipFill>
          </p:spPr>
        </p:sp>
      </p:grpSp>
      <p:grpSp>
        <p:nvGrpSpPr>
          <p:cNvPr id="30" name="Group 30"/>
          <p:cNvGrpSpPr/>
          <p:nvPr/>
        </p:nvGrpSpPr>
        <p:grpSpPr>
          <a:xfrm>
            <a:off x="10222992" y="5160712"/>
            <a:ext cx="7050896" cy="4097588"/>
            <a:chOff x="0" y="0"/>
            <a:chExt cx="1857026" cy="1079200"/>
          </a:xfrm>
        </p:grpSpPr>
        <p:sp>
          <p:nvSpPr>
            <p:cNvPr id="31" name="Freeform 31"/>
            <p:cNvSpPr/>
            <p:nvPr/>
          </p:nvSpPr>
          <p:spPr>
            <a:xfrm>
              <a:off x="0" y="0"/>
              <a:ext cx="1857026" cy="1079200"/>
            </a:xfrm>
            <a:custGeom>
              <a:avLst/>
              <a:gdLst/>
              <a:ahLst/>
              <a:cxnLst/>
              <a:rect l="l" t="t" r="r" b="b"/>
              <a:pathLst>
                <a:path w="1857026" h="1079200">
                  <a:moveTo>
                    <a:pt x="27450" y="0"/>
                  </a:moveTo>
                  <a:lnTo>
                    <a:pt x="1829576" y="0"/>
                  </a:lnTo>
                  <a:cubicBezTo>
                    <a:pt x="1836856" y="0"/>
                    <a:pt x="1843838" y="2892"/>
                    <a:pt x="1848986" y="8040"/>
                  </a:cubicBezTo>
                  <a:cubicBezTo>
                    <a:pt x="1854134" y="13188"/>
                    <a:pt x="1857026" y="20170"/>
                    <a:pt x="1857026" y="27450"/>
                  </a:cubicBezTo>
                  <a:lnTo>
                    <a:pt x="1857026" y="1051750"/>
                  </a:lnTo>
                  <a:cubicBezTo>
                    <a:pt x="1857026" y="1066910"/>
                    <a:pt x="1844736" y="1079200"/>
                    <a:pt x="1829576" y="1079200"/>
                  </a:cubicBezTo>
                  <a:lnTo>
                    <a:pt x="27450" y="1079200"/>
                  </a:lnTo>
                  <a:cubicBezTo>
                    <a:pt x="20170" y="1079200"/>
                    <a:pt x="13188" y="1076308"/>
                    <a:pt x="8040" y="1071160"/>
                  </a:cubicBezTo>
                  <a:cubicBezTo>
                    <a:pt x="2892" y="1066012"/>
                    <a:pt x="0" y="1059030"/>
                    <a:pt x="0" y="1051750"/>
                  </a:cubicBezTo>
                  <a:lnTo>
                    <a:pt x="0" y="27450"/>
                  </a:lnTo>
                  <a:cubicBezTo>
                    <a:pt x="0" y="20170"/>
                    <a:pt x="2892" y="13188"/>
                    <a:pt x="8040" y="8040"/>
                  </a:cubicBezTo>
                  <a:cubicBezTo>
                    <a:pt x="13188" y="2892"/>
                    <a:pt x="20170" y="0"/>
                    <a:pt x="27450" y="0"/>
                  </a:cubicBezTo>
                  <a:close/>
                </a:path>
              </a:pathLst>
            </a:custGeom>
            <a:solidFill>
              <a:srgbClr val="B8C0BF"/>
            </a:solidFill>
          </p:spPr>
        </p:sp>
        <p:sp>
          <p:nvSpPr>
            <p:cNvPr id="32" name="TextBox 32"/>
            <p:cNvSpPr txBox="1"/>
            <p:nvPr/>
          </p:nvSpPr>
          <p:spPr>
            <a:xfrm>
              <a:off x="0" y="-28575"/>
              <a:ext cx="1857026" cy="1107775"/>
            </a:xfrm>
            <a:prstGeom prst="rect">
              <a:avLst/>
            </a:prstGeom>
          </p:spPr>
          <p:txBody>
            <a:bodyPr lIns="50800" tIns="50800" rIns="50800" bIns="50800" rtlCol="0" anchor="ctr"/>
            <a:lstStyle/>
            <a:p>
              <a:pPr algn="ctr">
                <a:lnSpc>
                  <a:spcPts val="1960"/>
                </a:lnSpc>
              </a:pPr>
              <a:endParaRPr/>
            </a:p>
            <a:p>
              <a:pPr algn="ctr">
                <a:lnSpc>
                  <a:spcPts val="1960"/>
                </a:lnSpc>
              </a:pPr>
              <a:endParaRPr/>
            </a:p>
          </p:txBody>
        </p:sp>
      </p:grpSp>
      <p:sp>
        <p:nvSpPr>
          <p:cNvPr id="33" name="TextBox 33"/>
          <p:cNvSpPr txBox="1"/>
          <p:nvPr/>
        </p:nvSpPr>
        <p:spPr>
          <a:xfrm>
            <a:off x="1028700" y="4310277"/>
            <a:ext cx="7050896" cy="1524000"/>
          </a:xfrm>
          <a:prstGeom prst="rect">
            <a:avLst/>
          </a:prstGeom>
        </p:spPr>
        <p:txBody>
          <a:bodyPr lIns="0" tIns="0" rIns="0" bIns="0" rtlCol="0" anchor="t">
            <a:spAutoFit/>
          </a:bodyPr>
          <a:lstStyle/>
          <a:p>
            <a:pPr algn="l">
              <a:lnSpc>
                <a:spcPts val="12069"/>
              </a:lnSpc>
            </a:pPr>
            <a:r>
              <a:rPr lang="en-US" sz="10057" spc="-804">
                <a:solidFill>
                  <a:srgbClr val="4B3C3D"/>
                </a:solidFill>
                <a:latin typeface="Open Sauce"/>
                <a:ea typeface="Open Sauce"/>
                <a:cs typeface="Open Sauce"/>
                <a:sym typeface="Open Sauce"/>
              </a:rPr>
              <a:t>Data sources</a:t>
            </a:r>
          </a:p>
        </p:txBody>
      </p:sp>
      <p:sp>
        <p:nvSpPr>
          <p:cNvPr id="34" name="TextBox 34"/>
          <p:cNvSpPr txBox="1"/>
          <p:nvPr/>
        </p:nvSpPr>
        <p:spPr>
          <a:xfrm>
            <a:off x="1043288" y="5786652"/>
            <a:ext cx="4478761" cy="339388"/>
          </a:xfrm>
          <a:prstGeom prst="rect">
            <a:avLst/>
          </a:prstGeom>
        </p:spPr>
        <p:txBody>
          <a:bodyPr lIns="0" tIns="0" rIns="0" bIns="0" rtlCol="0" anchor="t">
            <a:spAutoFit/>
          </a:bodyPr>
          <a:lstStyle/>
          <a:p>
            <a:pPr>
              <a:lnSpc>
                <a:spcPts val="2939"/>
              </a:lnSpc>
              <a:spcBef>
                <a:spcPct val="0"/>
              </a:spcBef>
            </a:pPr>
            <a:r>
              <a:rPr lang="en-US" sz="2050" b="1" i="1" spc="-104" dirty="0">
                <a:solidFill>
                  <a:srgbClr val="968C90"/>
                </a:solidFill>
                <a:latin typeface="Open Sauce Bold Italics"/>
                <a:ea typeface="Open Sauce Bold Italics"/>
                <a:cs typeface="Open Sauce Bold Italics"/>
                <a:sym typeface="Open Sauce Bold Italics"/>
              </a:rPr>
              <a:t>Multimodal, reliable and open access</a:t>
            </a:r>
            <a:endParaRPr lang="en-US" sz="2050" b="1" i="1" spc="-104" dirty="0">
              <a:solidFill>
                <a:srgbClr val="968C90"/>
              </a:solidFill>
              <a:latin typeface="Open Sauce Bold Italics"/>
              <a:ea typeface="Open Sauce Bold Italics"/>
              <a:cs typeface="Open Sauce Bold Italics"/>
            </a:endParaRPr>
          </a:p>
        </p:txBody>
      </p:sp>
      <p:sp>
        <p:nvSpPr>
          <p:cNvPr id="35" name="TextBox 35"/>
          <p:cNvSpPr txBox="1"/>
          <p:nvPr/>
        </p:nvSpPr>
        <p:spPr>
          <a:xfrm>
            <a:off x="10704687" y="1147719"/>
            <a:ext cx="4256150" cy="176651"/>
          </a:xfrm>
          <a:prstGeom prst="rect">
            <a:avLst/>
          </a:prstGeom>
        </p:spPr>
        <p:txBody>
          <a:bodyPr lIns="0" tIns="0" rIns="0" bIns="0" rtlCol="0" anchor="t">
            <a:spAutoFit/>
          </a:bodyPr>
          <a:lstStyle/>
          <a:p>
            <a:pPr algn="l">
              <a:lnSpc>
                <a:spcPts val="1519"/>
              </a:lnSpc>
              <a:spcBef>
                <a:spcPct val="0"/>
              </a:spcBef>
            </a:pPr>
            <a:r>
              <a:rPr lang="en-US" sz="1100" b="1" spc="-54">
                <a:solidFill>
                  <a:srgbClr val="4B3C3D"/>
                </a:solidFill>
                <a:latin typeface="Open Sauce Bold"/>
                <a:ea typeface="Open Sauce Bold"/>
                <a:cs typeface="Open Sauce Bold"/>
                <a:sym typeface="Open Sauce Bold"/>
              </a:rPr>
              <a:t>Preliminary exploration EUROSTAT &amp; ISTAT</a:t>
            </a:r>
            <a:endParaRPr lang="en-US" sz="1100" b="1" spc="-54">
              <a:solidFill>
                <a:srgbClr val="4B3C3D"/>
              </a:solidFill>
              <a:latin typeface="Open Sauce Bold"/>
              <a:ea typeface="Open Sauce Bold"/>
              <a:cs typeface="Open Sauce Bold"/>
            </a:endParaRPr>
          </a:p>
        </p:txBody>
      </p:sp>
      <p:sp>
        <p:nvSpPr>
          <p:cNvPr id="36" name="TextBox 36"/>
          <p:cNvSpPr txBox="1"/>
          <p:nvPr/>
        </p:nvSpPr>
        <p:spPr>
          <a:xfrm>
            <a:off x="10704687" y="2195577"/>
            <a:ext cx="4256150" cy="176651"/>
          </a:xfrm>
          <a:prstGeom prst="rect">
            <a:avLst/>
          </a:prstGeom>
        </p:spPr>
        <p:txBody>
          <a:bodyPr lIns="0" tIns="0" rIns="0" bIns="0" rtlCol="0" anchor="t">
            <a:spAutoFit/>
          </a:bodyPr>
          <a:lstStyle/>
          <a:p>
            <a:pPr algn="l">
              <a:lnSpc>
                <a:spcPts val="1519"/>
              </a:lnSpc>
              <a:spcBef>
                <a:spcPct val="0"/>
              </a:spcBef>
            </a:pPr>
            <a:r>
              <a:rPr lang="en-US" sz="1100" b="1" spc="-54">
                <a:solidFill>
                  <a:srgbClr val="4B3C3D"/>
                </a:solidFill>
                <a:latin typeface="Open Sauce Bold"/>
                <a:ea typeface="Open Sauce Bold"/>
                <a:cs typeface="Open Sauce Bold"/>
                <a:sym typeface="Open Sauce Bold"/>
              </a:rPr>
              <a:t>Dati.gov.it and ARPA entities</a:t>
            </a:r>
            <a:endParaRPr lang="en-US" sz="1100" b="1" spc="-54">
              <a:solidFill>
                <a:srgbClr val="4B3C3D"/>
              </a:solidFill>
              <a:latin typeface="Open Sauce Bold"/>
              <a:ea typeface="Open Sauce Bold"/>
              <a:cs typeface="Open Sauce Bold"/>
            </a:endParaRPr>
          </a:p>
        </p:txBody>
      </p:sp>
      <p:sp>
        <p:nvSpPr>
          <p:cNvPr id="37" name="TextBox 37"/>
          <p:cNvSpPr txBox="1"/>
          <p:nvPr/>
        </p:nvSpPr>
        <p:spPr>
          <a:xfrm>
            <a:off x="10704687" y="3306513"/>
            <a:ext cx="4256150" cy="176651"/>
          </a:xfrm>
          <a:prstGeom prst="rect">
            <a:avLst/>
          </a:prstGeom>
        </p:spPr>
        <p:txBody>
          <a:bodyPr lIns="0" tIns="0" rIns="0" bIns="0" rtlCol="0" anchor="t">
            <a:spAutoFit/>
          </a:bodyPr>
          <a:lstStyle/>
          <a:p>
            <a:pPr algn="l">
              <a:lnSpc>
                <a:spcPts val="1519"/>
              </a:lnSpc>
              <a:spcBef>
                <a:spcPct val="0"/>
              </a:spcBef>
            </a:pPr>
            <a:r>
              <a:rPr lang="en-US" sz="1100" b="1" spc="-54">
                <a:solidFill>
                  <a:srgbClr val="4B3C3D"/>
                </a:solidFill>
                <a:latin typeface="Open Sauce Bold"/>
                <a:ea typeface="Open Sauce Bold"/>
                <a:cs typeface="Open Sauce Bold"/>
                <a:sym typeface="Open Sauce Bold"/>
              </a:rPr>
              <a:t>Open data regional sites</a:t>
            </a:r>
            <a:endParaRPr lang="en-US" sz="1100" b="1" spc="-54">
              <a:solidFill>
                <a:srgbClr val="4B3C3D"/>
              </a:solidFill>
              <a:latin typeface="Open Sauce Bold"/>
              <a:ea typeface="Open Sauce Bold"/>
              <a:cs typeface="Open Sauce Bold"/>
            </a:endParaRPr>
          </a:p>
        </p:txBody>
      </p:sp>
      <p:sp>
        <p:nvSpPr>
          <p:cNvPr id="38" name="TextBox 38"/>
          <p:cNvSpPr txBox="1"/>
          <p:nvPr/>
        </p:nvSpPr>
        <p:spPr>
          <a:xfrm>
            <a:off x="1539021" y="7034549"/>
            <a:ext cx="3295938" cy="2173287"/>
          </a:xfrm>
          <a:prstGeom prst="rect">
            <a:avLst/>
          </a:prstGeom>
        </p:spPr>
        <p:txBody>
          <a:bodyPr lIns="0" tIns="0" rIns="0" bIns="0" rtlCol="0" anchor="t">
            <a:spAutoFit/>
          </a:bodyPr>
          <a:lstStyle/>
          <a:p>
            <a:pPr algn="l">
              <a:lnSpc>
                <a:spcPts val="1856"/>
              </a:lnSpc>
            </a:pPr>
            <a:r>
              <a:rPr lang="en-US" sz="1400" spc="-66" dirty="0">
                <a:solidFill>
                  <a:srgbClr val="4B3C3D"/>
                </a:solidFill>
                <a:latin typeface="Open Sauce"/>
                <a:ea typeface="Open Sauce"/>
                <a:cs typeface="Open Sauce"/>
                <a:sym typeface="Open Sauce"/>
              </a:rPr>
              <a:t>Programs like </a:t>
            </a:r>
            <a:r>
              <a:rPr lang="en-US" sz="1400" b="1" spc="-66" dirty="0">
                <a:solidFill>
                  <a:srgbClr val="4B3C3D"/>
                </a:solidFill>
                <a:latin typeface="Open Sauce Bold"/>
                <a:ea typeface="Open Sauce Bold"/>
                <a:cs typeface="Open Sauce Bold"/>
                <a:sym typeface="Open Sauce Bold"/>
              </a:rPr>
              <a:t>SIR</a:t>
            </a:r>
            <a:r>
              <a:rPr lang="en-US" sz="1400" spc="-66" dirty="0">
                <a:solidFill>
                  <a:srgbClr val="4B3C3D"/>
                </a:solidFill>
                <a:latin typeface="Open Sauce"/>
                <a:ea typeface="Open Sauce"/>
                <a:cs typeface="Open Sauce"/>
                <a:sym typeface="Open Sauce"/>
              </a:rPr>
              <a:t> from </a:t>
            </a:r>
            <a:r>
              <a:rPr lang="en-US" sz="1400" b="1" spc="-66" dirty="0" err="1">
                <a:solidFill>
                  <a:srgbClr val="4B3C3D"/>
                </a:solidFill>
                <a:latin typeface="Open Sauce Bold"/>
                <a:ea typeface="Open Sauce Bold"/>
                <a:cs typeface="Open Sauce Bold"/>
                <a:sym typeface="Open Sauce Bold"/>
              </a:rPr>
              <a:t>Regione</a:t>
            </a:r>
            <a:r>
              <a:rPr lang="en-US" sz="1400" b="1" spc="-66" dirty="0">
                <a:solidFill>
                  <a:srgbClr val="4B3C3D"/>
                </a:solidFill>
                <a:latin typeface="Open Sauce Bold"/>
                <a:ea typeface="Open Sauce Bold"/>
                <a:cs typeface="Open Sauce Bold"/>
                <a:sym typeface="Open Sauce Bold"/>
              </a:rPr>
              <a:t> </a:t>
            </a:r>
            <a:r>
              <a:rPr lang="en-US" sz="1400" b="1" spc="-66" dirty="0" err="1">
                <a:solidFill>
                  <a:srgbClr val="4B3C3D"/>
                </a:solidFill>
                <a:latin typeface="Open Sauce Bold"/>
                <a:ea typeface="Open Sauce Bold"/>
                <a:cs typeface="Open Sauce Bold"/>
                <a:sym typeface="Open Sauce Bold"/>
              </a:rPr>
              <a:t>toscana</a:t>
            </a:r>
            <a:r>
              <a:rPr lang="en-US" sz="1400" spc="-66" dirty="0">
                <a:solidFill>
                  <a:srgbClr val="4B3C3D"/>
                </a:solidFill>
                <a:latin typeface="Open Sauce"/>
                <a:ea typeface="Open Sauce"/>
                <a:cs typeface="Open Sauce"/>
                <a:sym typeface="Open Sauce"/>
              </a:rPr>
              <a:t>, </a:t>
            </a:r>
            <a:r>
              <a:rPr lang="en-US" sz="1400" b="1" spc="-66" dirty="0" err="1">
                <a:solidFill>
                  <a:srgbClr val="4B3C3D"/>
                </a:solidFill>
                <a:latin typeface="Open Sauce Bold"/>
                <a:ea typeface="Open Sauce Bold"/>
                <a:cs typeface="Open Sauce Bold"/>
                <a:sym typeface="Open Sauce Bold"/>
              </a:rPr>
              <a:t>IdroGEO</a:t>
            </a:r>
            <a:r>
              <a:rPr lang="en-US" sz="1400" b="1" spc="-66" dirty="0">
                <a:solidFill>
                  <a:srgbClr val="4B3C3D"/>
                </a:solidFill>
                <a:latin typeface="Open Sauce Bold"/>
                <a:ea typeface="Open Sauce Bold"/>
                <a:cs typeface="Open Sauce Bold"/>
                <a:sym typeface="Open Sauce Bold"/>
              </a:rPr>
              <a:t> </a:t>
            </a:r>
            <a:r>
              <a:rPr lang="en-US" sz="1400" spc="-66" dirty="0">
                <a:solidFill>
                  <a:srgbClr val="4B3C3D"/>
                </a:solidFill>
                <a:latin typeface="Open Sauce"/>
                <a:ea typeface="Open Sauce"/>
                <a:cs typeface="Open Sauce"/>
                <a:sym typeface="Open Sauce"/>
              </a:rPr>
              <a:t>from </a:t>
            </a:r>
            <a:r>
              <a:rPr lang="en-US" sz="1400" b="1" spc="-66" dirty="0" err="1">
                <a:solidFill>
                  <a:srgbClr val="4B3C3D"/>
                </a:solidFill>
                <a:latin typeface="Open Sauce Bold"/>
                <a:ea typeface="Open Sauce Bold"/>
                <a:cs typeface="Open Sauce Bold"/>
                <a:sym typeface="Open Sauce Bold"/>
              </a:rPr>
              <a:t>Isprambiente</a:t>
            </a:r>
            <a:r>
              <a:rPr lang="en-US" sz="1400" spc="-66" dirty="0">
                <a:solidFill>
                  <a:srgbClr val="4B3C3D"/>
                </a:solidFill>
                <a:latin typeface="Open Sauce"/>
                <a:ea typeface="Open Sauce"/>
                <a:cs typeface="Open Sauce"/>
                <a:sym typeface="Open Sauce"/>
              </a:rPr>
              <a:t>, </a:t>
            </a:r>
            <a:r>
              <a:rPr lang="en-US" sz="1400" b="1" spc="-66" dirty="0">
                <a:solidFill>
                  <a:srgbClr val="4B3C3D"/>
                </a:solidFill>
                <a:latin typeface="Open Sauce Bold"/>
                <a:ea typeface="Open Sauce Bold"/>
                <a:cs typeface="Open Sauce Bold"/>
                <a:sym typeface="Open Sauce Bold"/>
              </a:rPr>
              <a:t>CFTI landslides </a:t>
            </a:r>
            <a:r>
              <a:rPr lang="en-US" sz="1400" spc="-66" dirty="0">
                <a:solidFill>
                  <a:srgbClr val="4B3C3D"/>
                </a:solidFill>
                <a:latin typeface="Open Sauce"/>
                <a:ea typeface="Open Sauce"/>
                <a:cs typeface="Open Sauce"/>
                <a:sym typeface="Open Sauce"/>
              </a:rPr>
              <a:t>from the national institute of geophysics and vulcanology (</a:t>
            </a:r>
            <a:r>
              <a:rPr lang="en-US" sz="1400" b="1" spc="-66" dirty="0">
                <a:solidFill>
                  <a:srgbClr val="4B3C3D"/>
                </a:solidFill>
                <a:latin typeface="Open Sauce Bold"/>
                <a:ea typeface="Open Sauce Bold"/>
                <a:cs typeface="Open Sauce Bold"/>
                <a:sym typeface="Open Sauce Bold"/>
              </a:rPr>
              <a:t>INGV</a:t>
            </a:r>
            <a:r>
              <a:rPr lang="en-US" sz="1400" spc="-66" dirty="0">
                <a:solidFill>
                  <a:srgbClr val="4B3C3D"/>
                </a:solidFill>
                <a:latin typeface="Open Sauce"/>
                <a:ea typeface="Open Sauce"/>
                <a:cs typeface="Open Sauce"/>
                <a:sym typeface="Open Sauce"/>
              </a:rPr>
              <a:t>) and </a:t>
            </a:r>
            <a:r>
              <a:rPr lang="en-US" sz="1400" b="1" spc="-66" dirty="0">
                <a:solidFill>
                  <a:srgbClr val="4B3C3D"/>
                </a:solidFill>
                <a:latin typeface="Open Sauce Bold"/>
                <a:ea typeface="Open Sauce Bold"/>
                <a:cs typeface="Open Sauce Bold"/>
                <a:sym typeface="Open Sauce Bold"/>
              </a:rPr>
              <a:t>Copernicus crops data.</a:t>
            </a:r>
            <a:endParaRPr lang="en-US" sz="1400" b="1" spc="-66" dirty="0">
              <a:solidFill>
                <a:srgbClr val="4B3C3D"/>
              </a:solidFill>
              <a:latin typeface="Open Sauce Bold"/>
              <a:ea typeface="Open Sauce Bold"/>
              <a:cs typeface="Open Sauce Bold"/>
            </a:endParaRPr>
          </a:p>
          <a:p>
            <a:pPr algn="l">
              <a:lnSpc>
                <a:spcPts val="1856"/>
              </a:lnSpc>
            </a:pPr>
            <a:endParaRPr lang="en-US" sz="1400" b="1" spc="-66" dirty="0">
              <a:solidFill>
                <a:srgbClr val="4B3C3D"/>
              </a:solidFill>
              <a:latin typeface="Open Sauce Bold"/>
              <a:ea typeface="Open Sauce Bold"/>
              <a:cs typeface="Open Sauce Bold"/>
            </a:endParaRPr>
          </a:p>
          <a:p>
            <a:pPr algn="l">
              <a:lnSpc>
                <a:spcPts val="1856"/>
              </a:lnSpc>
              <a:spcBef>
                <a:spcPct val="0"/>
              </a:spcBef>
            </a:pPr>
            <a:r>
              <a:rPr lang="en-US" sz="1400" spc="-66">
                <a:solidFill>
                  <a:srgbClr val="4B3C3D"/>
                </a:solidFill>
                <a:latin typeface="Open Sauce"/>
                <a:ea typeface="Open Sauce"/>
                <a:cs typeface="Open Sauce"/>
                <a:sym typeface="Open Sauce"/>
              </a:rPr>
              <a:t>Patent data enhances technical knowledge about the physical factors that affect the pipeline systems at hand</a:t>
            </a:r>
            <a:endParaRPr lang="en-US" sz="1400" spc="-66" dirty="0">
              <a:solidFill>
                <a:srgbClr val="4B3C3D"/>
              </a:solidFill>
              <a:latin typeface="Open Sauce"/>
              <a:ea typeface="Open Sauce"/>
              <a:cs typeface="Open Sauce"/>
            </a:endParaRPr>
          </a:p>
        </p:txBody>
      </p:sp>
      <p:sp>
        <p:nvSpPr>
          <p:cNvPr id="39" name="TextBox 39"/>
          <p:cNvSpPr txBox="1"/>
          <p:nvPr/>
        </p:nvSpPr>
        <p:spPr>
          <a:xfrm>
            <a:off x="1296134" y="6649258"/>
            <a:ext cx="3981738" cy="256480"/>
          </a:xfrm>
          <a:prstGeom prst="rect">
            <a:avLst/>
          </a:prstGeom>
        </p:spPr>
        <p:txBody>
          <a:bodyPr wrap="square" lIns="0" tIns="0" rIns="0" bIns="0" rtlCol="0" anchor="t">
            <a:spAutoFit/>
          </a:bodyPr>
          <a:lstStyle/>
          <a:p>
            <a:pPr algn="l">
              <a:lnSpc>
                <a:spcPts val="1960"/>
              </a:lnSpc>
              <a:spcBef>
                <a:spcPct val="0"/>
              </a:spcBef>
            </a:pPr>
            <a:r>
              <a:rPr lang="en-US" sz="1700" b="1" spc="-70">
                <a:solidFill>
                  <a:srgbClr val="4B3C3D"/>
                </a:solidFill>
                <a:latin typeface="Open Sauce Bold"/>
                <a:ea typeface="Open Sauce Bold"/>
                <a:cs typeface="Open Sauce Bold"/>
                <a:sym typeface="Open Sauce Bold"/>
              </a:rPr>
              <a:t>Environmental risk sites and Patent data</a:t>
            </a:r>
            <a:endParaRPr lang="en-US" sz="1700">
              <a:ea typeface="Calibri"/>
              <a:cs typeface="Calibri"/>
            </a:endParaRPr>
          </a:p>
        </p:txBody>
      </p:sp>
      <p:sp>
        <p:nvSpPr>
          <p:cNvPr id="40" name="TextBox 40"/>
          <p:cNvSpPr txBox="1"/>
          <p:nvPr/>
        </p:nvSpPr>
        <p:spPr>
          <a:xfrm>
            <a:off x="10222992" y="5337464"/>
            <a:ext cx="7050896" cy="3827330"/>
          </a:xfrm>
          <a:prstGeom prst="rect">
            <a:avLst/>
          </a:prstGeom>
        </p:spPr>
        <p:txBody>
          <a:bodyPr lIns="0" tIns="0" rIns="0" bIns="0" rtlCol="0" anchor="t">
            <a:spAutoFit/>
          </a:bodyPr>
          <a:lstStyle/>
          <a:p>
            <a:pPr marL="302260" lvl="1" indent="-151130" algn="l">
              <a:lnSpc>
                <a:spcPts val="1960"/>
              </a:lnSpc>
              <a:buFont typeface="Arial"/>
              <a:buChar char="•"/>
            </a:pPr>
            <a:r>
              <a:rPr lang="en-US" sz="1500" spc="-70" dirty="0">
                <a:solidFill>
                  <a:srgbClr val="000000"/>
                </a:solidFill>
                <a:latin typeface="Open Sauce"/>
                <a:ea typeface="Open Sauce"/>
                <a:cs typeface="Open Sauce"/>
                <a:sym typeface="Open Sauce"/>
              </a:rPr>
              <a:t>Official National Hazard Inventories for landslides, floods, seismicity and wildfires</a:t>
            </a:r>
            <a:endParaRPr lang="en-US" sz="1500" spc="-70" dirty="0">
              <a:solidFill>
                <a:srgbClr val="000000"/>
              </a:solidFill>
              <a:latin typeface="Open Sauce"/>
              <a:ea typeface="Open Sauce"/>
              <a:cs typeface="Open Sauce"/>
            </a:endParaRPr>
          </a:p>
          <a:p>
            <a:pPr algn="l">
              <a:lnSpc>
                <a:spcPts val="1960"/>
              </a:lnSpc>
            </a:pPr>
            <a:endParaRPr lang="en-US" sz="1500" spc="-70" dirty="0">
              <a:solidFill>
                <a:srgbClr val="000000"/>
              </a:solidFill>
              <a:latin typeface="Open Sauce"/>
              <a:ea typeface="Open Sauce"/>
              <a:cs typeface="Open Sauce"/>
            </a:endParaRPr>
          </a:p>
          <a:p>
            <a:pPr marL="302260" lvl="1" indent="-151130" algn="l">
              <a:lnSpc>
                <a:spcPts val="1960"/>
              </a:lnSpc>
              <a:buFont typeface="Arial"/>
              <a:buChar char="•"/>
            </a:pPr>
            <a:r>
              <a:rPr lang="en-US" sz="1500" spc="-70" dirty="0">
                <a:solidFill>
                  <a:srgbClr val="000000"/>
                </a:solidFill>
                <a:latin typeface="Open Sauce"/>
                <a:ea typeface="Open Sauce"/>
                <a:cs typeface="Open Sauce"/>
                <a:sym typeface="Open Sauce"/>
              </a:rPr>
              <a:t>Decades of localized rain , temperature, humidity and wind gust history </a:t>
            </a:r>
            <a:endParaRPr lang="en-US" sz="1500" spc="-70" dirty="0">
              <a:solidFill>
                <a:srgbClr val="000000"/>
              </a:solidFill>
              <a:latin typeface="Open Sauce"/>
              <a:ea typeface="Open Sauce"/>
              <a:cs typeface="Open Sauce"/>
            </a:endParaRPr>
          </a:p>
          <a:p>
            <a:pPr algn="l">
              <a:lnSpc>
                <a:spcPts val="1960"/>
              </a:lnSpc>
            </a:pPr>
            <a:endParaRPr lang="en-US" sz="1500" spc="-70" dirty="0">
              <a:solidFill>
                <a:srgbClr val="000000"/>
              </a:solidFill>
              <a:latin typeface="Open Sauce"/>
              <a:ea typeface="Open Sauce"/>
              <a:cs typeface="Open Sauce"/>
            </a:endParaRPr>
          </a:p>
          <a:p>
            <a:pPr marL="302260" lvl="1" indent="-151130" algn="l">
              <a:lnSpc>
                <a:spcPts val="1960"/>
              </a:lnSpc>
              <a:buFont typeface="Arial"/>
              <a:buChar char="•"/>
            </a:pPr>
            <a:r>
              <a:rPr lang="en-US" sz="1500" spc="-70">
                <a:solidFill>
                  <a:srgbClr val="000000"/>
                </a:solidFill>
                <a:latin typeface="Open Sauce"/>
                <a:ea typeface="Open Sauce"/>
                <a:cs typeface="Open Sauce"/>
                <a:sym typeface="Open Sauce"/>
              </a:rPr>
              <a:t>Communal income and population census</a:t>
            </a:r>
            <a:endParaRPr lang="en-US" sz="1500" spc="-70" dirty="0">
              <a:solidFill>
                <a:srgbClr val="000000"/>
              </a:solidFill>
              <a:latin typeface="Open Sauce"/>
              <a:ea typeface="Open Sauce"/>
              <a:cs typeface="Open Sauce"/>
            </a:endParaRPr>
          </a:p>
          <a:p>
            <a:pPr algn="l">
              <a:lnSpc>
                <a:spcPts val="1960"/>
              </a:lnSpc>
            </a:pPr>
            <a:endParaRPr lang="en-US" sz="1500" spc="-70" dirty="0">
              <a:solidFill>
                <a:srgbClr val="000000"/>
              </a:solidFill>
              <a:latin typeface="Open Sauce"/>
              <a:ea typeface="Open Sauce"/>
              <a:cs typeface="Open Sauce"/>
            </a:endParaRPr>
          </a:p>
          <a:p>
            <a:pPr marL="302260" lvl="1" indent="-151130" algn="l">
              <a:lnSpc>
                <a:spcPts val="1960"/>
              </a:lnSpc>
              <a:buFont typeface="Arial"/>
              <a:buChar char="•"/>
            </a:pPr>
            <a:r>
              <a:rPr lang="en-US" sz="1500" spc="-70">
                <a:solidFill>
                  <a:srgbClr val="000000"/>
                </a:solidFill>
                <a:latin typeface="Open Sauce"/>
                <a:ea typeface="Open Sauce"/>
                <a:cs typeface="Open Sauce"/>
                <a:sym typeface="Open Sauce"/>
              </a:rPr>
              <a:t>Pedological soil databases, sentinel-1 soil displacement points</a:t>
            </a:r>
            <a:endParaRPr lang="en-US" sz="1500" spc="-70" dirty="0">
              <a:solidFill>
                <a:srgbClr val="000000"/>
              </a:solidFill>
              <a:latin typeface="Open Sauce"/>
              <a:ea typeface="Open Sauce"/>
              <a:cs typeface="Open Sauce"/>
            </a:endParaRPr>
          </a:p>
          <a:p>
            <a:pPr algn="l">
              <a:lnSpc>
                <a:spcPts val="1960"/>
              </a:lnSpc>
            </a:pPr>
            <a:endParaRPr lang="en-US" sz="1500" spc="-70" dirty="0">
              <a:solidFill>
                <a:srgbClr val="000000"/>
              </a:solidFill>
              <a:latin typeface="Open Sauce"/>
              <a:ea typeface="Open Sauce"/>
              <a:cs typeface="Open Sauce"/>
            </a:endParaRPr>
          </a:p>
          <a:p>
            <a:pPr marL="302260" lvl="1" indent="-151130" algn="l">
              <a:lnSpc>
                <a:spcPts val="1960"/>
              </a:lnSpc>
              <a:buFont typeface="Arial"/>
              <a:buChar char="•"/>
            </a:pPr>
            <a:r>
              <a:rPr lang="en-US" sz="1500" spc="-70">
                <a:solidFill>
                  <a:srgbClr val="000000"/>
                </a:solidFill>
                <a:latin typeface="Open Sauce"/>
                <a:ea typeface="Open Sauce"/>
                <a:cs typeface="Open Sauce"/>
                <a:sym typeface="Open Sauce"/>
              </a:rPr>
              <a:t>Streets,  infrastructural assets,  waterways (OSM)</a:t>
            </a:r>
            <a:endParaRPr lang="en-US" sz="1500" spc="-70" dirty="0">
              <a:solidFill>
                <a:srgbClr val="000000"/>
              </a:solidFill>
              <a:latin typeface="Open Sauce"/>
              <a:ea typeface="Open Sauce"/>
              <a:cs typeface="Open Sauce"/>
            </a:endParaRPr>
          </a:p>
          <a:p>
            <a:pPr algn="l">
              <a:lnSpc>
                <a:spcPts val="1960"/>
              </a:lnSpc>
            </a:pPr>
            <a:endParaRPr lang="en-US" sz="1500" spc="-70" dirty="0">
              <a:solidFill>
                <a:srgbClr val="000000"/>
              </a:solidFill>
              <a:latin typeface="Open Sauce"/>
              <a:ea typeface="Open Sauce"/>
              <a:cs typeface="Open Sauce"/>
            </a:endParaRPr>
          </a:p>
          <a:p>
            <a:pPr marL="302260" lvl="1" indent="-151130" algn="l">
              <a:lnSpc>
                <a:spcPts val="1960"/>
              </a:lnSpc>
              <a:buFont typeface="Arial"/>
              <a:buChar char="•"/>
            </a:pPr>
            <a:r>
              <a:rPr lang="en-US" sz="1500" spc="-70" dirty="0" err="1">
                <a:solidFill>
                  <a:srgbClr val="000000"/>
                </a:solidFill>
                <a:latin typeface="Open Sauce"/>
                <a:ea typeface="Open Sauce"/>
                <a:cs typeface="Open Sauce"/>
                <a:sym typeface="Open Sauce"/>
              </a:rPr>
              <a:t>Pendolarismo</a:t>
            </a:r>
            <a:r>
              <a:rPr lang="en-US" sz="1500" spc="-70" dirty="0">
                <a:solidFill>
                  <a:srgbClr val="000000"/>
                </a:solidFill>
                <a:latin typeface="Open Sauce"/>
                <a:ea typeface="Open Sauce"/>
                <a:cs typeface="Open Sauce"/>
                <a:sym typeface="Open Sauce"/>
              </a:rPr>
              <a:t>, daily </a:t>
            </a:r>
            <a:r>
              <a:rPr lang="en-US" sz="1500" spc="-70" dirty="0" err="1">
                <a:solidFill>
                  <a:srgbClr val="000000"/>
                </a:solidFill>
                <a:latin typeface="Open Sauce"/>
                <a:ea typeface="Open Sauce"/>
                <a:cs typeface="Open Sauce"/>
                <a:sym typeface="Open Sauce"/>
              </a:rPr>
              <a:t>commutters</a:t>
            </a:r>
            <a:r>
              <a:rPr lang="en-US" sz="1500" spc="-70" dirty="0">
                <a:solidFill>
                  <a:srgbClr val="000000"/>
                </a:solidFill>
                <a:latin typeface="Open Sauce"/>
                <a:ea typeface="Open Sauce"/>
                <a:cs typeface="Open Sauce"/>
                <a:sym typeface="Open Sauce"/>
              </a:rPr>
              <a:t> between communes</a:t>
            </a:r>
            <a:endParaRPr lang="en-US" sz="1500" spc="-70" dirty="0">
              <a:solidFill>
                <a:srgbClr val="000000"/>
              </a:solidFill>
              <a:latin typeface="Open Sauce"/>
              <a:ea typeface="Open Sauce"/>
              <a:cs typeface="Open Sauce"/>
            </a:endParaRPr>
          </a:p>
          <a:p>
            <a:pPr algn="l">
              <a:lnSpc>
                <a:spcPts val="1960"/>
              </a:lnSpc>
            </a:pPr>
            <a:endParaRPr lang="en-US" sz="1500" spc="-70" dirty="0">
              <a:solidFill>
                <a:srgbClr val="000000"/>
              </a:solidFill>
              <a:latin typeface="Open Sauce"/>
              <a:ea typeface="Open Sauce"/>
              <a:cs typeface="Open Sauce"/>
            </a:endParaRPr>
          </a:p>
          <a:p>
            <a:pPr marL="302260" lvl="1" indent="-151130" algn="l">
              <a:lnSpc>
                <a:spcPts val="1960"/>
              </a:lnSpc>
              <a:buFont typeface="Arial"/>
              <a:buChar char="•"/>
            </a:pPr>
            <a:r>
              <a:rPr lang="en-US" sz="1500" spc="-70">
                <a:solidFill>
                  <a:srgbClr val="000000"/>
                </a:solidFill>
                <a:latin typeface="Open Sauce"/>
                <a:ea typeface="Open Sauce"/>
                <a:cs typeface="Open Sauce"/>
                <a:sym typeface="Open Sauce"/>
              </a:rPr>
              <a:t>Natural disasters interventions</a:t>
            </a:r>
            <a:endParaRPr lang="en-US" sz="1500" spc="-70" dirty="0">
              <a:solidFill>
                <a:srgbClr val="000000"/>
              </a:solidFill>
              <a:latin typeface="Open Sauce"/>
              <a:ea typeface="Open Sauce"/>
              <a:cs typeface="Open Sauce"/>
            </a:endParaRPr>
          </a:p>
          <a:p>
            <a:pPr algn="l">
              <a:lnSpc>
                <a:spcPts val="1960"/>
              </a:lnSpc>
            </a:pPr>
            <a:endParaRPr lang="en-US" sz="1500" spc="-70" dirty="0">
              <a:solidFill>
                <a:srgbClr val="000000"/>
              </a:solidFill>
              <a:latin typeface="Open Sauce"/>
              <a:ea typeface="Open Sauce"/>
              <a:cs typeface="Open Sauce"/>
            </a:endParaRPr>
          </a:p>
          <a:p>
            <a:pPr marL="302260" lvl="1" indent="-151130" algn="l">
              <a:lnSpc>
                <a:spcPts val="1960"/>
              </a:lnSpc>
              <a:buFont typeface="Arial"/>
              <a:buChar char="•"/>
            </a:pPr>
            <a:r>
              <a:rPr lang="en-US" sz="1500" spc="-70">
                <a:solidFill>
                  <a:srgbClr val="000000"/>
                </a:solidFill>
                <a:latin typeface="Open Sauce"/>
                <a:ea typeface="Open Sauce"/>
                <a:cs typeface="Open Sauce"/>
                <a:sym typeface="Open Sauce"/>
              </a:rPr>
              <a:t>High-resolution DTMs </a:t>
            </a:r>
            <a:endParaRPr lang="en-US" sz="1500" spc="-70" dirty="0">
              <a:solidFill>
                <a:srgbClr val="000000"/>
              </a:solidFill>
              <a:latin typeface="Open Sauce"/>
              <a:ea typeface="Open Sauce"/>
              <a:cs typeface="Open Sauce"/>
            </a:endParaRPr>
          </a:p>
        </p:txBody>
      </p:sp>
      <p:sp>
        <p:nvSpPr>
          <p:cNvPr id="41" name="TextBox 41"/>
          <p:cNvSpPr txBox="1"/>
          <p:nvPr/>
        </p:nvSpPr>
        <p:spPr>
          <a:xfrm>
            <a:off x="9371345" y="4831614"/>
            <a:ext cx="4140922" cy="239489"/>
          </a:xfrm>
          <a:prstGeom prst="rect">
            <a:avLst/>
          </a:prstGeom>
        </p:spPr>
        <p:txBody>
          <a:bodyPr wrap="square" lIns="0" tIns="0" rIns="0" bIns="0" rtlCol="0" anchor="t">
            <a:spAutoFit/>
          </a:bodyPr>
          <a:lstStyle/>
          <a:p>
            <a:pPr algn="ctr">
              <a:lnSpc>
                <a:spcPts val="1960"/>
              </a:lnSpc>
              <a:spcBef>
                <a:spcPct val="0"/>
              </a:spcBef>
            </a:pPr>
            <a:r>
              <a:rPr lang="en-US" sz="1600" spc="-70">
                <a:solidFill>
                  <a:srgbClr val="000000"/>
                </a:solidFill>
                <a:latin typeface="Open Sauce"/>
                <a:ea typeface="Open Sauce"/>
                <a:cs typeface="Open Sauce"/>
                <a:sym typeface="Open Sauce"/>
              </a:rPr>
              <a:t>Main sources by content</a:t>
            </a:r>
            <a:endParaRPr lang="en-US" sz="1600" spc="-70">
              <a:solidFill>
                <a:srgbClr val="000000"/>
              </a:solidFill>
              <a:latin typeface="Open Sauce"/>
              <a:ea typeface="Open Sauce"/>
              <a:cs typeface="Open Sauce"/>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8907421" y="366713"/>
            <a:ext cx="8815363" cy="1242776"/>
          </a:xfrm>
          <a:prstGeom prst="rect">
            <a:avLst/>
          </a:prstGeom>
        </p:spPr>
        <p:txBody>
          <a:bodyPr lIns="0" tIns="0" rIns="0" bIns="0" rtlCol="0" anchor="t">
            <a:spAutoFit/>
          </a:bodyPr>
          <a:lstStyle/>
          <a:p>
            <a:pPr algn="l">
              <a:lnSpc>
                <a:spcPts val="10311"/>
              </a:lnSpc>
            </a:pPr>
            <a:r>
              <a:rPr lang="en-US" sz="8550" spc="-687">
                <a:solidFill>
                  <a:srgbClr val="4B3C3D"/>
                </a:solidFill>
                <a:latin typeface="Open Sauce"/>
                <a:ea typeface="Open Sauce"/>
                <a:cs typeface="Open Sauce"/>
                <a:sym typeface="Open Sauce"/>
              </a:rPr>
              <a:t>Patents retrieval</a:t>
            </a:r>
            <a:endParaRPr lang="en-US" sz="8592" spc="-687">
              <a:solidFill>
                <a:srgbClr val="4B3C3D"/>
              </a:solidFill>
              <a:latin typeface="Open Sauce"/>
              <a:ea typeface="Open Sauce"/>
              <a:cs typeface="Open Sauce"/>
              <a:sym typeface="Open Sauce"/>
            </a:endParaRPr>
          </a:p>
        </p:txBody>
      </p:sp>
      <p:grpSp>
        <p:nvGrpSpPr>
          <p:cNvPr id="6" name="Group 6"/>
          <p:cNvGrpSpPr/>
          <p:nvPr/>
        </p:nvGrpSpPr>
        <p:grpSpPr>
          <a:xfrm>
            <a:off x="1028700" y="1382463"/>
            <a:ext cx="6149223" cy="3427194"/>
            <a:chOff x="0" y="0"/>
            <a:chExt cx="1619549" cy="902636"/>
          </a:xfrm>
        </p:grpSpPr>
        <p:sp>
          <p:nvSpPr>
            <p:cNvPr id="7" name="Freeform 7"/>
            <p:cNvSpPr/>
            <p:nvPr/>
          </p:nvSpPr>
          <p:spPr>
            <a:xfrm>
              <a:off x="0" y="0"/>
              <a:ext cx="1619549" cy="902636"/>
            </a:xfrm>
            <a:custGeom>
              <a:avLst/>
              <a:gdLst/>
              <a:ahLst/>
              <a:cxnLst/>
              <a:rect l="l" t="t" r="r" b="b"/>
              <a:pathLst>
                <a:path w="1619549" h="902636">
                  <a:moveTo>
                    <a:pt x="31475" y="0"/>
                  </a:moveTo>
                  <a:lnTo>
                    <a:pt x="1588073" y="0"/>
                  </a:lnTo>
                  <a:cubicBezTo>
                    <a:pt x="1605457" y="0"/>
                    <a:pt x="1619549" y="14092"/>
                    <a:pt x="1619549" y="31475"/>
                  </a:cubicBezTo>
                  <a:lnTo>
                    <a:pt x="1619549" y="871160"/>
                  </a:lnTo>
                  <a:cubicBezTo>
                    <a:pt x="1619549" y="879508"/>
                    <a:pt x="1616232" y="887514"/>
                    <a:pt x="1610330" y="893417"/>
                  </a:cubicBezTo>
                  <a:cubicBezTo>
                    <a:pt x="1604427" y="899319"/>
                    <a:pt x="1596421" y="902636"/>
                    <a:pt x="1588073" y="902636"/>
                  </a:cubicBezTo>
                  <a:lnTo>
                    <a:pt x="31475" y="902636"/>
                  </a:lnTo>
                  <a:cubicBezTo>
                    <a:pt x="23127" y="902636"/>
                    <a:pt x="15122" y="899319"/>
                    <a:pt x="9219" y="893417"/>
                  </a:cubicBezTo>
                  <a:cubicBezTo>
                    <a:pt x="3316" y="887514"/>
                    <a:pt x="0" y="879508"/>
                    <a:pt x="0" y="871160"/>
                  </a:cubicBezTo>
                  <a:lnTo>
                    <a:pt x="0" y="31475"/>
                  </a:lnTo>
                  <a:cubicBezTo>
                    <a:pt x="0" y="23127"/>
                    <a:pt x="3316" y="15122"/>
                    <a:pt x="9219" y="9219"/>
                  </a:cubicBezTo>
                  <a:cubicBezTo>
                    <a:pt x="15122" y="3316"/>
                    <a:pt x="23127" y="0"/>
                    <a:pt x="31475" y="0"/>
                  </a:cubicBezTo>
                  <a:close/>
                </a:path>
              </a:pathLst>
            </a:custGeom>
            <a:solidFill>
              <a:srgbClr val="72838A"/>
            </a:solidFill>
          </p:spPr>
        </p:sp>
        <p:sp>
          <p:nvSpPr>
            <p:cNvPr id="8" name="TextBox 8"/>
            <p:cNvSpPr txBox="1"/>
            <p:nvPr/>
          </p:nvSpPr>
          <p:spPr>
            <a:xfrm>
              <a:off x="0" y="-28575"/>
              <a:ext cx="1619549" cy="931211"/>
            </a:xfrm>
            <a:prstGeom prst="rect">
              <a:avLst/>
            </a:prstGeom>
          </p:spPr>
          <p:txBody>
            <a:bodyPr lIns="50800" tIns="50800" rIns="50800" bIns="50800" rtlCol="0" anchor="ctr"/>
            <a:lstStyle/>
            <a:p>
              <a:pPr algn="ctr">
                <a:lnSpc>
                  <a:spcPts val="1960"/>
                </a:lnSpc>
              </a:pPr>
              <a:endParaRPr/>
            </a:p>
          </p:txBody>
        </p:sp>
      </p:grpSp>
      <p:sp>
        <p:nvSpPr>
          <p:cNvPr id="9" name="TextBox 9"/>
          <p:cNvSpPr txBox="1"/>
          <p:nvPr/>
        </p:nvSpPr>
        <p:spPr>
          <a:xfrm>
            <a:off x="1847150" y="2330994"/>
            <a:ext cx="4512324" cy="2031967"/>
          </a:xfrm>
          <a:prstGeom prst="rect">
            <a:avLst/>
          </a:prstGeom>
        </p:spPr>
        <p:txBody>
          <a:bodyPr lIns="0" tIns="0" rIns="0" bIns="0" rtlCol="0" anchor="t">
            <a:spAutoFit/>
          </a:bodyPr>
          <a:lstStyle/>
          <a:p>
            <a:pPr algn="l">
              <a:lnSpc>
                <a:spcPts val="1960"/>
              </a:lnSpc>
            </a:pPr>
            <a:r>
              <a:rPr lang="en-US" sz="1500" spc="-70">
                <a:solidFill>
                  <a:srgbClr val="FFFFFF"/>
                </a:solidFill>
                <a:latin typeface="Open Sauce"/>
                <a:ea typeface="Open Sauce"/>
                <a:cs typeface="Open Sauce"/>
                <a:sym typeface="Open Sauce"/>
              </a:rPr>
              <a:t>Extracted a comprehensive macro-pool of global patents targeted at:</a:t>
            </a:r>
            <a:endParaRPr lang="en-US" sz="1500" spc="-70" dirty="0">
              <a:solidFill>
                <a:srgbClr val="FFFFFF"/>
              </a:solidFill>
              <a:latin typeface="Open Sauce"/>
              <a:ea typeface="Open Sauce"/>
              <a:cs typeface="Open Sauce"/>
            </a:endParaRPr>
          </a:p>
          <a:p>
            <a:pPr algn="l">
              <a:lnSpc>
                <a:spcPts val="1960"/>
              </a:lnSpc>
            </a:pPr>
            <a:endParaRPr lang="en-US" sz="1500" spc="-70" dirty="0">
              <a:solidFill>
                <a:srgbClr val="FFFFFF"/>
              </a:solidFill>
              <a:latin typeface="Open Sauce"/>
              <a:ea typeface="Open Sauce"/>
              <a:cs typeface="Open Sauce"/>
            </a:endParaRPr>
          </a:p>
          <a:p>
            <a:pPr marL="302260" lvl="1" indent="-151130" algn="l">
              <a:lnSpc>
                <a:spcPts val="1960"/>
              </a:lnSpc>
              <a:buFont typeface="Arial"/>
              <a:buChar char="•"/>
            </a:pPr>
            <a:r>
              <a:rPr lang="en-US" sz="1500" spc="-70">
                <a:solidFill>
                  <a:srgbClr val="FFFFFF"/>
                </a:solidFill>
                <a:latin typeface="Open Sauce"/>
                <a:ea typeface="Open Sauce"/>
                <a:cs typeface="Open Sauce"/>
                <a:sym typeface="Open Sauce"/>
              </a:rPr>
              <a:t>Water distribution networks</a:t>
            </a:r>
            <a:endParaRPr lang="en-US" sz="1500" spc="-70" dirty="0">
              <a:solidFill>
                <a:srgbClr val="FFFFFF"/>
              </a:solidFill>
              <a:latin typeface="Open Sauce"/>
              <a:ea typeface="Open Sauce"/>
              <a:cs typeface="Open Sauce"/>
            </a:endParaRPr>
          </a:p>
          <a:p>
            <a:pPr algn="l">
              <a:lnSpc>
                <a:spcPts val="1960"/>
              </a:lnSpc>
            </a:pPr>
            <a:endParaRPr lang="en-US" sz="1500" spc="-70" dirty="0">
              <a:solidFill>
                <a:srgbClr val="FFFFFF"/>
              </a:solidFill>
              <a:latin typeface="Open Sauce"/>
              <a:ea typeface="Open Sauce"/>
              <a:cs typeface="Open Sauce"/>
            </a:endParaRPr>
          </a:p>
          <a:p>
            <a:pPr marL="302260" lvl="1" indent="-151130" algn="l">
              <a:lnSpc>
                <a:spcPts val="1960"/>
              </a:lnSpc>
              <a:buFont typeface="Arial"/>
              <a:buChar char="•"/>
            </a:pPr>
            <a:r>
              <a:rPr lang="en-US" sz="1500" spc="-70">
                <a:solidFill>
                  <a:srgbClr val="FFFFFF"/>
                </a:solidFill>
                <a:latin typeface="Open Sauce"/>
                <a:ea typeface="Open Sauce"/>
                <a:cs typeface="Open Sauce"/>
                <a:sym typeface="Open Sauce"/>
              </a:rPr>
              <a:t>Bulk water transportation</a:t>
            </a:r>
            <a:endParaRPr lang="en-US" sz="1500" spc="-70" dirty="0">
              <a:solidFill>
                <a:srgbClr val="FFFFFF"/>
              </a:solidFill>
              <a:latin typeface="Open Sauce"/>
              <a:ea typeface="Open Sauce"/>
              <a:cs typeface="Open Sauce"/>
            </a:endParaRPr>
          </a:p>
          <a:p>
            <a:pPr algn="l">
              <a:lnSpc>
                <a:spcPts val="1960"/>
              </a:lnSpc>
            </a:pPr>
            <a:endParaRPr lang="en-US" sz="1500" spc="-70" dirty="0">
              <a:solidFill>
                <a:srgbClr val="FFFFFF"/>
              </a:solidFill>
              <a:latin typeface="Open Sauce"/>
              <a:ea typeface="Open Sauce"/>
              <a:cs typeface="Open Sauce"/>
            </a:endParaRPr>
          </a:p>
          <a:p>
            <a:pPr marL="302260" lvl="1" indent="-151130" algn="l">
              <a:lnSpc>
                <a:spcPts val="1960"/>
              </a:lnSpc>
              <a:buFont typeface="Arial"/>
              <a:buChar char="•"/>
            </a:pPr>
            <a:r>
              <a:rPr lang="en-US" sz="1500" spc="-70">
                <a:solidFill>
                  <a:srgbClr val="FFFFFF"/>
                </a:solidFill>
                <a:latin typeface="Open Sauce"/>
                <a:ea typeface="Open Sauce"/>
                <a:cs typeface="Open Sauce"/>
                <a:sym typeface="Open Sauce"/>
              </a:rPr>
              <a:t>Sewage and wastewater infrastructure</a:t>
            </a:r>
            <a:endParaRPr lang="en-US" sz="1500" spc="-70" dirty="0">
              <a:solidFill>
                <a:srgbClr val="FFFFFF"/>
              </a:solidFill>
              <a:latin typeface="Open Sauce"/>
              <a:ea typeface="Open Sauce"/>
              <a:cs typeface="Open Sauce"/>
            </a:endParaRPr>
          </a:p>
        </p:txBody>
      </p:sp>
      <p:sp>
        <p:nvSpPr>
          <p:cNvPr id="10" name="TextBox 10"/>
          <p:cNvSpPr txBox="1"/>
          <p:nvPr/>
        </p:nvSpPr>
        <p:spPr>
          <a:xfrm>
            <a:off x="1847150" y="1654605"/>
            <a:ext cx="4512324" cy="346377"/>
          </a:xfrm>
          <a:prstGeom prst="rect">
            <a:avLst/>
          </a:prstGeom>
        </p:spPr>
        <p:txBody>
          <a:bodyPr lIns="0" tIns="0" rIns="0" bIns="0" rtlCol="0" anchor="t">
            <a:spAutoFit/>
          </a:bodyPr>
          <a:lstStyle/>
          <a:p>
            <a:pPr>
              <a:lnSpc>
                <a:spcPts val="2939"/>
              </a:lnSpc>
              <a:spcBef>
                <a:spcPct val="0"/>
              </a:spcBef>
            </a:pPr>
            <a:r>
              <a:rPr lang="en-US" sz="2100" spc="-104">
                <a:solidFill>
                  <a:srgbClr val="FFFFFF"/>
                </a:solidFill>
                <a:latin typeface="Open Sauce"/>
                <a:sym typeface="Open Sauce"/>
              </a:rPr>
              <a:t>Retrieval strategy</a:t>
            </a:r>
            <a:endParaRPr lang="en-US" sz="2100">
              <a:ea typeface="Calibri"/>
              <a:cs typeface="Calibri"/>
            </a:endParaRPr>
          </a:p>
        </p:txBody>
      </p:sp>
      <p:grpSp>
        <p:nvGrpSpPr>
          <p:cNvPr id="11" name="Group 11"/>
          <p:cNvGrpSpPr/>
          <p:nvPr/>
        </p:nvGrpSpPr>
        <p:grpSpPr>
          <a:xfrm>
            <a:off x="1028700" y="5249045"/>
            <a:ext cx="6149223" cy="3427194"/>
            <a:chOff x="0" y="0"/>
            <a:chExt cx="1619549" cy="902636"/>
          </a:xfrm>
        </p:grpSpPr>
        <p:sp>
          <p:nvSpPr>
            <p:cNvPr id="12" name="Freeform 12"/>
            <p:cNvSpPr/>
            <p:nvPr/>
          </p:nvSpPr>
          <p:spPr>
            <a:xfrm>
              <a:off x="0" y="0"/>
              <a:ext cx="1619549" cy="902636"/>
            </a:xfrm>
            <a:custGeom>
              <a:avLst/>
              <a:gdLst/>
              <a:ahLst/>
              <a:cxnLst/>
              <a:rect l="l" t="t" r="r" b="b"/>
              <a:pathLst>
                <a:path w="1619549" h="902636">
                  <a:moveTo>
                    <a:pt x="31475" y="0"/>
                  </a:moveTo>
                  <a:lnTo>
                    <a:pt x="1588073" y="0"/>
                  </a:lnTo>
                  <a:cubicBezTo>
                    <a:pt x="1605457" y="0"/>
                    <a:pt x="1619549" y="14092"/>
                    <a:pt x="1619549" y="31475"/>
                  </a:cubicBezTo>
                  <a:lnTo>
                    <a:pt x="1619549" y="871160"/>
                  </a:lnTo>
                  <a:cubicBezTo>
                    <a:pt x="1619549" y="879508"/>
                    <a:pt x="1616232" y="887514"/>
                    <a:pt x="1610330" y="893417"/>
                  </a:cubicBezTo>
                  <a:cubicBezTo>
                    <a:pt x="1604427" y="899319"/>
                    <a:pt x="1596421" y="902636"/>
                    <a:pt x="1588073" y="902636"/>
                  </a:cubicBezTo>
                  <a:lnTo>
                    <a:pt x="31475" y="902636"/>
                  </a:lnTo>
                  <a:cubicBezTo>
                    <a:pt x="23127" y="902636"/>
                    <a:pt x="15122" y="899319"/>
                    <a:pt x="9219" y="893417"/>
                  </a:cubicBezTo>
                  <a:cubicBezTo>
                    <a:pt x="3316" y="887514"/>
                    <a:pt x="0" y="879508"/>
                    <a:pt x="0" y="871160"/>
                  </a:cubicBezTo>
                  <a:lnTo>
                    <a:pt x="0" y="31475"/>
                  </a:lnTo>
                  <a:cubicBezTo>
                    <a:pt x="0" y="23127"/>
                    <a:pt x="3316" y="15122"/>
                    <a:pt x="9219" y="9219"/>
                  </a:cubicBezTo>
                  <a:cubicBezTo>
                    <a:pt x="15122" y="3316"/>
                    <a:pt x="23127" y="0"/>
                    <a:pt x="31475" y="0"/>
                  </a:cubicBezTo>
                  <a:close/>
                </a:path>
              </a:pathLst>
            </a:custGeom>
            <a:solidFill>
              <a:srgbClr val="72838A"/>
            </a:solidFill>
          </p:spPr>
        </p:sp>
        <p:sp>
          <p:nvSpPr>
            <p:cNvPr id="13" name="TextBox 13"/>
            <p:cNvSpPr txBox="1"/>
            <p:nvPr/>
          </p:nvSpPr>
          <p:spPr>
            <a:xfrm>
              <a:off x="0" y="-28575"/>
              <a:ext cx="1619549" cy="931211"/>
            </a:xfrm>
            <a:prstGeom prst="rect">
              <a:avLst/>
            </a:prstGeom>
          </p:spPr>
          <p:txBody>
            <a:bodyPr lIns="50800" tIns="50800" rIns="50800" bIns="50800" rtlCol="0" anchor="ctr"/>
            <a:lstStyle/>
            <a:p>
              <a:pPr algn="ctr">
                <a:lnSpc>
                  <a:spcPts val="1960"/>
                </a:lnSpc>
              </a:pPr>
              <a:endParaRPr/>
            </a:p>
          </p:txBody>
        </p:sp>
      </p:grpSp>
      <p:sp>
        <p:nvSpPr>
          <p:cNvPr id="14" name="TextBox 14"/>
          <p:cNvSpPr txBox="1"/>
          <p:nvPr/>
        </p:nvSpPr>
        <p:spPr>
          <a:xfrm>
            <a:off x="1847150" y="6095627"/>
            <a:ext cx="4512324" cy="2288447"/>
          </a:xfrm>
          <a:prstGeom prst="rect">
            <a:avLst/>
          </a:prstGeom>
        </p:spPr>
        <p:txBody>
          <a:bodyPr lIns="0" tIns="0" rIns="0" bIns="0" rtlCol="0" anchor="t">
            <a:spAutoFit/>
          </a:bodyPr>
          <a:lstStyle/>
          <a:p>
            <a:pPr marL="302260" lvl="1" indent="-151130" algn="l">
              <a:lnSpc>
                <a:spcPts val="1960"/>
              </a:lnSpc>
              <a:buFont typeface="Arial"/>
              <a:buChar char="•"/>
            </a:pPr>
            <a:r>
              <a:rPr lang="en-US" sz="1500" b="1" spc="-70">
                <a:solidFill>
                  <a:srgbClr val="FFFFFF"/>
                </a:solidFill>
                <a:latin typeface="Open Sauce Bold"/>
                <a:ea typeface="Open Sauce Bold"/>
                <a:cs typeface="Open Sauce Bold"/>
                <a:sym typeface="Open Sauce Bold"/>
              </a:rPr>
              <a:t>Physical: Structural pipeline faults, joints, reinforcements, and physical assets.</a:t>
            </a:r>
            <a:endParaRPr lang="en-US" sz="1500" b="1" spc="-70" dirty="0">
              <a:solidFill>
                <a:srgbClr val="FFFFFF"/>
              </a:solidFill>
              <a:latin typeface="Open Sauce Bold"/>
              <a:ea typeface="Open Sauce Bold"/>
              <a:cs typeface="Open Sauce Bold"/>
            </a:endParaRPr>
          </a:p>
          <a:p>
            <a:pPr algn="l">
              <a:lnSpc>
                <a:spcPts val="1960"/>
              </a:lnSpc>
            </a:pPr>
            <a:endParaRPr lang="en-US" sz="1500" b="1" spc="-70" dirty="0">
              <a:solidFill>
                <a:srgbClr val="FFFFFF"/>
              </a:solidFill>
              <a:latin typeface="Open Sauce Bold"/>
              <a:ea typeface="Open Sauce Bold"/>
              <a:cs typeface="Open Sauce Bold"/>
            </a:endParaRPr>
          </a:p>
          <a:p>
            <a:pPr marL="302260" lvl="1" indent="-151130" algn="l">
              <a:lnSpc>
                <a:spcPts val="1960"/>
              </a:lnSpc>
              <a:buFont typeface="Arial"/>
              <a:buChar char="•"/>
            </a:pPr>
            <a:r>
              <a:rPr lang="en-US" sz="1500" b="1" spc="-70">
                <a:solidFill>
                  <a:srgbClr val="FFFFFF"/>
                </a:solidFill>
                <a:latin typeface="Open Sauce Bold"/>
                <a:ea typeface="Open Sauce Bold"/>
                <a:cs typeface="Open Sauce Bold"/>
                <a:sym typeface="Open Sauce Bold"/>
              </a:rPr>
              <a:t>Environmental: Soil stabilization, erosion control, and external terrain-defense solutions.</a:t>
            </a:r>
            <a:endParaRPr lang="en-US" sz="1500" b="1" spc="-70" dirty="0">
              <a:solidFill>
                <a:srgbClr val="FFFFFF"/>
              </a:solidFill>
              <a:latin typeface="Open Sauce Bold"/>
              <a:ea typeface="Open Sauce Bold"/>
              <a:cs typeface="Open Sauce Bold"/>
            </a:endParaRPr>
          </a:p>
          <a:p>
            <a:pPr algn="l">
              <a:lnSpc>
                <a:spcPts val="1960"/>
              </a:lnSpc>
            </a:pPr>
            <a:endParaRPr lang="en-US" sz="1500" b="1" spc="-70" dirty="0">
              <a:solidFill>
                <a:srgbClr val="FFFFFF"/>
              </a:solidFill>
              <a:latin typeface="Open Sauce Bold"/>
              <a:ea typeface="Open Sauce Bold"/>
              <a:cs typeface="Open Sauce Bold"/>
            </a:endParaRPr>
          </a:p>
          <a:p>
            <a:pPr marL="302260" lvl="1" indent="-151130" algn="l">
              <a:lnSpc>
                <a:spcPts val="1960"/>
              </a:lnSpc>
              <a:buFont typeface="Arial"/>
              <a:buChar char="•"/>
            </a:pPr>
            <a:r>
              <a:rPr lang="en-US" sz="1500" b="1" spc="-70" dirty="0">
                <a:solidFill>
                  <a:srgbClr val="FFFFFF"/>
                </a:solidFill>
                <a:latin typeface="Open Sauce Bold"/>
                <a:ea typeface="Open Sauce Bold"/>
                <a:cs typeface="Open Sauce Bold"/>
                <a:sym typeface="Open Sauce Bold"/>
              </a:rPr>
              <a:t>Technologies</a:t>
            </a:r>
            <a:r>
              <a:rPr lang="en-US" sz="1500" spc="-70" dirty="0">
                <a:solidFill>
                  <a:srgbClr val="FFFFFF"/>
                </a:solidFill>
                <a:latin typeface="Open Sauce"/>
                <a:ea typeface="Open Sauce"/>
                <a:cs typeface="Open Sauce"/>
                <a:sym typeface="Open Sauce"/>
              </a:rPr>
              <a:t>: Digital systems, monitoring tools, smart valves, and software layers.</a:t>
            </a:r>
            <a:endParaRPr lang="en-US" sz="1500" spc="-70" dirty="0">
              <a:solidFill>
                <a:srgbClr val="FFFFFF"/>
              </a:solidFill>
              <a:latin typeface="Open Sauce"/>
              <a:ea typeface="Open Sauce"/>
              <a:cs typeface="Open Sauce"/>
            </a:endParaRPr>
          </a:p>
          <a:p>
            <a:pPr algn="l">
              <a:lnSpc>
                <a:spcPts val="1960"/>
              </a:lnSpc>
              <a:spcBef>
                <a:spcPct val="0"/>
              </a:spcBef>
            </a:pPr>
            <a:endParaRPr lang="en-US" sz="1500" spc="-70" dirty="0">
              <a:solidFill>
                <a:srgbClr val="FFFFFF"/>
              </a:solidFill>
              <a:latin typeface="Open Sauce"/>
              <a:ea typeface="Open Sauce"/>
              <a:cs typeface="Open Sauce"/>
            </a:endParaRPr>
          </a:p>
        </p:txBody>
      </p:sp>
      <p:sp>
        <p:nvSpPr>
          <p:cNvPr id="15" name="TextBox 15"/>
          <p:cNvSpPr txBox="1"/>
          <p:nvPr/>
        </p:nvSpPr>
        <p:spPr>
          <a:xfrm>
            <a:off x="1847150" y="5535698"/>
            <a:ext cx="4512324" cy="340799"/>
          </a:xfrm>
          <a:prstGeom prst="rect">
            <a:avLst/>
          </a:prstGeom>
        </p:spPr>
        <p:txBody>
          <a:bodyPr lIns="0" tIns="0" rIns="0" bIns="0" rtlCol="0" anchor="t">
            <a:spAutoFit/>
          </a:bodyPr>
          <a:lstStyle/>
          <a:p>
            <a:pPr algn="l">
              <a:lnSpc>
                <a:spcPts val="2939"/>
              </a:lnSpc>
              <a:spcBef>
                <a:spcPct val="0"/>
              </a:spcBef>
            </a:pPr>
            <a:r>
              <a:rPr lang="en-US" sz="2100" spc="-104">
                <a:solidFill>
                  <a:srgbClr val="FFFFFF"/>
                </a:solidFill>
                <a:latin typeface="Open Sauce"/>
                <a:ea typeface="Open Sauce"/>
                <a:cs typeface="Open Sauce"/>
                <a:sym typeface="Open Sauce"/>
              </a:rPr>
              <a:t>The classification dimensions</a:t>
            </a:r>
            <a:endParaRPr lang="en-US" sz="2100" spc="-104">
              <a:solidFill>
                <a:srgbClr val="FFFFFF"/>
              </a:solidFill>
              <a:latin typeface="Open Sauce"/>
              <a:ea typeface="Open Sauce"/>
              <a:cs typeface="Open Sauce"/>
            </a:endParaRPr>
          </a:p>
        </p:txBody>
      </p:sp>
      <p:pic>
        <p:nvPicPr>
          <p:cNvPr id="16" name="Picture 15" descr="A diagram of a diagram&#10;&#10;AI-generated content may be incorrect.">
            <a:extLst>
              <a:ext uri="{FF2B5EF4-FFF2-40B4-BE49-F238E27FC236}">
                <a16:creationId xmlns:a16="http://schemas.microsoft.com/office/drawing/2014/main" id="{B69D7B2C-F5D9-0453-2FBB-745E2E2DBA23}"/>
              </a:ext>
            </a:extLst>
          </p:cNvPr>
          <p:cNvPicPr>
            <a:picLocks noChangeAspect="1"/>
          </p:cNvPicPr>
          <p:nvPr/>
        </p:nvPicPr>
        <p:blipFill>
          <a:blip r:embed="rId2"/>
          <a:stretch>
            <a:fillRect/>
          </a:stretch>
        </p:blipFill>
        <p:spPr>
          <a:xfrm>
            <a:off x="8210550" y="1719262"/>
            <a:ext cx="9525000" cy="7620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305793" y="6745537"/>
            <a:ext cx="5568433" cy="2141675"/>
            <a:chOff x="0" y="0"/>
            <a:chExt cx="2092468" cy="804784"/>
          </a:xfrm>
        </p:grpSpPr>
        <p:sp>
          <p:nvSpPr>
            <p:cNvPr id="5" name="Freeform 5"/>
            <p:cNvSpPr/>
            <p:nvPr/>
          </p:nvSpPr>
          <p:spPr>
            <a:xfrm>
              <a:off x="0" y="0"/>
              <a:ext cx="2092468" cy="804784"/>
            </a:xfrm>
            <a:custGeom>
              <a:avLst/>
              <a:gdLst/>
              <a:ahLst/>
              <a:cxnLst/>
              <a:rect l="l" t="t" r="r" b="b"/>
              <a:pathLst>
                <a:path w="2092468" h="804784">
                  <a:moveTo>
                    <a:pt x="34758" y="0"/>
                  </a:moveTo>
                  <a:lnTo>
                    <a:pt x="2057710" y="0"/>
                  </a:lnTo>
                  <a:cubicBezTo>
                    <a:pt x="2076906" y="0"/>
                    <a:pt x="2092468" y="15562"/>
                    <a:pt x="2092468" y="34758"/>
                  </a:cubicBezTo>
                  <a:lnTo>
                    <a:pt x="2092468" y="770026"/>
                  </a:lnTo>
                  <a:cubicBezTo>
                    <a:pt x="2092468" y="789223"/>
                    <a:pt x="2076906" y="804784"/>
                    <a:pt x="2057710" y="804784"/>
                  </a:cubicBezTo>
                  <a:lnTo>
                    <a:pt x="34758" y="804784"/>
                  </a:lnTo>
                  <a:cubicBezTo>
                    <a:pt x="15562" y="804784"/>
                    <a:pt x="0" y="789223"/>
                    <a:pt x="0" y="770026"/>
                  </a:cubicBezTo>
                  <a:lnTo>
                    <a:pt x="0" y="34758"/>
                  </a:lnTo>
                  <a:cubicBezTo>
                    <a:pt x="0" y="15562"/>
                    <a:pt x="15562" y="0"/>
                    <a:pt x="34758" y="0"/>
                  </a:cubicBezTo>
                  <a:close/>
                </a:path>
              </a:pathLst>
            </a:custGeom>
            <a:solidFill>
              <a:srgbClr val="72838A"/>
            </a:solidFill>
          </p:spPr>
        </p:sp>
        <p:sp>
          <p:nvSpPr>
            <p:cNvPr id="6" name="TextBox 6"/>
            <p:cNvSpPr txBox="1"/>
            <p:nvPr/>
          </p:nvSpPr>
          <p:spPr>
            <a:xfrm>
              <a:off x="0" y="-28575"/>
              <a:ext cx="2092468" cy="833359"/>
            </a:xfrm>
            <a:prstGeom prst="rect">
              <a:avLst/>
            </a:prstGeom>
          </p:spPr>
          <p:txBody>
            <a:bodyPr lIns="50800" tIns="50800" rIns="50800" bIns="50800" rtlCol="0" anchor="ctr"/>
            <a:lstStyle/>
            <a:p>
              <a:pPr algn="ctr">
                <a:lnSpc>
                  <a:spcPts val="1960"/>
                </a:lnSpc>
              </a:pPr>
              <a:endParaRPr/>
            </a:p>
          </p:txBody>
        </p:sp>
      </p:grpSp>
      <p:grpSp>
        <p:nvGrpSpPr>
          <p:cNvPr id="7" name="Group 7"/>
          <p:cNvGrpSpPr/>
          <p:nvPr/>
        </p:nvGrpSpPr>
        <p:grpSpPr>
          <a:xfrm>
            <a:off x="6411945" y="6745537"/>
            <a:ext cx="5568433" cy="2141675"/>
            <a:chOff x="0" y="0"/>
            <a:chExt cx="2092468" cy="804784"/>
          </a:xfrm>
        </p:grpSpPr>
        <p:sp>
          <p:nvSpPr>
            <p:cNvPr id="8" name="Freeform 8"/>
            <p:cNvSpPr/>
            <p:nvPr/>
          </p:nvSpPr>
          <p:spPr>
            <a:xfrm>
              <a:off x="0" y="0"/>
              <a:ext cx="2092468" cy="804784"/>
            </a:xfrm>
            <a:custGeom>
              <a:avLst/>
              <a:gdLst/>
              <a:ahLst/>
              <a:cxnLst/>
              <a:rect l="l" t="t" r="r" b="b"/>
              <a:pathLst>
                <a:path w="2092468" h="804784">
                  <a:moveTo>
                    <a:pt x="34758" y="0"/>
                  </a:moveTo>
                  <a:lnTo>
                    <a:pt x="2057710" y="0"/>
                  </a:lnTo>
                  <a:cubicBezTo>
                    <a:pt x="2076906" y="0"/>
                    <a:pt x="2092468" y="15562"/>
                    <a:pt x="2092468" y="34758"/>
                  </a:cubicBezTo>
                  <a:lnTo>
                    <a:pt x="2092468" y="770026"/>
                  </a:lnTo>
                  <a:cubicBezTo>
                    <a:pt x="2092468" y="789223"/>
                    <a:pt x="2076906" y="804784"/>
                    <a:pt x="2057710" y="804784"/>
                  </a:cubicBezTo>
                  <a:lnTo>
                    <a:pt x="34758" y="804784"/>
                  </a:lnTo>
                  <a:cubicBezTo>
                    <a:pt x="15562" y="804784"/>
                    <a:pt x="0" y="789223"/>
                    <a:pt x="0" y="770026"/>
                  </a:cubicBezTo>
                  <a:lnTo>
                    <a:pt x="0" y="34758"/>
                  </a:lnTo>
                  <a:cubicBezTo>
                    <a:pt x="0" y="15562"/>
                    <a:pt x="15562" y="0"/>
                    <a:pt x="34758" y="0"/>
                  </a:cubicBezTo>
                  <a:close/>
                </a:path>
              </a:pathLst>
            </a:custGeom>
            <a:solidFill>
              <a:srgbClr val="B8C0BF"/>
            </a:solidFill>
          </p:spPr>
        </p:sp>
        <p:sp>
          <p:nvSpPr>
            <p:cNvPr id="9" name="TextBox 9"/>
            <p:cNvSpPr txBox="1"/>
            <p:nvPr/>
          </p:nvSpPr>
          <p:spPr>
            <a:xfrm>
              <a:off x="0" y="-28575"/>
              <a:ext cx="2092468" cy="833359"/>
            </a:xfrm>
            <a:prstGeom prst="rect">
              <a:avLst/>
            </a:prstGeom>
          </p:spPr>
          <p:txBody>
            <a:bodyPr lIns="50800" tIns="50800" rIns="50800" bIns="50800" rtlCol="0" anchor="ctr"/>
            <a:lstStyle/>
            <a:p>
              <a:pPr algn="ctr">
                <a:lnSpc>
                  <a:spcPts val="1960"/>
                </a:lnSpc>
              </a:pPr>
              <a:endParaRPr/>
            </a:p>
          </p:txBody>
        </p:sp>
      </p:grpSp>
      <p:grpSp>
        <p:nvGrpSpPr>
          <p:cNvPr id="10" name="Group 10"/>
          <p:cNvGrpSpPr/>
          <p:nvPr/>
        </p:nvGrpSpPr>
        <p:grpSpPr>
          <a:xfrm>
            <a:off x="12513778" y="6745537"/>
            <a:ext cx="5568433" cy="2141675"/>
            <a:chOff x="0" y="0"/>
            <a:chExt cx="2092468" cy="804784"/>
          </a:xfrm>
        </p:grpSpPr>
        <p:sp>
          <p:nvSpPr>
            <p:cNvPr id="11" name="Freeform 11"/>
            <p:cNvSpPr/>
            <p:nvPr/>
          </p:nvSpPr>
          <p:spPr>
            <a:xfrm>
              <a:off x="0" y="0"/>
              <a:ext cx="2092468" cy="804784"/>
            </a:xfrm>
            <a:custGeom>
              <a:avLst/>
              <a:gdLst/>
              <a:ahLst/>
              <a:cxnLst/>
              <a:rect l="l" t="t" r="r" b="b"/>
              <a:pathLst>
                <a:path w="2092468" h="804784">
                  <a:moveTo>
                    <a:pt x="34758" y="0"/>
                  </a:moveTo>
                  <a:lnTo>
                    <a:pt x="2057710" y="0"/>
                  </a:lnTo>
                  <a:cubicBezTo>
                    <a:pt x="2076906" y="0"/>
                    <a:pt x="2092468" y="15562"/>
                    <a:pt x="2092468" y="34758"/>
                  </a:cubicBezTo>
                  <a:lnTo>
                    <a:pt x="2092468" y="770026"/>
                  </a:lnTo>
                  <a:cubicBezTo>
                    <a:pt x="2092468" y="789223"/>
                    <a:pt x="2076906" y="804784"/>
                    <a:pt x="2057710" y="804784"/>
                  </a:cubicBezTo>
                  <a:lnTo>
                    <a:pt x="34758" y="804784"/>
                  </a:lnTo>
                  <a:cubicBezTo>
                    <a:pt x="15562" y="804784"/>
                    <a:pt x="0" y="789223"/>
                    <a:pt x="0" y="770026"/>
                  </a:cubicBezTo>
                  <a:lnTo>
                    <a:pt x="0" y="34758"/>
                  </a:lnTo>
                  <a:cubicBezTo>
                    <a:pt x="0" y="15562"/>
                    <a:pt x="15562" y="0"/>
                    <a:pt x="34758" y="0"/>
                  </a:cubicBezTo>
                  <a:close/>
                </a:path>
              </a:pathLst>
            </a:custGeom>
            <a:solidFill>
              <a:srgbClr val="72838A"/>
            </a:solidFill>
          </p:spPr>
        </p:sp>
        <p:sp>
          <p:nvSpPr>
            <p:cNvPr id="12" name="TextBox 12"/>
            <p:cNvSpPr txBox="1"/>
            <p:nvPr/>
          </p:nvSpPr>
          <p:spPr>
            <a:xfrm>
              <a:off x="0" y="-28575"/>
              <a:ext cx="2092468" cy="833359"/>
            </a:xfrm>
            <a:prstGeom prst="rect">
              <a:avLst/>
            </a:prstGeom>
          </p:spPr>
          <p:txBody>
            <a:bodyPr lIns="50800" tIns="50800" rIns="50800" bIns="50800" rtlCol="0" anchor="ctr"/>
            <a:lstStyle/>
            <a:p>
              <a:pPr algn="ctr">
                <a:lnSpc>
                  <a:spcPts val="1960"/>
                </a:lnSpc>
              </a:pPr>
              <a:endParaRPr/>
            </a:p>
          </p:txBody>
        </p:sp>
      </p:grpSp>
      <p:sp>
        <p:nvSpPr>
          <p:cNvPr id="13" name="Freeform 13"/>
          <p:cNvSpPr/>
          <p:nvPr/>
        </p:nvSpPr>
        <p:spPr>
          <a:xfrm rot="2596003">
            <a:off x="4443552" y="5408514"/>
            <a:ext cx="2336596" cy="2424871"/>
          </a:xfrm>
          <a:custGeom>
            <a:avLst/>
            <a:gdLst/>
            <a:ahLst/>
            <a:cxnLst/>
            <a:rect l="l" t="t" r="r" b="b"/>
            <a:pathLst>
              <a:path w="2336596" h="2424871">
                <a:moveTo>
                  <a:pt x="0" y="0"/>
                </a:moveTo>
                <a:lnTo>
                  <a:pt x="2336596" y="0"/>
                </a:lnTo>
                <a:lnTo>
                  <a:pt x="2336596" y="2424872"/>
                </a:lnTo>
                <a:lnTo>
                  <a:pt x="0" y="2424872"/>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4" name="TextBox 14"/>
          <p:cNvSpPr txBox="1"/>
          <p:nvPr/>
        </p:nvSpPr>
        <p:spPr>
          <a:xfrm>
            <a:off x="6738812" y="6813612"/>
            <a:ext cx="4914698" cy="248365"/>
          </a:xfrm>
          <a:prstGeom prst="rect">
            <a:avLst/>
          </a:prstGeom>
        </p:spPr>
        <p:txBody>
          <a:bodyPr lIns="0" tIns="0" rIns="0" bIns="0" rtlCol="0" anchor="t">
            <a:spAutoFit/>
          </a:bodyPr>
          <a:lstStyle/>
          <a:p>
            <a:pPr algn="l">
              <a:lnSpc>
                <a:spcPts val="2060"/>
              </a:lnSpc>
              <a:spcBef>
                <a:spcPct val="0"/>
              </a:spcBef>
            </a:pPr>
            <a:r>
              <a:rPr lang="en-US" sz="1500" b="1" spc="-73">
                <a:solidFill>
                  <a:srgbClr val="000000"/>
                </a:solidFill>
                <a:latin typeface="Open Sauce Bold"/>
                <a:ea typeface="Open Sauce Bold"/>
                <a:cs typeface="Open Sauce Bold"/>
                <a:sym typeface="Open Sauce Bold"/>
              </a:rPr>
              <a:t>Conditions</a:t>
            </a:r>
            <a:endParaRPr lang="en-US" sz="1500" b="1" spc="-73">
              <a:solidFill>
                <a:srgbClr val="000000"/>
              </a:solidFill>
              <a:latin typeface="Open Sauce Bold"/>
              <a:ea typeface="Open Sauce Bold"/>
              <a:cs typeface="Open Sauce Bold"/>
            </a:endParaRPr>
          </a:p>
        </p:txBody>
      </p:sp>
      <p:sp>
        <p:nvSpPr>
          <p:cNvPr id="15" name="TextBox 15"/>
          <p:cNvSpPr txBox="1"/>
          <p:nvPr/>
        </p:nvSpPr>
        <p:spPr>
          <a:xfrm>
            <a:off x="12840645" y="6813612"/>
            <a:ext cx="4914698" cy="251552"/>
          </a:xfrm>
          <a:prstGeom prst="rect">
            <a:avLst/>
          </a:prstGeom>
        </p:spPr>
        <p:txBody>
          <a:bodyPr lIns="0" tIns="0" rIns="0" bIns="0" rtlCol="0" anchor="t">
            <a:spAutoFit/>
          </a:bodyPr>
          <a:lstStyle/>
          <a:p>
            <a:pPr algn="l">
              <a:lnSpc>
                <a:spcPts val="2060"/>
              </a:lnSpc>
              <a:spcBef>
                <a:spcPct val="0"/>
              </a:spcBef>
            </a:pPr>
            <a:r>
              <a:rPr lang="en-US" sz="1500" b="1" spc="-73">
                <a:solidFill>
                  <a:srgbClr val="FFFFFF"/>
                </a:solidFill>
                <a:latin typeface="Open Sauce Bold"/>
                <a:ea typeface="Open Sauce Bold"/>
                <a:cs typeface="Open Sauce Bold"/>
                <a:sym typeface="Open Sauce Bold"/>
              </a:rPr>
              <a:t>Effects</a:t>
            </a:r>
            <a:endParaRPr lang="en-US" sz="1500" b="1" spc="-73">
              <a:solidFill>
                <a:srgbClr val="FFFFFF"/>
              </a:solidFill>
              <a:latin typeface="Open Sauce Bold"/>
              <a:ea typeface="Open Sauce Bold"/>
              <a:cs typeface="Open Sauce Bold"/>
            </a:endParaRPr>
          </a:p>
        </p:txBody>
      </p:sp>
      <p:sp>
        <p:nvSpPr>
          <p:cNvPr id="16" name="Freeform 16"/>
          <p:cNvSpPr/>
          <p:nvPr/>
        </p:nvSpPr>
        <p:spPr>
          <a:xfrm rot="2700000">
            <a:off x="10485212" y="5408341"/>
            <a:ext cx="2336596" cy="2424871"/>
          </a:xfrm>
          <a:custGeom>
            <a:avLst/>
            <a:gdLst/>
            <a:ahLst/>
            <a:cxnLst/>
            <a:rect l="l" t="t" r="r" b="b"/>
            <a:pathLst>
              <a:path w="2336596" h="2424871">
                <a:moveTo>
                  <a:pt x="0" y="0"/>
                </a:moveTo>
                <a:lnTo>
                  <a:pt x="2336596" y="0"/>
                </a:lnTo>
                <a:lnTo>
                  <a:pt x="2336596" y="2424871"/>
                </a:lnTo>
                <a:lnTo>
                  <a:pt x="0" y="242487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7" name="TextBox 17"/>
          <p:cNvSpPr txBox="1"/>
          <p:nvPr/>
        </p:nvSpPr>
        <p:spPr>
          <a:xfrm>
            <a:off x="1263130" y="1038225"/>
            <a:ext cx="6884281" cy="1147508"/>
          </a:xfrm>
          <a:prstGeom prst="rect">
            <a:avLst/>
          </a:prstGeom>
        </p:spPr>
        <p:txBody>
          <a:bodyPr lIns="0" tIns="0" rIns="0" bIns="0" rtlCol="0" anchor="t">
            <a:spAutoFit/>
          </a:bodyPr>
          <a:lstStyle/>
          <a:p>
            <a:pPr algn="l">
              <a:lnSpc>
                <a:spcPts val="9181"/>
              </a:lnSpc>
            </a:pPr>
            <a:r>
              <a:rPr lang="en-US" sz="7650" spc="-612">
                <a:solidFill>
                  <a:srgbClr val="4B3C3D"/>
                </a:solidFill>
                <a:latin typeface="Open Sauce"/>
                <a:ea typeface="Open Sauce"/>
                <a:cs typeface="Open Sauce"/>
                <a:sym typeface="Open Sauce"/>
              </a:rPr>
              <a:t>Methodology</a:t>
            </a:r>
          </a:p>
        </p:txBody>
      </p:sp>
      <p:sp>
        <p:nvSpPr>
          <p:cNvPr id="18" name="TextBox 18"/>
          <p:cNvSpPr txBox="1"/>
          <p:nvPr/>
        </p:nvSpPr>
        <p:spPr>
          <a:xfrm>
            <a:off x="1263130" y="2304900"/>
            <a:ext cx="5334002" cy="737235"/>
          </a:xfrm>
          <a:prstGeom prst="rect">
            <a:avLst/>
          </a:prstGeom>
        </p:spPr>
        <p:txBody>
          <a:bodyPr lIns="0" tIns="0" rIns="0" bIns="0" rtlCol="0" anchor="t">
            <a:spAutoFit/>
          </a:bodyPr>
          <a:lstStyle/>
          <a:p>
            <a:pPr algn="l">
              <a:lnSpc>
                <a:spcPts val="2939"/>
              </a:lnSpc>
              <a:spcBef>
                <a:spcPct val="0"/>
              </a:spcBef>
            </a:pPr>
            <a:r>
              <a:rPr lang="en-US" sz="2099" b="1" i="1" spc="-104">
                <a:solidFill>
                  <a:srgbClr val="968C90"/>
                </a:solidFill>
                <a:latin typeface="Open Sauce Bold Italics"/>
                <a:ea typeface="Open Sauce Bold Italics"/>
                <a:cs typeface="Open Sauce Bold Italics"/>
                <a:sym typeface="Open Sauce Bold Italics"/>
              </a:rPr>
              <a:t>Creating a framework for the risk assesment solutions</a:t>
            </a:r>
          </a:p>
        </p:txBody>
      </p:sp>
      <p:sp>
        <p:nvSpPr>
          <p:cNvPr id="19" name="TextBox 19"/>
          <p:cNvSpPr txBox="1"/>
          <p:nvPr/>
        </p:nvSpPr>
        <p:spPr>
          <a:xfrm>
            <a:off x="636813" y="6813612"/>
            <a:ext cx="4906394" cy="251552"/>
          </a:xfrm>
          <a:prstGeom prst="rect">
            <a:avLst/>
          </a:prstGeom>
        </p:spPr>
        <p:txBody>
          <a:bodyPr lIns="0" tIns="0" rIns="0" bIns="0" rtlCol="0" anchor="t">
            <a:spAutoFit/>
          </a:bodyPr>
          <a:lstStyle/>
          <a:p>
            <a:pPr algn="l">
              <a:lnSpc>
                <a:spcPts val="2060"/>
              </a:lnSpc>
              <a:spcBef>
                <a:spcPct val="0"/>
              </a:spcBef>
            </a:pPr>
            <a:r>
              <a:rPr lang="en-US" sz="1500" b="1" spc="-73">
                <a:solidFill>
                  <a:srgbClr val="FFFFFF"/>
                </a:solidFill>
                <a:latin typeface="Open Sauce Bold"/>
                <a:ea typeface="Open Sauce Bold"/>
                <a:cs typeface="Open Sauce Bold"/>
                <a:sym typeface="Open Sauce Bold"/>
              </a:rPr>
              <a:t>Causes</a:t>
            </a:r>
            <a:endParaRPr lang="en-US" sz="1500" b="1" spc="-73">
              <a:solidFill>
                <a:srgbClr val="FFFFFF"/>
              </a:solidFill>
              <a:latin typeface="Open Sauce Bold"/>
              <a:ea typeface="Open Sauce Bold"/>
              <a:cs typeface="Open Sauce Bold"/>
            </a:endParaRPr>
          </a:p>
        </p:txBody>
      </p:sp>
      <p:grpSp>
        <p:nvGrpSpPr>
          <p:cNvPr id="20" name="Group 20"/>
          <p:cNvGrpSpPr/>
          <p:nvPr/>
        </p:nvGrpSpPr>
        <p:grpSpPr>
          <a:xfrm>
            <a:off x="1263130" y="3213585"/>
            <a:ext cx="5568433" cy="2141675"/>
            <a:chOff x="0" y="0"/>
            <a:chExt cx="2092468" cy="804784"/>
          </a:xfrm>
        </p:grpSpPr>
        <p:sp>
          <p:nvSpPr>
            <p:cNvPr id="21" name="Freeform 21"/>
            <p:cNvSpPr/>
            <p:nvPr/>
          </p:nvSpPr>
          <p:spPr>
            <a:xfrm>
              <a:off x="0" y="0"/>
              <a:ext cx="2092468" cy="804784"/>
            </a:xfrm>
            <a:custGeom>
              <a:avLst/>
              <a:gdLst/>
              <a:ahLst/>
              <a:cxnLst/>
              <a:rect l="l" t="t" r="r" b="b"/>
              <a:pathLst>
                <a:path w="2092468" h="804784">
                  <a:moveTo>
                    <a:pt x="34758" y="0"/>
                  </a:moveTo>
                  <a:lnTo>
                    <a:pt x="2057710" y="0"/>
                  </a:lnTo>
                  <a:cubicBezTo>
                    <a:pt x="2076906" y="0"/>
                    <a:pt x="2092468" y="15562"/>
                    <a:pt x="2092468" y="34758"/>
                  </a:cubicBezTo>
                  <a:lnTo>
                    <a:pt x="2092468" y="770026"/>
                  </a:lnTo>
                  <a:cubicBezTo>
                    <a:pt x="2092468" y="789223"/>
                    <a:pt x="2076906" y="804784"/>
                    <a:pt x="2057710" y="804784"/>
                  </a:cubicBezTo>
                  <a:lnTo>
                    <a:pt x="34758" y="804784"/>
                  </a:lnTo>
                  <a:cubicBezTo>
                    <a:pt x="15562" y="804784"/>
                    <a:pt x="0" y="789223"/>
                    <a:pt x="0" y="770026"/>
                  </a:cubicBezTo>
                  <a:lnTo>
                    <a:pt x="0" y="34758"/>
                  </a:lnTo>
                  <a:cubicBezTo>
                    <a:pt x="0" y="15562"/>
                    <a:pt x="15562" y="0"/>
                    <a:pt x="34758" y="0"/>
                  </a:cubicBezTo>
                  <a:close/>
                </a:path>
              </a:pathLst>
            </a:custGeom>
            <a:solidFill>
              <a:srgbClr val="B8C0BF"/>
            </a:solidFill>
          </p:spPr>
        </p:sp>
        <p:sp>
          <p:nvSpPr>
            <p:cNvPr id="22" name="TextBox 22"/>
            <p:cNvSpPr txBox="1"/>
            <p:nvPr/>
          </p:nvSpPr>
          <p:spPr>
            <a:xfrm>
              <a:off x="0" y="-28575"/>
              <a:ext cx="2092468" cy="833359"/>
            </a:xfrm>
            <a:prstGeom prst="rect">
              <a:avLst/>
            </a:prstGeom>
          </p:spPr>
          <p:txBody>
            <a:bodyPr lIns="50800" tIns="50800" rIns="50800" bIns="50800" rtlCol="0" anchor="ctr"/>
            <a:lstStyle/>
            <a:p>
              <a:pPr algn="ctr">
                <a:lnSpc>
                  <a:spcPts val="1960"/>
                </a:lnSpc>
              </a:pPr>
              <a:endParaRPr/>
            </a:p>
          </p:txBody>
        </p:sp>
      </p:grpSp>
      <p:sp>
        <p:nvSpPr>
          <p:cNvPr id="23" name="TextBox 23"/>
          <p:cNvSpPr txBox="1"/>
          <p:nvPr/>
        </p:nvSpPr>
        <p:spPr>
          <a:xfrm>
            <a:off x="1263130" y="3253774"/>
            <a:ext cx="5568433" cy="240665"/>
          </a:xfrm>
          <a:prstGeom prst="rect">
            <a:avLst/>
          </a:prstGeom>
        </p:spPr>
        <p:txBody>
          <a:bodyPr lIns="0" tIns="0" rIns="0" bIns="0" rtlCol="0" anchor="t">
            <a:spAutoFit/>
          </a:bodyPr>
          <a:lstStyle/>
          <a:p>
            <a:pPr algn="ctr">
              <a:lnSpc>
                <a:spcPts val="1960"/>
              </a:lnSpc>
              <a:spcBef>
                <a:spcPct val="0"/>
              </a:spcBef>
            </a:pPr>
            <a:r>
              <a:rPr lang="en-US" sz="1500" spc="-70">
                <a:solidFill>
                  <a:srgbClr val="000000"/>
                </a:solidFill>
                <a:latin typeface="Open Sauce"/>
                <a:ea typeface="Open Sauce"/>
                <a:cs typeface="Open Sauce"/>
                <a:sym typeface="Open Sauce"/>
              </a:rPr>
              <a:t>Data cube structure</a:t>
            </a:r>
            <a:endParaRPr lang="en-US" sz="1500" spc="-70">
              <a:solidFill>
                <a:srgbClr val="000000"/>
              </a:solidFill>
              <a:latin typeface="Open Sauce"/>
              <a:ea typeface="Open Sauce"/>
              <a:cs typeface="Open Sauce"/>
            </a:endParaRPr>
          </a:p>
        </p:txBody>
      </p:sp>
      <p:sp>
        <p:nvSpPr>
          <p:cNvPr id="24" name="TextBox 24"/>
          <p:cNvSpPr txBox="1"/>
          <p:nvPr/>
        </p:nvSpPr>
        <p:spPr>
          <a:xfrm>
            <a:off x="1371030" y="3706079"/>
            <a:ext cx="5352634" cy="1262525"/>
          </a:xfrm>
          <a:prstGeom prst="rect">
            <a:avLst/>
          </a:prstGeom>
        </p:spPr>
        <p:txBody>
          <a:bodyPr lIns="0" tIns="0" rIns="0" bIns="0" rtlCol="0" anchor="t">
            <a:spAutoFit/>
          </a:bodyPr>
          <a:lstStyle/>
          <a:p>
            <a:pPr algn="l">
              <a:lnSpc>
                <a:spcPts val="1960"/>
              </a:lnSpc>
              <a:spcBef>
                <a:spcPct val="0"/>
              </a:spcBef>
            </a:pPr>
            <a:r>
              <a:rPr lang="en-US" sz="1500" spc="-70" dirty="0">
                <a:solidFill>
                  <a:srgbClr val="000000"/>
                </a:solidFill>
                <a:latin typeface="Open Sauce"/>
                <a:ea typeface="Open Sauce"/>
                <a:cs typeface="Open Sauce"/>
                <a:sym typeface="Open Sauce"/>
              </a:rPr>
              <a:t>Generate a star schema that allows the system to separate highly granular data from static data, thus allowing the risk assessment to be made with the contextual information of the static properties, plus the situational conditions that change in a daily, weekly or monthly basis</a:t>
            </a:r>
            <a:endParaRPr lang="en-US" sz="1500" spc="-70" dirty="0">
              <a:solidFill>
                <a:srgbClr val="000000"/>
              </a:solidFill>
              <a:latin typeface="Open Sauce"/>
              <a:ea typeface="Open Sauce"/>
              <a:cs typeface="Open Sauce"/>
            </a:endParaRPr>
          </a:p>
        </p:txBody>
      </p:sp>
      <p:sp>
        <p:nvSpPr>
          <p:cNvPr id="25" name="TextBox 25"/>
          <p:cNvSpPr txBox="1"/>
          <p:nvPr/>
        </p:nvSpPr>
        <p:spPr>
          <a:xfrm>
            <a:off x="305793" y="7160648"/>
            <a:ext cx="5568433" cy="1590675"/>
          </a:xfrm>
          <a:prstGeom prst="rect">
            <a:avLst/>
          </a:prstGeom>
        </p:spPr>
        <p:txBody>
          <a:bodyPr lIns="0" tIns="0" rIns="0" bIns="0" rtlCol="0" anchor="t">
            <a:spAutoFit/>
          </a:bodyPr>
          <a:lstStyle/>
          <a:p>
            <a:pPr algn="l">
              <a:lnSpc>
                <a:spcPts val="2100"/>
              </a:lnSpc>
            </a:pPr>
            <a:r>
              <a:rPr lang="en-US" sz="1500" spc="-75">
                <a:solidFill>
                  <a:srgbClr val="FFFFFF"/>
                </a:solidFill>
                <a:latin typeface="Open Sauce"/>
                <a:ea typeface="Open Sauce"/>
                <a:cs typeface="Open Sauce"/>
                <a:sym typeface="Open Sauce"/>
              </a:rPr>
              <a:t>-  Seismic/site intensity</a:t>
            </a:r>
          </a:p>
          <a:p>
            <a:pPr algn="l">
              <a:lnSpc>
                <a:spcPts val="2100"/>
              </a:lnSpc>
            </a:pPr>
            <a:r>
              <a:rPr lang="en-US" sz="1500" spc="-75">
                <a:solidFill>
                  <a:srgbClr val="FFFFFF"/>
                </a:solidFill>
                <a:latin typeface="Open Sauce"/>
                <a:ea typeface="Open Sauce"/>
                <a:cs typeface="Open Sauce"/>
                <a:sym typeface="Open Sauce"/>
              </a:rPr>
              <a:t>-  Rain</a:t>
            </a:r>
          </a:p>
          <a:p>
            <a:pPr algn="l">
              <a:lnSpc>
                <a:spcPts val="2100"/>
              </a:lnSpc>
              <a:spcBef>
                <a:spcPct val="0"/>
              </a:spcBef>
            </a:pPr>
            <a:r>
              <a:rPr lang="en-US" sz="1500" spc="-75">
                <a:solidFill>
                  <a:srgbClr val="FFFFFF"/>
                </a:solidFill>
                <a:latin typeface="Open Sauce"/>
                <a:ea typeface="Open Sauce"/>
                <a:cs typeface="Open Sauce"/>
                <a:sym typeface="Open Sauce"/>
              </a:rPr>
              <a:t>-  Temperature anomalies</a:t>
            </a:r>
          </a:p>
          <a:p>
            <a:pPr algn="l">
              <a:lnSpc>
                <a:spcPts val="2100"/>
              </a:lnSpc>
              <a:spcBef>
                <a:spcPct val="0"/>
              </a:spcBef>
            </a:pPr>
            <a:r>
              <a:rPr lang="en-US" sz="1500" spc="-75">
                <a:solidFill>
                  <a:srgbClr val="FFFFFF"/>
                </a:solidFill>
                <a:latin typeface="Open Sauce"/>
                <a:ea typeface="Open Sauce"/>
                <a:cs typeface="Open Sauce"/>
                <a:sym typeface="Open Sauce"/>
              </a:rPr>
              <a:t>-  Wind gust anomalies</a:t>
            </a:r>
          </a:p>
          <a:p>
            <a:pPr algn="l">
              <a:lnSpc>
                <a:spcPts val="2100"/>
              </a:lnSpc>
              <a:spcBef>
                <a:spcPct val="0"/>
              </a:spcBef>
            </a:pPr>
            <a:r>
              <a:rPr lang="en-US" sz="1500" spc="-75">
                <a:solidFill>
                  <a:srgbClr val="FFFFFF"/>
                </a:solidFill>
                <a:latin typeface="Open Sauce"/>
                <a:ea typeface="Open Sauce"/>
                <a:cs typeface="Open Sauce"/>
                <a:sym typeface="Open Sauce"/>
              </a:rPr>
              <a:t>-  Wildfires (EFFIS)</a:t>
            </a:r>
          </a:p>
          <a:p>
            <a:pPr algn="l">
              <a:lnSpc>
                <a:spcPts val="2100"/>
              </a:lnSpc>
              <a:spcBef>
                <a:spcPct val="0"/>
              </a:spcBef>
            </a:pPr>
            <a:r>
              <a:rPr lang="en-US" sz="1500" spc="-75">
                <a:solidFill>
                  <a:srgbClr val="FFFFFF"/>
                </a:solidFill>
                <a:latin typeface="Open Sauce"/>
                <a:ea typeface="Open Sauce"/>
                <a:cs typeface="Open Sauce"/>
                <a:sym typeface="Open Sauce"/>
              </a:rPr>
              <a:t>-  Pendolarismo daily commuters</a:t>
            </a:r>
          </a:p>
        </p:txBody>
      </p:sp>
      <p:sp>
        <p:nvSpPr>
          <p:cNvPr id="26" name="TextBox 26"/>
          <p:cNvSpPr txBox="1"/>
          <p:nvPr/>
        </p:nvSpPr>
        <p:spPr>
          <a:xfrm>
            <a:off x="6411945" y="7160648"/>
            <a:ext cx="6855173" cy="1323975"/>
          </a:xfrm>
          <a:prstGeom prst="rect">
            <a:avLst/>
          </a:prstGeom>
        </p:spPr>
        <p:txBody>
          <a:bodyPr lIns="0" tIns="0" rIns="0" bIns="0" rtlCol="0" anchor="t">
            <a:spAutoFit/>
          </a:bodyPr>
          <a:lstStyle/>
          <a:p>
            <a:pPr algn="l">
              <a:lnSpc>
                <a:spcPts val="2100"/>
              </a:lnSpc>
              <a:spcBef>
                <a:spcPct val="0"/>
              </a:spcBef>
            </a:pPr>
            <a:r>
              <a:rPr lang="en-US" sz="1500" spc="-75">
                <a:solidFill>
                  <a:srgbClr val="000000"/>
                </a:solidFill>
                <a:latin typeface="Open Sauce"/>
                <a:ea typeface="Open Sauce"/>
                <a:cs typeface="Open Sauce"/>
                <a:sym typeface="Open Sauce"/>
              </a:rPr>
              <a:t>-  DTM’s </a:t>
            </a:r>
          </a:p>
          <a:p>
            <a:pPr algn="l">
              <a:lnSpc>
                <a:spcPts val="2100"/>
              </a:lnSpc>
              <a:spcBef>
                <a:spcPct val="0"/>
              </a:spcBef>
            </a:pPr>
            <a:r>
              <a:rPr lang="en-US" sz="1500" spc="-75">
                <a:solidFill>
                  <a:srgbClr val="000000"/>
                </a:solidFill>
                <a:latin typeface="Open Sauce"/>
                <a:ea typeface="Open Sauce"/>
                <a:cs typeface="Open Sauce"/>
                <a:sym typeface="Open Sauce"/>
              </a:rPr>
              <a:t>-  Soil data, pedologia</a:t>
            </a:r>
          </a:p>
          <a:p>
            <a:pPr algn="l">
              <a:lnSpc>
                <a:spcPts val="2100"/>
              </a:lnSpc>
              <a:spcBef>
                <a:spcPct val="0"/>
              </a:spcBef>
            </a:pPr>
            <a:r>
              <a:rPr lang="en-US" sz="1500" spc="-75">
                <a:solidFill>
                  <a:srgbClr val="000000"/>
                </a:solidFill>
                <a:latin typeface="Open Sauce"/>
                <a:ea typeface="Open Sauce"/>
                <a:cs typeface="Open Sauce"/>
                <a:sym typeface="Open Sauce"/>
              </a:rPr>
              <a:t>-  Idrografia</a:t>
            </a:r>
          </a:p>
          <a:p>
            <a:pPr algn="l">
              <a:lnSpc>
                <a:spcPts val="2100"/>
              </a:lnSpc>
              <a:spcBef>
                <a:spcPct val="0"/>
              </a:spcBef>
            </a:pPr>
            <a:r>
              <a:rPr lang="en-US" sz="1500" spc="-75">
                <a:solidFill>
                  <a:srgbClr val="000000"/>
                </a:solidFill>
                <a:latin typeface="Open Sauce"/>
                <a:ea typeface="Open Sauce"/>
                <a:cs typeface="Open Sauce"/>
                <a:sym typeface="Open Sauce"/>
              </a:rPr>
              <a:t>-  Streets and water ways</a:t>
            </a:r>
          </a:p>
          <a:p>
            <a:pPr algn="l">
              <a:lnSpc>
                <a:spcPts val="2100"/>
              </a:lnSpc>
              <a:spcBef>
                <a:spcPct val="0"/>
              </a:spcBef>
            </a:pPr>
            <a:r>
              <a:rPr lang="en-US" sz="1500" spc="-75">
                <a:solidFill>
                  <a:srgbClr val="000000"/>
                </a:solidFill>
                <a:latin typeface="Open Sauce"/>
                <a:ea typeface="Open Sauce"/>
                <a:cs typeface="Open Sauce"/>
                <a:sym typeface="Open Sauce"/>
              </a:rPr>
              <a:t>-  Infrastructure</a:t>
            </a:r>
          </a:p>
        </p:txBody>
      </p:sp>
      <p:sp>
        <p:nvSpPr>
          <p:cNvPr id="27" name="TextBox 27"/>
          <p:cNvSpPr txBox="1"/>
          <p:nvPr/>
        </p:nvSpPr>
        <p:spPr>
          <a:xfrm>
            <a:off x="12586484" y="7160648"/>
            <a:ext cx="5342117" cy="1572558"/>
          </a:xfrm>
          <a:prstGeom prst="rect">
            <a:avLst/>
          </a:prstGeom>
        </p:spPr>
        <p:txBody>
          <a:bodyPr lIns="0" tIns="0" rIns="0" bIns="0" rtlCol="0" anchor="t">
            <a:spAutoFit/>
          </a:bodyPr>
          <a:lstStyle/>
          <a:p>
            <a:pPr algn="l">
              <a:lnSpc>
                <a:spcPts val="2101"/>
              </a:lnSpc>
            </a:pPr>
            <a:r>
              <a:rPr lang="en-US" sz="1501" spc="-75">
                <a:solidFill>
                  <a:srgbClr val="FFFFFF"/>
                </a:solidFill>
                <a:latin typeface="Open Sauce"/>
                <a:ea typeface="Open Sauce"/>
                <a:cs typeface="Open Sauce"/>
                <a:sym typeface="Open Sauce"/>
              </a:rPr>
              <a:t>-  Interventions</a:t>
            </a:r>
          </a:p>
          <a:p>
            <a:pPr algn="l">
              <a:lnSpc>
                <a:spcPts val="2101"/>
              </a:lnSpc>
            </a:pPr>
            <a:r>
              <a:rPr lang="en-US" sz="1501" spc="-75">
                <a:solidFill>
                  <a:srgbClr val="FFFFFF"/>
                </a:solidFill>
                <a:latin typeface="Open Sauce"/>
                <a:ea typeface="Open Sauce"/>
                <a:cs typeface="Open Sauce"/>
                <a:sym typeface="Open Sauce"/>
              </a:rPr>
              <a:t>-  Economical data</a:t>
            </a:r>
          </a:p>
          <a:p>
            <a:pPr algn="l">
              <a:lnSpc>
                <a:spcPts val="2101"/>
              </a:lnSpc>
              <a:spcBef>
                <a:spcPct val="0"/>
              </a:spcBef>
            </a:pPr>
            <a:r>
              <a:rPr lang="en-US" sz="1501" spc="-75">
                <a:solidFill>
                  <a:srgbClr val="FFFFFF"/>
                </a:solidFill>
                <a:latin typeface="Open Sauce"/>
                <a:ea typeface="Open Sauce"/>
                <a:cs typeface="Open Sauce"/>
                <a:sym typeface="Open Sauce"/>
              </a:rPr>
              <a:t>-  Population census</a:t>
            </a:r>
          </a:p>
          <a:p>
            <a:pPr algn="l">
              <a:lnSpc>
                <a:spcPts val="2101"/>
              </a:lnSpc>
              <a:spcBef>
                <a:spcPct val="0"/>
              </a:spcBef>
            </a:pPr>
            <a:r>
              <a:rPr lang="en-US" sz="1501" spc="-75">
                <a:solidFill>
                  <a:srgbClr val="FFFFFF"/>
                </a:solidFill>
                <a:latin typeface="Open Sauce"/>
                <a:ea typeface="Open Sauce"/>
                <a:cs typeface="Open Sauce"/>
                <a:sym typeface="Open Sauce"/>
              </a:rPr>
              <a:t>-  Landslides/Floods history</a:t>
            </a:r>
          </a:p>
          <a:p>
            <a:pPr algn="l">
              <a:lnSpc>
                <a:spcPts val="2101"/>
              </a:lnSpc>
              <a:spcBef>
                <a:spcPct val="0"/>
              </a:spcBef>
            </a:pPr>
            <a:r>
              <a:rPr lang="en-US" sz="1501" spc="-75">
                <a:solidFill>
                  <a:srgbClr val="FFFFFF"/>
                </a:solidFill>
                <a:latin typeface="Open Sauce"/>
                <a:ea typeface="Open Sauce"/>
                <a:cs typeface="Open Sauce"/>
                <a:sym typeface="Open Sauce"/>
              </a:rPr>
              <a:t>- Sentinel1 soil displacement points</a:t>
            </a:r>
          </a:p>
          <a:p>
            <a:pPr algn="l">
              <a:lnSpc>
                <a:spcPts val="2101"/>
              </a:lnSpc>
              <a:spcBef>
                <a:spcPct val="0"/>
              </a:spcBef>
            </a:pPr>
            <a:endParaRPr lang="en-US" sz="1501" spc="-75">
              <a:solidFill>
                <a:srgbClr val="FFFFFF"/>
              </a:solidFill>
              <a:latin typeface="Open Sauce"/>
              <a:ea typeface="Open Sauce"/>
              <a:cs typeface="Open Sauce"/>
              <a:sym typeface="Open Sauce"/>
            </a:endParaRPr>
          </a:p>
        </p:txBody>
      </p:sp>
      <p:grpSp>
        <p:nvGrpSpPr>
          <p:cNvPr id="28" name="Group 27">
            <a:extLst>
              <a:ext uri="{FF2B5EF4-FFF2-40B4-BE49-F238E27FC236}">
                <a16:creationId xmlns:a16="http://schemas.microsoft.com/office/drawing/2014/main" id="{DFCD0A93-6305-C529-B884-76F249B49027}"/>
              </a:ext>
            </a:extLst>
          </p:cNvPr>
          <p:cNvGrpSpPr/>
          <p:nvPr/>
        </p:nvGrpSpPr>
        <p:grpSpPr>
          <a:xfrm>
            <a:off x="9615257" y="600075"/>
            <a:ext cx="7015393" cy="4759610"/>
            <a:chOff x="10243907" y="1028700"/>
            <a:chExt cx="1118460" cy="758822"/>
          </a:xfrm>
        </p:grpSpPr>
        <p:sp>
          <p:nvSpPr>
            <p:cNvPr id="29" name="Freeform 3">
              <a:extLst>
                <a:ext uri="{FF2B5EF4-FFF2-40B4-BE49-F238E27FC236}">
                  <a16:creationId xmlns:a16="http://schemas.microsoft.com/office/drawing/2014/main" id="{6C3894BD-D6B6-EF6A-3925-8D5E68B6B42F}"/>
                </a:ext>
              </a:extLst>
            </p:cNvPr>
            <p:cNvSpPr/>
            <p:nvPr/>
          </p:nvSpPr>
          <p:spPr>
            <a:xfrm>
              <a:off x="10243907" y="1028700"/>
              <a:ext cx="1118460" cy="758822"/>
            </a:xfrm>
            <a:custGeom>
              <a:avLst/>
              <a:gdLst/>
              <a:ahLst/>
              <a:cxnLst/>
              <a:rect l="l" t="t" r="r" b="b"/>
              <a:pathLst>
                <a:path w="1118460" h="758822">
                  <a:moveTo>
                    <a:pt x="22071" y="0"/>
                  </a:moveTo>
                  <a:lnTo>
                    <a:pt x="1096389" y="0"/>
                  </a:lnTo>
                  <a:cubicBezTo>
                    <a:pt x="1108579" y="0"/>
                    <a:pt x="1118460" y="9882"/>
                    <a:pt x="1118460" y="22071"/>
                  </a:cubicBezTo>
                  <a:lnTo>
                    <a:pt x="1118460" y="736751"/>
                  </a:lnTo>
                  <a:cubicBezTo>
                    <a:pt x="1118460" y="748940"/>
                    <a:pt x="1108579" y="758822"/>
                    <a:pt x="1096389" y="758822"/>
                  </a:cubicBezTo>
                  <a:lnTo>
                    <a:pt x="22071" y="758822"/>
                  </a:lnTo>
                  <a:cubicBezTo>
                    <a:pt x="9882" y="758822"/>
                    <a:pt x="0" y="748940"/>
                    <a:pt x="0" y="736751"/>
                  </a:cubicBezTo>
                  <a:lnTo>
                    <a:pt x="0" y="22071"/>
                  </a:lnTo>
                  <a:cubicBezTo>
                    <a:pt x="0" y="9882"/>
                    <a:pt x="9882" y="0"/>
                    <a:pt x="22071" y="0"/>
                  </a:cubicBezTo>
                  <a:close/>
                </a:path>
              </a:pathLst>
            </a:custGeom>
            <a:blipFill>
              <a:blip r:embed="rId4"/>
              <a:stretch>
                <a:fillRect t="-20919" b="-37723"/>
              </a:stretch>
            </a:blipFill>
          </p:spPr>
          <p:txBody>
            <a:bodyP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9" grpId="0"/>
      <p:bldP spid="25" grpId="0"/>
      <p:bldP spid="26" grpId="0"/>
      <p:bldP spid="2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1028700" y="1019175"/>
            <a:ext cx="10015081" cy="1847850"/>
          </a:xfrm>
          <a:prstGeom prst="rect">
            <a:avLst/>
          </a:prstGeom>
        </p:spPr>
        <p:txBody>
          <a:bodyPr lIns="0" tIns="0" rIns="0" bIns="0" rtlCol="0" anchor="t">
            <a:spAutoFit/>
          </a:bodyPr>
          <a:lstStyle/>
          <a:p>
            <a:pPr algn="l">
              <a:lnSpc>
                <a:spcPts val="14510"/>
              </a:lnSpc>
            </a:pPr>
            <a:r>
              <a:rPr lang="en-US" sz="12091" spc="-967">
                <a:solidFill>
                  <a:srgbClr val="4B3C3D"/>
                </a:solidFill>
                <a:latin typeface="Open Sauce"/>
                <a:ea typeface="Open Sauce"/>
                <a:cs typeface="Open Sauce"/>
                <a:sym typeface="Open Sauce"/>
              </a:rPr>
              <a:t>Conclusions</a:t>
            </a:r>
          </a:p>
        </p:txBody>
      </p:sp>
      <p:sp>
        <p:nvSpPr>
          <p:cNvPr id="5" name="TextBox 5"/>
          <p:cNvSpPr txBox="1"/>
          <p:nvPr/>
        </p:nvSpPr>
        <p:spPr>
          <a:xfrm>
            <a:off x="1028700" y="2694672"/>
            <a:ext cx="4167368" cy="389255"/>
          </a:xfrm>
          <a:prstGeom prst="rect">
            <a:avLst/>
          </a:prstGeom>
        </p:spPr>
        <p:txBody>
          <a:bodyPr lIns="0" tIns="0" rIns="0" bIns="0" rtlCol="0" anchor="t">
            <a:spAutoFit/>
          </a:bodyPr>
          <a:lstStyle/>
          <a:p>
            <a:pPr algn="l">
              <a:lnSpc>
                <a:spcPts val="3219"/>
              </a:lnSpc>
              <a:spcBef>
                <a:spcPct val="0"/>
              </a:spcBef>
            </a:pPr>
            <a:r>
              <a:rPr lang="en-US" sz="2299" b="1" i="1" spc="-114">
                <a:solidFill>
                  <a:srgbClr val="968C90"/>
                </a:solidFill>
                <a:latin typeface="Open Sauce Bold Italics"/>
                <a:ea typeface="Open Sauce Bold Italics"/>
                <a:cs typeface="Open Sauce Bold Italics"/>
                <a:sym typeface="Open Sauce Bold Italics"/>
              </a:rPr>
              <a:t>A risk model in it’s early phases</a:t>
            </a:r>
          </a:p>
        </p:txBody>
      </p:sp>
      <p:grpSp>
        <p:nvGrpSpPr>
          <p:cNvPr id="6" name="Group 6"/>
          <p:cNvGrpSpPr/>
          <p:nvPr/>
        </p:nvGrpSpPr>
        <p:grpSpPr>
          <a:xfrm>
            <a:off x="1028700" y="3179705"/>
            <a:ext cx="5700202" cy="3420387"/>
            <a:chOff x="0" y="-28575"/>
            <a:chExt cx="1619549" cy="971805"/>
          </a:xfrm>
        </p:grpSpPr>
        <p:sp>
          <p:nvSpPr>
            <p:cNvPr id="7" name="Freeform 7"/>
            <p:cNvSpPr/>
            <p:nvPr/>
          </p:nvSpPr>
          <p:spPr>
            <a:xfrm>
              <a:off x="0" y="-24356"/>
              <a:ext cx="1619549" cy="967586"/>
            </a:xfrm>
            <a:custGeom>
              <a:avLst/>
              <a:gdLst/>
              <a:ahLst/>
              <a:cxnLst/>
              <a:rect l="l" t="t" r="r" b="b"/>
              <a:pathLst>
                <a:path w="1619549" h="902636">
                  <a:moveTo>
                    <a:pt x="33955" y="0"/>
                  </a:moveTo>
                  <a:lnTo>
                    <a:pt x="1585594" y="0"/>
                  </a:lnTo>
                  <a:cubicBezTo>
                    <a:pt x="1604347" y="0"/>
                    <a:pt x="1619549" y="15202"/>
                    <a:pt x="1619549" y="33955"/>
                  </a:cubicBezTo>
                  <a:lnTo>
                    <a:pt x="1619549" y="868681"/>
                  </a:lnTo>
                  <a:cubicBezTo>
                    <a:pt x="1619549" y="887434"/>
                    <a:pt x="1604347" y="902636"/>
                    <a:pt x="1585594" y="902636"/>
                  </a:cubicBezTo>
                  <a:lnTo>
                    <a:pt x="33955" y="902636"/>
                  </a:lnTo>
                  <a:cubicBezTo>
                    <a:pt x="15202" y="902636"/>
                    <a:pt x="0" y="887434"/>
                    <a:pt x="0" y="868681"/>
                  </a:cubicBezTo>
                  <a:lnTo>
                    <a:pt x="0" y="33955"/>
                  </a:lnTo>
                  <a:cubicBezTo>
                    <a:pt x="0" y="15202"/>
                    <a:pt x="15202" y="0"/>
                    <a:pt x="33955" y="0"/>
                  </a:cubicBezTo>
                  <a:close/>
                </a:path>
              </a:pathLst>
            </a:custGeom>
            <a:solidFill>
              <a:srgbClr val="72838A"/>
            </a:solidFill>
          </p:spPr>
        </p:sp>
        <p:sp>
          <p:nvSpPr>
            <p:cNvPr id="8" name="TextBox 8"/>
            <p:cNvSpPr txBox="1"/>
            <p:nvPr/>
          </p:nvSpPr>
          <p:spPr>
            <a:xfrm>
              <a:off x="0" y="-28575"/>
              <a:ext cx="1619549" cy="931211"/>
            </a:xfrm>
            <a:prstGeom prst="rect">
              <a:avLst/>
            </a:prstGeom>
          </p:spPr>
          <p:txBody>
            <a:bodyPr lIns="50800" tIns="50800" rIns="50800" bIns="50800" rtlCol="0" anchor="ctr"/>
            <a:lstStyle/>
            <a:p>
              <a:pPr algn="ctr">
                <a:lnSpc>
                  <a:spcPts val="1960"/>
                </a:lnSpc>
              </a:pPr>
              <a:endParaRPr/>
            </a:p>
          </p:txBody>
        </p:sp>
      </p:grpSp>
      <p:sp>
        <p:nvSpPr>
          <p:cNvPr id="9" name="TextBox 9"/>
          <p:cNvSpPr txBox="1"/>
          <p:nvPr/>
        </p:nvSpPr>
        <p:spPr>
          <a:xfrm>
            <a:off x="1557297" y="3953318"/>
            <a:ext cx="4182830" cy="2522742"/>
          </a:xfrm>
          <a:prstGeom prst="rect">
            <a:avLst/>
          </a:prstGeom>
        </p:spPr>
        <p:txBody>
          <a:bodyPr lIns="0" tIns="0" rIns="0" bIns="0" rtlCol="0" anchor="t">
            <a:spAutoFit/>
          </a:bodyPr>
          <a:lstStyle/>
          <a:p>
            <a:pPr marL="426085" lvl="1" indent="-285750" algn="l">
              <a:lnSpc>
                <a:spcPts val="1816"/>
              </a:lnSpc>
              <a:buFont typeface="Arial"/>
              <a:buChar char="•"/>
            </a:pPr>
            <a:r>
              <a:rPr lang="en-US" sz="1400" spc="-64" dirty="0">
                <a:solidFill>
                  <a:srgbClr val="FFFFFF"/>
                </a:solidFill>
                <a:latin typeface="Open Sauce"/>
                <a:ea typeface="Open Sauce"/>
                <a:cs typeface="Open Sauce"/>
                <a:sym typeface="Open Sauce"/>
              </a:rPr>
              <a:t>The project works on open data thus readily available for anybody to use, no private data (thus far)</a:t>
            </a:r>
            <a:endParaRPr lang="en-US" sz="1400">
              <a:ea typeface="Calibri"/>
              <a:cs typeface="Calibri"/>
            </a:endParaRPr>
          </a:p>
          <a:p>
            <a:pPr marL="285750" indent="-285750" algn="l">
              <a:lnSpc>
                <a:spcPts val="1816"/>
              </a:lnSpc>
              <a:buFont typeface="Arial"/>
              <a:buChar char="•"/>
            </a:pPr>
            <a:endParaRPr lang="en-US" sz="1400" spc="-64" dirty="0">
              <a:solidFill>
                <a:srgbClr val="FFFFFF"/>
              </a:solidFill>
              <a:latin typeface="Open Sauce"/>
              <a:ea typeface="Open Sauce"/>
              <a:cs typeface="Open Sauce"/>
            </a:endParaRPr>
          </a:p>
          <a:p>
            <a:pPr marL="426085" lvl="1" indent="-285750" algn="l">
              <a:lnSpc>
                <a:spcPts val="1816"/>
              </a:lnSpc>
              <a:buFont typeface="Arial"/>
              <a:buChar char="•"/>
            </a:pPr>
            <a:r>
              <a:rPr lang="en-US" sz="1400" spc="-64" dirty="0">
                <a:solidFill>
                  <a:srgbClr val="FFFFFF"/>
                </a:solidFill>
                <a:latin typeface="Open Sauce"/>
                <a:ea typeface="Open Sauce"/>
                <a:cs typeface="Open Sauce"/>
                <a:sym typeface="Open Sauce"/>
              </a:rPr>
              <a:t>The model is highly scalable to cover the whole country, since the data is collected mostly with a remote sensing methodology</a:t>
            </a:r>
            <a:endParaRPr lang="en-US" sz="1400" spc="-64" dirty="0">
              <a:solidFill>
                <a:srgbClr val="FFFFFF"/>
              </a:solidFill>
              <a:latin typeface="Open Sauce"/>
              <a:ea typeface="Open Sauce"/>
              <a:cs typeface="Open Sauce"/>
            </a:endParaRPr>
          </a:p>
          <a:p>
            <a:pPr marL="285750" indent="-285750" algn="l">
              <a:lnSpc>
                <a:spcPts val="1816"/>
              </a:lnSpc>
              <a:buFont typeface="Arial"/>
              <a:buChar char="•"/>
            </a:pPr>
            <a:endParaRPr lang="en-US" sz="1400" spc="-64" dirty="0">
              <a:solidFill>
                <a:srgbClr val="FFFFFF"/>
              </a:solidFill>
              <a:latin typeface="Open Sauce"/>
              <a:ea typeface="Open Sauce"/>
              <a:cs typeface="Open Sauce"/>
            </a:endParaRPr>
          </a:p>
          <a:p>
            <a:pPr marL="426085" lvl="1" indent="-285750" algn="l">
              <a:lnSpc>
                <a:spcPts val="1816"/>
              </a:lnSpc>
              <a:buFont typeface="Arial"/>
              <a:buChar char="•"/>
            </a:pPr>
            <a:r>
              <a:rPr lang="en-US" sz="1400" spc="-64" dirty="0">
                <a:solidFill>
                  <a:srgbClr val="FFFFFF"/>
                </a:solidFill>
                <a:latin typeface="Open Sauce"/>
                <a:ea typeface="Open Sauce"/>
                <a:cs typeface="Open Sauce"/>
                <a:sym typeface="Open Sauce"/>
              </a:rPr>
              <a:t> The model could be used for other risk related fields in </a:t>
            </a:r>
            <a:r>
              <a:rPr lang="en-US" sz="1400" spc="-64" dirty="0" err="1">
                <a:solidFill>
                  <a:srgbClr val="FFFFFF"/>
                </a:solidFill>
                <a:latin typeface="Open Sauce"/>
                <a:ea typeface="Open Sauce"/>
                <a:cs typeface="Open Sauce"/>
                <a:sym typeface="Open Sauce"/>
              </a:rPr>
              <a:t>italy</a:t>
            </a:r>
            <a:r>
              <a:rPr lang="en-US" sz="1400" spc="-64" dirty="0">
                <a:solidFill>
                  <a:srgbClr val="FFFFFF"/>
                </a:solidFill>
                <a:latin typeface="Open Sauce"/>
                <a:ea typeface="Open Sauce"/>
                <a:cs typeface="Open Sauce"/>
                <a:sym typeface="Open Sauce"/>
              </a:rPr>
              <a:t> aside from WDS, since it has a big component of environmental risk</a:t>
            </a:r>
            <a:endParaRPr lang="en-US" sz="1400" spc="-64" dirty="0">
              <a:solidFill>
                <a:srgbClr val="FFFFFF"/>
              </a:solidFill>
              <a:latin typeface="Open Sauce"/>
              <a:ea typeface="Open Sauce"/>
              <a:cs typeface="Open Sauce"/>
            </a:endParaRPr>
          </a:p>
        </p:txBody>
      </p:sp>
      <p:sp>
        <p:nvSpPr>
          <p:cNvPr id="10" name="TextBox 10"/>
          <p:cNvSpPr txBox="1"/>
          <p:nvPr/>
        </p:nvSpPr>
        <p:spPr>
          <a:xfrm>
            <a:off x="1557297" y="3552047"/>
            <a:ext cx="4643008" cy="333005"/>
          </a:xfrm>
          <a:prstGeom prst="rect">
            <a:avLst/>
          </a:prstGeom>
        </p:spPr>
        <p:txBody>
          <a:bodyPr lIns="0" tIns="0" rIns="0" bIns="0" rtlCol="0" anchor="t">
            <a:spAutoFit/>
          </a:bodyPr>
          <a:lstStyle/>
          <a:p>
            <a:pPr algn="l">
              <a:lnSpc>
                <a:spcPts val="2725"/>
              </a:lnSpc>
              <a:spcBef>
                <a:spcPct val="0"/>
              </a:spcBef>
            </a:pPr>
            <a:r>
              <a:rPr lang="en-US" sz="1946" spc="-97">
                <a:solidFill>
                  <a:srgbClr val="FFFFFF"/>
                </a:solidFill>
                <a:latin typeface="Open Sauce"/>
                <a:ea typeface="Open Sauce"/>
                <a:cs typeface="Open Sauce"/>
                <a:sym typeface="Open Sauce"/>
              </a:rPr>
              <a:t>Value of the proposal</a:t>
            </a:r>
          </a:p>
        </p:txBody>
      </p:sp>
      <p:grpSp>
        <p:nvGrpSpPr>
          <p:cNvPr id="11" name="Group 11"/>
          <p:cNvGrpSpPr/>
          <p:nvPr/>
        </p:nvGrpSpPr>
        <p:grpSpPr>
          <a:xfrm>
            <a:off x="1028700" y="6614379"/>
            <a:ext cx="5700202" cy="3419825"/>
            <a:chOff x="0" y="0"/>
            <a:chExt cx="1619549" cy="902636"/>
          </a:xfrm>
        </p:grpSpPr>
        <p:sp>
          <p:nvSpPr>
            <p:cNvPr id="12" name="Freeform 12"/>
            <p:cNvSpPr/>
            <p:nvPr/>
          </p:nvSpPr>
          <p:spPr>
            <a:xfrm>
              <a:off x="0" y="0"/>
              <a:ext cx="1619549" cy="902636"/>
            </a:xfrm>
            <a:custGeom>
              <a:avLst/>
              <a:gdLst/>
              <a:ahLst/>
              <a:cxnLst/>
              <a:rect l="l" t="t" r="r" b="b"/>
              <a:pathLst>
                <a:path w="1619549" h="902636">
                  <a:moveTo>
                    <a:pt x="33955" y="0"/>
                  </a:moveTo>
                  <a:lnTo>
                    <a:pt x="1585594" y="0"/>
                  </a:lnTo>
                  <a:cubicBezTo>
                    <a:pt x="1604347" y="0"/>
                    <a:pt x="1619549" y="15202"/>
                    <a:pt x="1619549" y="33955"/>
                  </a:cubicBezTo>
                  <a:lnTo>
                    <a:pt x="1619549" y="868681"/>
                  </a:lnTo>
                  <a:cubicBezTo>
                    <a:pt x="1619549" y="887434"/>
                    <a:pt x="1604347" y="902636"/>
                    <a:pt x="1585594" y="902636"/>
                  </a:cubicBezTo>
                  <a:lnTo>
                    <a:pt x="33955" y="902636"/>
                  </a:lnTo>
                  <a:cubicBezTo>
                    <a:pt x="15202" y="902636"/>
                    <a:pt x="0" y="887434"/>
                    <a:pt x="0" y="868681"/>
                  </a:cubicBezTo>
                  <a:lnTo>
                    <a:pt x="0" y="33955"/>
                  </a:lnTo>
                  <a:cubicBezTo>
                    <a:pt x="0" y="15202"/>
                    <a:pt x="15202" y="0"/>
                    <a:pt x="33955" y="0"/>
                  </a:cubicBezTo>
                  <a:close/>
                </a:path>
              </a:pathLst>
            </a:custGeom>
            <a:solidFill>
              <a:srgbClr val="72838A"/>
            </a:solidFill>
          </p:spPr>
        </p:sp>
        <p:sp>
          <p:nvSpPr>
            <p:cNvPr id="13" name="TextBox 13"/>
            <p:cNvSpPr txBox="1"/>
            <p:nvPr/>
          </p:nvSpPr>
          <p:spPr>
            <a:xfrm>
              <a:off x="0" y="-28575"/>
              <a:ext cx="1619549" cy="931211"/>
            </a:xfrm>
            <a:prstGeom prst="rect">
              <a:avLst/>
            </a:prstGeom>
          </p:spPr>
          <p:txBody>
            <a:bodyPr lIns="50800" tIns="50800" rIns="50800" bIns="50800" rtlCol="0" anchor="ctr"/>
            <a:lstStyle/>
            <a:p>
              <a:pPr algn="ctr">
                <a:lnSpc>
                  <a:spcPts val="1960"/>
                </a:lnSpc>
              </a:pPr>
              <a:endParaRPr/>
            </a:p>
          </p:txBody>
        </p:sp>
      </p:grpSp>
      <p:sp>
        <p:nvSpPr>
          <p:cNvPr id="14" name="TextBox 14"/>
          <p:cNvSpPr txBox="1"/>
          <p:nvPr/>
        </p:nvSpPr>
        <p:spPr>
          <a:xfrm>
            <a:off x="1557297" y="7330281"/>
            <a:ext cx="4182830" cy="2522742"/>
          </a:xfrm>
          <a:prstGeom prst="rect">
            <a:avLst/>
          </a:prstGeom>
        </p:spPr>
        <p:txBody>
          <a:bodyPr lIns="0" tIns="0" rIns="0" bIns="0" rtlCol="0" anchor="t">
            <a:spAutoFit/>
          </a:bodyPr>
          <a:lstStyle/>
          <a:p>
            <a:pPr marL="426085" lvl="1" indent="-285750" algn="l">
              <a:lnSpc>
                <a:spcPts val="1816"/>
              </a:lnSpc>
              <a:buFont typeface="Arial"/>
              <a:buChar char="•"/>
            </a:pPr>
            <a:r>
              <a:rPr lang="en-US" sz="1400" spc="-64" dirty="0">
                <a:solidFill>
                  <a:srgbClr val="FFFFFF"/>
                </a:solidFill>
                <a:latin typeface="Open Sauce"/>
                <a:ea typeface="Open Sauce"/>
                <a:cs typeface="Open Sauce"/>
                <a:sym typeface="Open Sauce"/>
              </a:rPr>
              <a:t>The model does not include </a:t>
            </a:r>
            <a:r>
              <a:rPr lang="en-US" sz="1400" spc="-64" dirty="0" err="1">
                <a:solidFill>
                  <a:srgbClr val="FFFFFF"/>
                </a:solidFill>
                <a:latin typeface="Open Sauce"/>
                <a:ea typeface="Open Sauce"/>
                <a:cs typeface="Open Sauce"/>
                <a:sym typeface="Open Sauce"/>
              </a:rPr>
              <a:t>insitu</a:t>
            </a:r>
            <a:r>
              <a:rPr lang="en-US" sz="1400" spc="-64" dirty="0">
                <a:solidFill>
                  <a:srgbClr val="FFFFFF"/>
                </a:solidFill>
                <a:latin typeface="Open Sauce"/>
                <a:ea typeface="Open Sauce"/>
                <a:cs typeface="Open Sauce"/>
                <a:sym typeface="Open Sauce"/>
              </a:rPr>
              <a:t> physical properties of the pipelines, reducing technical information but increasing flexibility</a:t>
            </a:r>
            <a:endParaRPr lang="en-US" sz="1400">
              <a:ea typeface="Calibri"/>
              <a:cs typeface="Calibri"/>
            </a:endParaRPr>
          </a:p>
          <a:p>
            <a:pPr marL="285750" indent="-285750" algn="l">
              <a:lnSpc>
                <a:spcPts val="1816"/>
              </a:lnSpc>
              <a:buFont typeface="Arial"/>
              <a:buChar char="•"/>
            </a:pPr>
            <a:endParaRPr lang="en-US" sz="1400" spc="-64" dirty="0">
              <a:solidFill>
                <a:srgbClr val="FFFFFF"/>
              </a:solidFill>
              <a:latin typeface="Open Sauce"/>
              <a:ea typeface="Open Sauce"/>
              <a:cs typeface="Open Sauce"/>
            </a:endParaRPr>
          </a:p>
          <a:p>
            <a:pPr marL="426085" lvl="1" indent="-285750" algn="l">
              <a:lnSpc>
                <a:spcPts val="1816"/>
              </a:lnSpc>
              <a:buFont typeface="Arial"/>
              <a:buChar char="•"/>
            </a:pPr>
            <a:r>
              <a:rPr lang="en-US" sz="1400" spc="-64" dirty="0">
                <a:solidFill>
                  <a:srgbClr val="FFFFFF"/>
                </a:solidFill>
                <a:latin typeface="Open Sauce"/>
                <a:ea typeface="Open Sauce"/>
                <a:cs typeface="Open Sauce"/>
                <a:sym typeface="Open Sauce"/>
              </a:rPr>
              <a:t>The project is based on environmental, economical and social sources which can have low granularity</a:t>
            </a:r>
            <a:endParaRPr lang="en-US" sz="1400" spc="-64" dirty="0">
              <a:solidFill>
                <a:srgbClr val="FFFFFF"/>
              </a:solidFill>
              <a:latin typeface="Open Sauce"/>
              <a:ea typeface="Open Sauce"/>
              <a:cs typeface="Open Sauce"/>
            </a:endParaRPr>
          </a:p>
          <a:p>
            <a:pPr marL="285750" indent="-285750" algn="l">
              <a:lnSpc>
                <a:spcPts val="1816"/>
              </a:lnSpc>
              <a:buFont typeface="Arial"/>
              <a:buChar char="•"/>
            </a:pPr>
            <a:endParaRPr lang="en-US" sz="1400" spc="-64" dirty="0">
              <a:solidFill>
                <a:srgbClr val="FFFFFF"/>
              </a:solidFill>
              <a:latin typeface="Open Sauce"/>
              <a:ea typeface="Open Sauce"/>
              <a:cs typeface="Open Sauce"/>
            </a:endParaRPr>
          </a:p>
          <a:p>
            <a:pPr marL="426085" lvl="1" indent="-285750" algn="l">
              <a:lnSpc>
                <a:spcPts val="1816"/>
              </a:lnSpc>
              <a:buFont typeface="Arial"/>
              <a:buChar char="•"/>
            </a:pPr>
            <a:r>
              <a:rPr lang="en-US" sz="1400" spc="-64" dirty="0">
                <a:solidFill>
                  <a:srgbClr val="FFFFFF"/>
                </a:solidFill>
                <a:latin typeface="Open Sauce"/>
                <a:ea typeface="Open Sauce"/>
                <a:cs typeface="Open Sauce"/>
                <a:sym typeface="Open Sauce"/>
              </a:rPr>
              <a:t> The model thus far does not contain a label which serves as a control group for the risk assessment</a:t>
            </a:r>
            <a:endParaRPr lang="en-US" sz="1400" spc="-64" dirty="0">
              <a:solidFill>
                <a:srgbClr val="FFFFFF"/>
              </a:solidFill>
              <a:latin typeface="Open Sauce"/>
              <a:ea typeface="Open Sauce"/>
              <a:cs typeface="Open Sauce"/>
            </a:endParaRPr>
          </a:p>
        </p:txBody>
      </p:sp>
      <p:sp>
        <p:nvSpPr>
          <p:cNvPr id="15" name="TextBox 15"/>
          <p:cNvSpPr txBox="1"/>
          <p:nvPr/>
        </p:nvSpPr>
        <p:spPr>
          <a:xfrm>
            <a:off x="1557297" y="6929010"/>
            <a:ext cx="4643008" cy="333005"/>
          </a:xfrm>
          <a:prstGeom prst="rect">
            <a:avLst/>
          </a:prstGeom>
        </p:spPr>
        <p:txBody>
          <a:bodyPr lIns="0" tIns="0" rIns="0" bIns="0" rtlCol="0" anchor="t">
            <a:spAutoFit/>
          </a:bodyPr>
          <a:lstStyle/>
          <a:p>
            <a:pPr algn="l">
              <a:lnSpc>
                <a:spcPts val="2725"/>
              </a:lnSpc>
              <a:spcBef>
                <a:spcPct val="0"/>
              </a:spcBef>
            </a:pPr>
            <a:r>
              <a:rPr lang="en-US" sz="1946" spc="-97">
                <a:solidFill>
                  <a:srgbClr val="FFFFFF"/>
                </a:solidFill>
                <a:latin typeface="Open Sauce"/>
                <a:ea typeface="Open Sauce"/>
                <a:cs typeface="Open Sauce"/>
                <a:sym typeface="Open Sauce"/>
              </a:rPr>
              <a:t>Negatives of the proposal</a:t>
            </a:r>
          </a:p>
        </p:txBody>
      </p:sp>
      <p:grpSp>
        <p:nvGrpSpPr>
          <p:cNvPr id="16" name="Group 16"/>
          <p:cNvGrpSpPr/>
          <p:nvPr/>
        </p:nvGrpSpPr>
        <p:grpSpPr>
          <a:xfrm>
            <a:off x="8063886" y="4084646"/>
            <a:ext cx="5644854" cy="2513337"/>
            <a:chOff x="0" y="333375"/>
            <a:chExt cx="7526472" cy="3351117"/>
          </a:xfrm>
        </p:grpSpPr>
        <p:sp>
          <p:nvSpPr>
            <p:cNvPr id="17" name="TextBox 17"/>
            <p:cNvSpPr txBox="1"/>
            <p:nvPr/>
          </p:nvSpPr>
          <p:spPr>
            <a:xfrm>
              <a:off x="0" y="333375"/>
              <a:ext cx="7526472" cy="1094318"/>
            </a:xfrm>
            <a:prstGeom prst="rect">
              <a:avLst/>
            </a:prstGeom>
          </p:spPr>
          <p:txBody>
            <a:bodyPr lIns="0" tIns="0" rIns="0" bIns="0" rtlCol="0" anchor="t">
              <a:spAutoFit/>
            </a:bodyPr>
            <a:lstStyle/>
            <a:p>
              <a:pPr>
                <a:lnSpc>
                  <a:spcPts val="3185"/>
                </a:lnSpc>
              </a:pPr>
              <a:r>
                <a:rPr lang="en-US" sz="2700" spc="506" dirty="0">
                  <a:solidFill>
                    <a:srgbClr val="000000"/>
                  </a:solidFill>
                  <a:latin typeface="Trocchi"/>
                  <a:ea typeface="Trocchi"/>
                  <a:cs typeface="Trocchi"/>
                  <a:sym typeface="Trocchi"/>
                </a:rPr>
                <a:t>Thank you for your </a:t>
              </a:r>
              <a:r>
                <a:rPr lang="en-US" sz="2700" spc="506">
                  <a:solidFill>
                    <a:srgbClr val="000000"/>
                  </a:solidFill>
                  <a:latin typeface="Trocchi"/>
                  <a:ea typeface="Trocchi"/>
                  <a:cs typeface="Trocchi"/>
                  <a:sym typeface="Trocchi"/>
                </a:rPr>
                <a:t>attention!</a:t>
              </a:r>
              <a:endParaRPr lang="en-US" sz="2700" spc="506" dirty="0">
                <a:solidFill>
                  <a:srgbClr val="000000"/>
                </a:solidFill>
                <a:latin typeface="Trocchi"/>
                <a:ea typeface="Trocchi"/>
                <a:cs typeface="Trocchi"/>
              </a:endParaRPr>
            </a:p>
          </p:txBody>
        </p:sp>
        <p:sp>
          <p:nvSpPr>
            <p:cNvPr id="18" name="TextBox 18"/>
            <p:cNvSpPr txBox="1"/>
            <p:nvPr/>
          </p:nvSpPr>
          <p:spPr>
            <a:xfrm>
              <a:off x="0" y="2056534"/>
              <a:ext cx="7526472" cy="709736"/>
            </a:xfrm>
            <a:prstGeom prst="rect">
              <a:avLst/>
            </a:prstGeom>
          </p:spPr>
          <p:txBody>
            <a:bodyPr lIns="0" tIns="0" rIns="0" bIns="0" rtlCol="0" anchor="t">
              <a:spAutoFit/>
            </a:bodyPr>
            <a:lstStyle/>
            <a:p>
              <a:pPr algn="l">
                <a:lnSpc>
                  <a:spcPts val="2189"/>
                </a:lnSpc>
              </a:pPr>
              <a:r>
                <a:rPr lang="en-US" sz="1871" i="1" spc="101">
                  <a:solidFill>
                    <a:srgbClr val="000000"/>
                  </a:solidFill>
                  <a:latin typeface="Trocchi"/>
                  <a:ea typeface="Trocchi"/>
                  <a:cs typeface="Trocchi"/>
                  <a:sym typeface="Trocchi"/>
                </a:rPr>
                <a:t>By being in the initial phase, there’s still things to change and improve</a:t>
              </a:r>
            </a:p>
          </p:txBody>
        </p:sp>
        <p:sp>
          <p:nvSpPr>
            <p:cNvPr id="19" name="TextBox 19"/>
            <p:cNvSpPr txBox="1"/>
            <p:nvPr/>
          </p:nvSpPr>
          <p:spPr>
            <a:xfrm>
              <a:off x="0" y="3168880"/>
              <a:ext cx="7526472" cy="515612"/>
            </a:xfrm>
            <a:prstGeom prst="rect">
              <a:avLst/>
            </a:prstGeom>
          </p:spPr>
          <p:txBody>
            <a:bodyPr lIns="0" tIns="0" rIns="0" bIns="0" rtlCol="0" anchor="t">
              <a:spAutoFit/>
            </a:bodyPr>
            <a:lstStyle/>
            <a:p>
              <a:pPr algn="l">
                <a:lnSpc>
                  <a:spcPts val="3311"/>
                </a:lnSpc>
              </a:pPr>
              <a:endParaRPr lang="en-US" sz="2350" spc="109" dirty="0">
                <a:solidFill>
                  <a:srgbClr val="000000"/>
                </a:solidFill>
                <a:latin typeface="Aileron"/>
                <a:ea typeface="Aileron"/>
                <a:cs typeface="Aileron"/>
              </a:endParaRPr>
            </a:p>
          </p:txBody>
        </p:sp>
      </p:grpSp>
      <p:grpSp>
        <p:nvGrpSpPr>
          <p:cNvPr id="29" name="Group 16">
            <a:extLst>
              <a:ext uri="{FF2B5EF4-FFF2-40B4-BE49-F238E27FC236}">
                <a16:creationId xmlns:a16="http://schemas.microsoft.com/office/drawing/2014/main" id="{41292C12-F08A-DFD2-DDD9-0D2A3852CCC0}"/>
              </a:ext>
            </a:extLst>
          </p:cNvPr>
          <p:cNvGrpSpPr/>
          <p:nvPr/>
        </p:nvGrpSpPr>
        <p:grpSpPr>
          <a:xfrm>
            <a:off x="8059124" y="3894146"/>
            <a:ext cx="5644854" cy="4200361"/>
            <a:chOff x="0" y="333375"/>
            <a:chExt cx="7526472" cy="5600485"/>
          </a:xfrm>
        </p:grpSpPr>
        <p:sp>
          <p:nvSpPr>
            <p:cNvPr id="26" name="TextBox 17">
              <a:extLst>
                <a:ext uri="{FF2B5EF4-FFF2-40B4-BE49-F238E27FC236}">
                  <a16:creationId xmlns:a16="http://schemas.microsoft.com/office/drawing/2014/main" id="{DBEB79EA-CC5D-E25E-5AF9-C7AC7D16DCD2}"/>
                </a:ext>
              </a:extLst>
            </p:cNvPr>
            <p:cNvSpPr txBox="1"/>
            <p:nvPr/>
          </p:nvSpPr>
          <p:spPr>
            <a:xfrm>
              <a:off x="0" y="333375"/>
              <a:ext cx="7526472" cy="547159"/>
            </a:xfrm>
            <a:prstGeom prst="rect">
              <a:avLst/>
            </a:prstGeom>
          </p:spPr>
          <p:txBody>
            <a:bodyPr lIns="0" tIns="0" rIns="0" bIns="0" rtlCol="0" anchor="t">
              <a:spAutoFit/>
            </a:bodyPr>
            <a:lstStyle/>
            <a:p>
              <a:pPr algn="l">
                <a:lnSpc>
                  <a:spcPts val="3185"/>
                </a:lnSpc>
              </a:pPr>
              <a:endParaRPr lang="en-US" sz="2700" spc="506">
                <a:solidFill>
                  <a:srgbClr val="000000"/>
                </a:solidFill>
                <a:latin typeface="Trocchi"/>
                <a:ea typeface="Trocchi"/>
                <a:cs typeface="Trocchi"/>
              </a:endParaRPr>
            </a:p>
          </p:txBody>
        </p:sp>
        <p:sp>
          <p:nvSpPr>
            <p:cNvPr id="27" name="TextBox 18">
              <a:extLst>
                <a:ext uri="{FF2B5EF4-FFF2-40B4-BE49-F238E27FC236}">
                  <a16:creationId xmlns:a16="http://schemas.microsoft.com/office/drawing/2014/main" id="{48E43ABC-BB82-8F0D-CE2E-BC5AA69334BC}"/>
                </a:ext>
              </a:extLst>
            </p:cNvPr>
            <p:cNvSpPr txBox="1"/>
            <p:nvPr/>
          </p:nvSpPr>
          <p:spPr>
            <a:xfrm>
              <a:off x="0" y="2056533"/>
              <a:ext cx="7526472" cy="376172"/>
            </a:xfrm>
            <a:prstGeom prst="rect">
              <a:avLst/>
            </a:prstGeom>
          </p:spPr>
          <p:txBody>
            <a:bodyPr lIns="0" tIns="0" rIns="0" bIns="0" rtlCol="0" anchor="t">
              <a:spAutoFit/>
            </a:bodyPr>
            <a:lstStyle/>
            <a:p>
              <a:pPr algn="l">
                <a:lnSpc>
                  <a:spcPts val="2189"/>
                </a:lnSpc>
              </a:pPr>
              <a:endParaRPr lang="en-US" sz="1850" i="1" spc="101" dirty="0">
                <a:solidFill>
                  <a:srgbClr val="000000"/>
                </a:solidFill>
                <a:latin typeface="Trocchi"/>
                <a:ea typeface="Trocchi"/>
                <a:cs typeface="Trocchi"/>
              </a:endParaRPr>
            </a:p>
          </p:txBody>
        </p:sp>
        <p:sp>
          <p:nvSpPr>
            <p:cNvPr id="28" name="TextBox 19">
              <a:extLst>
                <a:ext uri="{FF2B5EF4-FFF2-40B4-BE49-F238E27FC236}">
                  <a16:creationId xmlns:a16="http://schemas.microsoft.com/office/drawing/2014/main" id="{04556865-B855-897E-412D-01FF2731CCE5}"/>
                </a:ext>
              </a:extLst>
            </p:cNvPr>
            <p:cNvSpPr txBox="1"/>
            <p:nvPr/>
          </p:nvSpPr>
          <p:spPr>
            <a:xfrm>
              <a:off x="0" y="3168879"/>
              <a:ext cx="7526472" cy="2764981"/>
            </a:xfrm>
            <a:prstGeom prst="rect">
              <a:avLst/>
            </a:prstGeom>
          </p:spPr>
          <p:txBody>
            <a:bodyPr lIns="0" tIns="0" rIns="0" bIns="0" rtlCol="0" anchor="t">
              <a:spAutoFit/>
            </a:bodyPr>
            <a:lstStyle/>
            <a:p>
              <a:pPr algn="l">
                <a:lnSpc>
                  <a:spcPts val="3311"/>
                </a:lnSpc>
              </a:pPr>
              <a:r>
                <a:rPr lang="en-US" sz="2382" spc="109">
                  <a:solidFill>
                    <a:srgbClr val="000000"/>
                  </a:solidFill>
                  <a:latin typeface="Aileron"/>
                  <a:ea typeface="Aileron"/>
                  <a:cs typeface="Aileron"/>
                  <a:sym typeface="Aileron"/>
                </a:rPr>
                <a:t>Any suggestions you might have regarding the data: </a:t>
              </a:r>
              <a:r>
                <a:rPr lang="en-US" sz="2382" b="1" spc="109">
                  <a:solidFill>
                    <a:srgbClr val="000000"/>
                  </a:solidFill>
                  <a:latin typeface="Aileron Bold"/>
                  <a:ea typeface="Aileron Bold"/>
                  <a:cs typeface="Aileron Bold"/>
                  <a:sym typeface="Aileron Bold"/>
                </a:rPr>
                <a:t>collection</a:t>
              </a:r>
              <a:r>
                <a:rPr lang="en-US" sz="2382" spc="109">
                  <a:solidFill>
                    <a:srgbClr val="000000"/>
                  </a:solidFill>
                  <a:latin typeface="Aileron"/>
                  <a:ea typeface="Aileron"/>
                  <a:cs typeface="Aileron"/>
                  <a:sym typeface="Aileron"/>
                </a:rPr>
                <a:t>, </a:t>
              </a:r>
              <a:r>
                <a:rPr lang="en-US" sz="2382" b="1" spc="109">
                  <a:solidFill>
                    <a:srgbClr val="000000"/>
                  </a:solidFill>
                  <a:latin typeface="Aileron Bold"/>
                  <a:ea typeface="Aileron Bold"/>
                  <a:cs typeface="Aileron Bold"/>
                  <a:sym typeface="Aileron Bold"/>
                </a:rPr>
                <a:t>methodology structure </a:t>
              </a:r>
              <a:r>
                <a:rPr lang="en-US" sz="2382" spc="109">
                  <a:solidFill>
                    <a:srgbClr val="000000"/>
                  </a:solidFill>
                  <a:latin typeface="Aileron"/>
                  <a:ea typeface="Aileron"/>
                  <a:cs typeface="Aileron"/>
                  <a:sym typeface="Aileron"/>
                </a:rPr>
                <a:t>or the </a:t>
              </a:r>
              <a:r>
                <a:rPr lang="en-US" sz="2382" b="1" spc="109">
                  <a:solidFill>
                    <a:srgbClr val="000000"/>
                  </a:solidFill>
                  <a:latin typeface="Aileron Bold"/>
                  <a:ea typeface="Aileron Bold"/>
                  <a:cs typeface="Aileron Bold"/>
                  <a:sym typeface="Aileron Bold"/>
                </a:rPr>
                <a:t>connection </a:t>
              </a:r>
              <a:r>
                <a:rPr lang="en-US" sz="2382" spc="109">
                  <a:solidFill>
                    <a:srgbClr val="000000"/>
                  </a:solidFill>
                  <a:latin typeface="Aileron"/>
                  <a:ea typeface="Aileron"/>
                  <a:cs typeface="Aileron"/>
                  <a:sym typeface="Aileron"/>
                </a:rPr>
                <a:t>between </a:t>
              </a:r>
              <a:r>
                <a:rPr lang="en-US" sz="2382" b="1" spc="109">
                  <a:solidFill>
                    <a:srgbClr val="000000"/>
                  </a:solidFill>
                  <a:latin typeface="Aileron Bold"/>
                  <a:ea typeface="Aileron Bold"/>
                  <a:cs typeface="Aileron Bold"/>
                  <a:sym typeface="Aileron Bold"/>
                </a:rPr>
                <a:t>risk and patents </a:t>
              </a:r>
              <a:r>
                <a:rPr lang="en-US" sz="2382" spc="109">
                  <a:solidFill>
                    <a:srgbClr val="000000"/>
                  </a:solidFill>
                  <a:latin typeface="Aileron"/>
                  <a:ea typeface="Aileron"/>
                  <a:cs typeface="Aileron"/>
                  <a:sym typeface="Aileron"/>
                </a:rPr>
                <a:t>are very welcome</a:t>
              </a: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fade">
                                      <p:cBhvr>
                                        <p:cTn id="11" dur="500"/>
                                        <p:tgtEl>
                                          <p:spTgt spid="16"/>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fade">
                                      <p:cBhvr>
                                        <p:cTn id="16"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Custom</PresentationFormat>
  <Paragraphs>0</Paragraphs>
  <Slides>11</Slides>
  <Notes>7</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updated_risk_water transport slides</dc:title>
  <cp:revision>257</cp:revision>
  <dcterms:created xsi:type="dcterms:W3CDTF">2006-08-16T00:00:00Z</dcterms:created>
  <dcterms:modified xsi:type="dcterms:W3CDTF">2026-06-08T23:06:46Z</dcterms:modified>
  <dc:identifier>DAHL9-k_BFM</dc:identifier>
</cp:coreProperties>
</file>